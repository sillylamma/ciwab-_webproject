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4" r:id="rId1"/>
  </p:sldMasterIdLst>
  <p:notesMasterIdLst>
    <p:notesMasterId r:id="rId77"/>
  </p:notesMasterIdLst>
  <p:handoutMasterIdLst>
    <p:handoutMasterId r:id="rId78"/>
  </p:handoutMasterIdLst>
  <p:sldIdLst>
    <p:sldId id="288" r:id="rId2"/>
    <p:sldId id="322" r:id="rId3"/>
    <p:sldId id="323" r:id="rId4"/>
    <p:sldId id="324" r:id="rId5"/>
    <p:sldId id="319" r:id="rId6"/>
    <p:sldId id="309" r:id="rId7"/>
    <p:sldId id="310" r:id="rId8"/>
    <p:sldId id="292" r:id="rId9"/>
    <p:sldId id="293" r:id="rId10"/>
    <p:sldId id="325" r:id="rId11"/>
    <p:sldId id="257" r:id="rId12"/>
    <p:sldId id="258" r:id="rId13"/>
    <p:sldId id="314" r:id="rId14"/>
    <p:sldId id="315" r:id="rId15"/>
    <p:sldId id="316" r:id="rId16"/>
    <p:sldId id="317" r:id="rId17"/>
    <p:sldId id="330" r:id="rId18"/>
    <p:sldId id="331" r:id="rId19"/>
    <p:sldId id="259" r:id="rId20"/>
    <p:sldId id="260" r:id="rId21"/>
    <p:sldId id="326" r:id="rId22"/>
    <p:sldId id="289" r:id="rId23"/>
    <p:sldId id="333" r:id="rId24"/>
    <p:sldId id="332" r:id="rId25"/>
    <p:sldId id="328" r:id="rId26"/>
    <p:sldId id="287" r:id="rId27"/>
    <p:sldId id="327" r:id="rId28"/>
    <p:sldId id="265" r:id="rId29"/>
    <p:sldId id="261" r:id="rId30"/>
    <p:sldId id="262" r:id="rId31"/>
    <p:sldId id="320" r:id="rId32"/>
    <p:sldId id="334" r:id="rId33"/>
    <p:sldId id="336" r:id="rId34"/>
    <p:sldId id="329" r:id="rId35"/>
    <p:sldId id="295" r:id="rId36"/>
    <p:sldId id="296" r:id="rId37"/>
    <p:sldId id="297" r:id="rId38"/>
    <p:sldId id="298" r:id="rId39"/>
    <p:sldId id="299" r:id="rId40"/>
    <p:sldId id="306" r:id="rId41"/>
    <p:sldId id="307" r:id="rId42"/>
    <p:sldId id="294" r:id="rId43"/>
    <p:sldId id="266" r:id="rId44"/>
    <p:sldId id="267" r:id="rId45"/>
    <p:sldId id="268" r:id="rId46"/>
    <p:sldId id="269" r:id="rId47"/>
    <p:sldId id="270" r:id="rId48"/>
    <p:sldId id="271" r:id="rId49"/>
    <p:sldId id="272" r:id="rId50"/>
    <p:sldId id="273" r:id="rId51"/>
    <p:sldId id="274" r:id="rId52"/>
    <p:sldId id="275" r:id="rId53"/>
    <p:sldId id="276" r:id="rId54"/>
    <p:sldId id="311" r:id="rId55"/>
    <p:sldId id="312" r:id="rId56"/>
    <p:sldId id="313" r:id="rId57"/>
    <p:sldId id="277" r:id="rId58"/>
    <p:sldId id="278" r:id="rId59"/>
    <p:sldId id="279" r:id="rId60"/>
    <p:sldId id="281" r:id="rId61"/>
    <p:sldId id="290" r:id="rId62"/>
    <p:sldId id="282" r:id="rId63"/>
    <p:sldId id="283" r:id="rId64"/>
    <p:sldId id="308" r:id="rId65"/>
    <p:sldId id="305" r:id="rId66"/>
    <p:sldId id="304" r:id="rId67"/>
    <p:sldId id="284" r:id="rId68"/>
    <p:sldId id="285" r:id="rId69"/>
    <p:sldId id="291" r:id="rId70"/>
    <p:sldId id="286" r:id="rId71"/>
    <p:sldId id="264" r:id="rId72"/>
    <p:sldId id="303" r:id="rId73"/>
    <p:sldId id="321" r:id="rId74"/>
    <p:sldId id="263" r:id="rId75"/>
    <p:sldId id="301" r:id="rId76"/>
  </p:sldIdLst>
  <p:sldSz cx="9144000" cy="6858000" type="screen4x3"/>
  <p:notesSz cx="6954838" cy="93091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3399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43" autoAdjust="0"/>
    <p:restoredTop sz="94660"/>
  </p:normalViewPr>
  <p:slideViewPr>
    <p:cSldViewPr>
      <p:cViewPr varScale="1">
        <p:scale>
          <a:sx n="66" d="100"/>
          <a:sy n="66" d="100"/>
        </p:scale>
        <p:origin x="1224" y="40"/>
      </p:cViewPr>
      <p:guideLst>
        <p:guide orient="horz" pos="2160"/>
        <p:guide pos="2880"/>
      </p:guideLst>
    </p:cSldViewPr>
  </p:slideViewPr>
  <p:notesTextViewPr>
    <p:cViewPr>
      <p:scale>
        <a:sx n="3" d="2"/>
        <a:sy n="3" d="2"/>
      </p:scale>
      <p:origin x="0" y="0"/>
    </p:cViewPr>
  </p:notesTextViewPr>
  <p:sorterViewPr>
    <p:cViewPr>
      <p:scale>
        <a:sx n="100" d="100"/>
        <a:sy n="100" d="100"/>
      </p:scale>
      <p:origin x="0" y="-936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jpe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13763" cy="465773"/>
          </a:xfrm>
          <a:prstGeom prst="rect">
            <a:avLst/>
          </a:prstGeom>
          <a:noFill/>
          <a:ln w="9525">
            <a:noFill/>
            <a:miter lim="800000"/>
            <a:headEnd/>
            <a:tailEnd/>
          </a:ln>
        </p:spPr>
        <p:txBody>
          <a:bodyPr vert="horz" wrap="square" lIns="91049" tIns="45525" rIns="91049" bIns="45525" numCol="1" anchor="t" anchorCtr="0" compatLnSpc="1">
            <a:prstTxWarp prst="textNoShape">
              <a:avLst/>
            </a:prstTxWarp>
          </a:bodyPr>
          <a:lstStyle>
            <a:lvl1pPr defTabSz="910938">
              <a:defRPr sz="1200">
                <a:latin typeface="Calibri" pitchFamily="34" charset="0"/>
              </a:defRPr>
            </a:lvl1pPr>
          </a:lstStyle>
          <a:p>
            <a:endParaRPr lang="en-US"/>
          </a:p>
        </p:txBody>
      </p:sp>
      <p:sp>
        <p:nvSpPr>
          <p:cNvPr id="3" name="Date Placeholder 2"/>
          <p:cNvSpPr>
            <a:spLocks noGrp="1"/>
          </p:cNvSpPr>
          <p:nvPr>
            <p:ph type="dt" sz="quarter" idx="1"/>
          </p:nvPr>
        </p:nvSpPr>
        <p:spPr bwMode="auto">
          <a:xfrm>
            <a:off x="3939466" y="0"/>
            <a:ext cx="3013763" cy="465773"/>
          </a:xfrm>
          <a:prstGeom prst="rect">
            <a:avLst/>
          </a:prstGeom>
          <a:noFill/>
          <a:ln w="9525">
            <a:noFill/>
            <a:miter lim="800000"/>
            <a:headEnd/>
            <a:tailEnd/>
          </a:ln>
        </p:spPr>
        <p:txBody>
          <a:bodyPr vert="horz" wrap="square" lIns="91049" tIns="45525" rIns="91049" bIns="45525" numCol="1" anchor="t" anchorCtr="0" compatLnSpc="1">
            <a:prstTxWarp prst="textNoShape">
              <a:avLst/>
            </a:prstTxWarp>
          </a:bodyPr>
          <a:lstStyle>
            <a:lvl1pPr algn="r" defTabSz="910938">
              <a:defRPr sz="1200">
                <a:latin typeface="Calibri" pitchFamily="34" charset="0"/>
              </a:defRPr>
            </a:lvl1pPr>
          </a:lstStyle>
          <a:p>
            <a:fld id="{5D496877-9351-4ECB-A3F7-522E75CF4805}" type="datetimeFigureOut">
              <a:rPr lang="en-US"/>
              <a:pPr/>
              <a:t>1/17/2023</a:t>
            </a:fld>
            <a:endParaRPr lang="en-US"/>
          </a:p>
        </p:txBody>
      </p:sp>
      <p:sp>
        <p:nvSpPr>
          <p:cNvPr id="4" name="Footer Placeholder 3"/>
          <p:cNvSpPr>
            <a:spLocks noGrp="1"/>
          </p:cNvSpPr>
          <p:nvPr>
            <p:ph type="ftr" sz="quarter" idx="2"/>
          </p:nvPr>
        </p:nvSpPr>
        <p:spPr bwMode="auto">
          <a:xfrm>
            <a:off x="0" y="8841738"/>
            <a:ext cx="3013763" cy="465773"/>
          </a:xfrm>
          <a:prstGeom prst="rect">
            <a:avLst/>
          </a:prstGeom>
          <a:noFill/>
          <a:ln w="9525">
            <a:noFill/>
            <a:miter lim="800000"/>
            <a:headEnd/>
            <a:tailEnd/>
          </a:ln>
        </p:spPr>
        <p:txBody>
          <a:bodyPr vert="horz" wrap="square" lIns="91049" tIns="45525" rIns="91049" bIns="45525" numCol="1" anchor="b" anchorCtr="0" compatLnSpc="1">
            <a:prstTxWarp prst="textNoShape">
              <a:avLst/>
            </a:prstTxWarp>
          </a:bodyPr>
          <a:lstStyle>
            <a:lvl1pPr defTabSz="910938">
              <a:defRPr sz="1200">
                <a:latin typeface="Calibri" pitchFamily="34" charset="0"/>
              </a:defRPr>
            </a:lvl1pPr>
          </a:lstStyle>
          <a:p>
            <a:endParaRPr lang="en-US"/>
          </a:p>
        </p:txBody>
      </p:sp>
      <p:sp>
        <p:nvSpPr>
          <p:cNvPr id="5" name="Slide Number Placeholder 4"/>
          <p:cNvSpPr>
            <a:spLocks noGrp="1"/>
          </p:cNvSpPr>
          <p:nvPr>
            <p:ph type="sldNum" sz="quarter" idx="3"/>
          </p:nvPr>
        </p:nvSpPr>
        <p:spPr bwMode="auto">
          <a:xfrm>
            <a:off x="3939466" y="8841738"/>
            <a:ext cx="3013763" cy="465773"/>
          </a:xfrm>
          <a:prstGeom prst="rect">
            <a:avLst/>
          </a:prstGeom>
          <a:noFill/>
          <a:ln w="9525">
            <a:noFill/>
            <a:miter lim="800000"/>
            <a:headEnd/>
            <a:tailEnd/>
          </a:ln>
        </p:spPr>
        <p:txBody>
          <a:bodyPr vert="horz" wrap="square" lIns="91049" tIns="45525" rIns="91049" bIns="45525" numCol="1" anchor="b" anchorCtr="0" compatLnSpc="1">
            <a:prstTxWarp prst="textNoShape">
              <a:avLst/>
            </a:prstTxWarp>
          </a:bodyPr>
          <a:lstStyle>
            <a:lvl1pPr algn="r" defTabSz="910938">
              <a:defRPr sz="1200">
                <a:latin typeface="Calibri" pitchFamily="34" charset="0"/>
              </a:defRPr>
            </a:lvl1pPr>
          </a:lstStyle>
          <a:p>
            <a:fld id="{78AAD9EC-3C73-4DA9-941A-1B77C8A97189}" type="slidenum">
              <a:rPr lang="en-US"/>
              <a:pPr/>
              <a:t>‹#›</a:t>
            </a:fld>
            <a:endParaRPr lang="en-US"/>
          </a:p>
        </p:txBody>
      </p:sp>
    </p:spTree>
    <p:extLst>
      <p:ext uri="{BB962C8B-B14F-4D97-AF65-F5344CB8AC3E}">
        <p14:creationId xmlns:p14="http://schemas.microsoft.com/office/powerpoint/2010/main" val="3565962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13763" cy="465773"/>
          </a:xfrm>
          <a:prstGeom prst="rect">
            <a:avLst/>
          </a:prstGeom>
          <a:noFill/>
          <a:ln w="9525">
            <a:noFill/>
            <a:miter lim="800000"/>
            <a:headEnd/>
            <a:tailEnd/>
          </a:ln>
        </p:spPr>
        <p:txBody>
          <a:bodyPr vert="horz" wrap="square" lIns="92925" tIns="46462" rIns="92925" bIns="46462" numCol="1" anchor="t" anchorCtr="0" compatLnSpc="1">
            <a:prstTxWarp prst="textNoShape">
              <a:avLst/>
            </a:prstTxWarp>
          </a:bodyPr>
          <a:lstStyle>
            <a:lvl1pPr defTabSz="910938">
              <a:defRPr sz="1200">
                <a:latin typeface="Calibri" pitchFamily="34" charset="0"/>
              </a:defRPr>
            </a:lvl1pPr>
          </a:lstStyle>
          <a:p>
            <a:endParaRPr lang="en-US"/>
          </a:p>
        </p:txBody>
      </p:sp>
      <p:sp>
        <p:nvSpPr>
          <p:cNvPr id="3" name="Date Placeholder 2"/>
          <p:cNvSpPr>
            <a:spLocks noGrp="1"/>
          </p:cNvSpPr>
          <p:nvPr>
            <p:ph type="dt" idx="1"/>
          </p:nvPr>
        </p:nvSpPr>
        <p:spPr bwMode="auto">
          <a:xfrm>
            <a:off x="3939466" y="0"/>
            <a:ext cx="3013763" cy="465773"/>
          </a:xfrm>
          <a:prstGeom prst="rect">
            <a:avLst/>
          </a:prstGeom>
          <a:noFill/>
          <a:ln w="9525">
            <a:noFill/>
            <a:miter lim="800000"/>
            <a:headEnd/>
            <a:tailEnd/>
          </a:ln>
        </p:spPr>
        <p:txBody>
          <a:bodyPr vert="horz" wrap="square" lIns="92925" tIns="46462" rIns="92925" bIns="46462" numCol="1" anchor="t" anchorCtr="0" compatLnSpc="1">
            <a:prstTxWarp prst="textNoShape">
              <a:avLst/>
            </a:prstTxWarp>
          </a:bodyPr>
          <a:lstStyle>
            <a:lvl1pPr algn="r" defTabSz="910938">
              <a:defRPr sz="1200">
                <a:latin typeface="Calibri" pitchFamily="34" charset="0"/>
              </a:defRPr>
            </a:lvl1pPr>
          </a:lstStyle>
          <a:p>
            <a:fld id="{EBA308A5-7CFA-4DA1-B5A1-AE076550E2F9}" type="datetimeFigureOut">
              <a:rPr lang="en-US"/>
              <a:pPr/>
              <a:t>1/17/2023</a:t>
            </a:fld>
            <a:endParaRPr lang="en-US"/>
          </a:p>
        </p:txBody>
      </p:sp>
      <p:sp>
        <p:nvSpPr>
          <p:cNvPr id="4" name="Slide Image Placeholder 3"/>
          <p:cNvSpPr>
            <a:spLocks noGrp="1" noRot="1" noChangeAspect="1"/>
          </p:cNvSpPr>
          <p:nvPr>
            <p:ph type="sldImg" idx="2"/>
          </p:nvPr>
        </p:nvSpPr>
        <p:spPr>
          <a:xfrm>
            <a:off x="1149350" y="698500"/>
            <a:ext cx="4656138" cy="3490913"/>
          </a:xfrm>
          <a:prstGeom prst="rect">
            <a:avLst/>
          </a:prstGeom>
          <a:noFill/>
          <a:ln w="12700">
            <a:solidFill>
              <a:prstClr val="black"/>
            </a:solidFill>
          </a:ln>
        </p:spPr>
        <p:txBody>
          <a:bodyPr vert="horz" lIns="93949" tIns="46975" rIns="93949" bIns="46975" rtlCol="0" anchor="ctr"/>
          <a:lstStyle/>
          <a:p>
            <a:pPr lvl="0"/>
            <a:endParaRPr lang="en-US" noProof="0"/>
          </a:p>
        </p:txBody>
      </p:sp>
      <p:sp>
        <p:nvSpPr>
          <p:cNvPr id="5" name="Notes Placeholder 4"/>
          <p:cNvSpPr>
            <a:spLocks noGrp="1"/>
          </p:cNvSpPr>
          <p:nvPr>
            <p:ph type="body" sz="quarter" idx="3"/>
          </p:nvPr>
        </p:nvSpPr>
        <p:spPr bwMode="auto">
          <a:xfrm>
            <a:off x="695484" y="4420869"/>
            <a:ext cx="5563870" cy="4190367"/>
          </a:xfrm>
          <a:prstGeom prst="rect">
            <a:avLst/>
          </a:prstGeom>
          <a:noFill/>
          <a:ln w="9525">
            <a:noFill/>
            <a:miter lim="800000"/>
            <a:headEnd/>
            <a:tailEnd/>
          </a:ln>
        </p:spPr>
        <p:txBody>
          <a:bodyPr vert="horz" wrap="square" lIns="92925" tIns="46462" rIns="92925" bIns="4646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bwMode="auto">
          <a:xfrm>
            <a:off x="0" y="8841738"/>
            <a:ext cx="3013763" cy="465773"/>
          </a:xfrm>
          <a:prstGeom prst="rect">
            <a:avLst/>
          </a:prstGeom>
          <a:noFill/>
          <a:ln w="9525">
            <a:noFill/>
            <a:miter lim="800000"/>
            <a:headEnd/>
            <a:tailEnd/>
          </a:ln>
        </p:spPr>
        <p:txBody>
          <a:bodyPr vert="horz" wrap="square" lIns="92925" tIns="46462" rIns="92925" bIns="46462" numCol="1" anchor="b" anchorCtr="0" compatLnSpc="1">
            <a:prstTxWarp prst="textNoShape">
              <a:avLst/>
            </a:prstTxWarp>
          </a:bodyPr>
          <a:lstStyle>
            <a:lvl1pPr defTabSz="910938">
              <a:defRPr sz="1200">
                <a:latin typeface="Calibri" pitchFamily="34" charset="0"/>
              </a:defRPr>
            </a:lvl1pPr>
          </a:lstStyle>
          <a:p>
            <a:endParaRPr lang="en-US"/>
          </a:p>
        </p:txBody>
      </p:sp>
      <p:sp>
        <p:nvSpPr>
          <p:cNvPr id="7" name="Slide Number Placeholder 6"/>
          <p:cNvSpPr>
            <a:spLocks noGrp="1"/>
          </p:cNvSpPr>
          <p:nvPr>
            <p:ph type="sldNum" sz="quarter" idx="5"/>
          </p:nvPr>
        </p:nvSpPr>
        <p:spPr bwMode="auto">
          <a:xfrm>
            <a:off x="3939466" y="8841738"/>
            <a:ext cx="3013763" cy="465773"/>
          </a:xfrm>
          <a:prstGeom prst="rect">
            <a:avLst/>
          </a:prstGeom>
          <a:noFill/>
          <a:ln w="9525">
            <a:noFill/>
            <a:miter lim="800000"/>
            <a:headEnd/>
            <a:tailEnd/>
          </a:ln>
        </p:spPr>
        <p:txBody>
          <a:bodyPr vert="horz" wrap="square" lIns="92925" tIns="46462" rIns="92925" bIns="46462" numCol="1" anchor="b" anchorCtr="0" compatLnSpc="1">
            <a:prstTxWarp prst="textNoShape">
              <a:avLst/>
            </a:prstTxWarp>
          </a:bodyPr>
          <a:lstStyle>
            <a:lvl1pPr algn="r" defTabSz="910938">
              <a:defRPr sz="1200">
                <a:latin typeface="Calibri" pitchFamily="34" charset="0"/>
              </a:defRPr>
            </a:lvl1pPr>
          </a:lstStyle>
          <a:p>
            <a:fld id="{41F5AA5E-27DB-4721-A995-E1EF66034A6A}" type="slidenum">
              <a:rPr lang="en-US"/>
              <a:pPr/>
              <a:t>‹#›</a:t>
            </a:fld>
            <a:endParaRPr lang="en-US"/>
          </a:p>
        </p:txBody>
      </p:sp>
    </p:spTree>
    <p:extLst>
      <p:ext uri="{BB962C8B-B14F-4D97-AF65-F5344CB8AC3E}">
        <p14:creationId xmlns:p14="http://schemas.microsoft.com/office/powerpoint/2010/main" val="126609310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p:txBody>
          <a:bodyPr/>
          <a:lstStyle/>
          <a:p>
            <a:pPr>
              <a:spcBef>
                <a:spcPct val="0"/>
              </a:spcBef>
            </a:pPr>
            <a:endParaRPr lang="en-US" smtClean="0"/>
          </a:p>
        </p:txBody>
      </p:sp>
      <p:sp>
        <p:nvSpPr>
          <p:cNvPr id="39940" name="Slide Number Placeholder 3"/>
          <p:cNvSpPr>
            <a:spLocks noGrp="1"/>
          </p:cNvSpPr>
          <p:nvPr>
            <p:ph type="sldNum" sz="quarter" idx="5"/>
          </p:nvPr>
        </p:nvSpPr>
        <p:spPr>
          <a:noFill/>
        </p:spPr>
        <p:txBody>
          <a:bodyPr/>
          <a:lstStyle/>
          <a:p>
            <a:fld id="{5FE0C5AF-15C7-4CBB-B372-E70751F91517}" type="slidenum">
              <a:rPr lang="en-US"/>
              <a:pPr/>
              <a:t>1</a:t>
            </a:fld>
            <a:endParaRPr lang="en-US"/>
          </a:p>
        </p:txBody>
      </p:sp>
    </p:spTree>
    <p:extLst>
      <p:ext uri="{BB962C8B-B14F-4D97-AF65-F5344CB8AC3E}">
        <p14:creationId xmlns:p14="http://schemas.microsoft.com/office/powerpoint/2010/main" val="4004079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p:txBody>
          <a:bodyPr/>
          <a:lstStyle/>
          <a:p>
            <a:pPr>
              <a:spcBef>
                <a:spcPct val="0"/>
              </a:spcBef>
            </a:pPr>
            <a:endParaRPr lang="en-US" smtClean="0"/>
          </a:p>
        </p:txBody>
      </p:sp>
      <p:sp>
        <p:nvSpPr>
          <p:cNvPr id="41988" name="Slide Number Placeholder 3"/>
          <p:cNvSpPr>
            <a:spLocks noGrp="1"/>
          </p:cNvSpPr>
          <p:nvPr>
            <p:ph type="sldNum" sz="quarter" idx="5"/>
          </p:nvPr>
        </p:nvSpPr>
        <p:spPr>
          <a:noFill/>
        </p:spPr>
        <p:txBody>
          <a:bodyPr/>
          <a:lstStyle/>
          <a:p>
            <a:fld id="{06CE89F4-D5B3-4FF3-BD9F-FEC6F1BDFFA0}" type="slidenum">
              <a:rPr lang="en-US"/>
              <a:pPr/>
              <a:t>11</a:t>
            </a:fld>
            <a:endParaRPr lang="en-US"/>
          </a:p>
        </p:txBody>
      </p:sp>
    </p:spTree>
    <p:extLst>
      <p:ext uri="{BB962C8B-B14F-4D97-AF65-F5344CB8AC3E}">
        <p14:creationId xmlns:p14="http://schemas.microsoft.com/office/powerpoint/2010/main" val="3786260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p:txBody>
          <a:bodyPr/>
          <a:lstStyle/>
          <a:p>
            <a:pPr>
              <a:spcBef>
                <a:spcPct val="0"/>
              </a:spcBef>
            </a:pPr>
            <a:endParaRPr lang="en-US" smtClean="0"/>
          </a:p>
        </p:txBody>
      </p:sp>
      <p:sp>
        <p:nvSpPr>
          <p:cNvPr id="43012" name="Slide Number Placeholder 3"/>
          <p:cNvSpPr>
            <a:spLocks noGrp="1"/>
          </p:cNvSpPr>
          <p:nvPr>
            <p:ph type="sldNum" sz="quarter" idx="5"/>
          </p:nvPr>
        </p:nvSpPr>
        <p:spPr>
          <a:noFill/>
        </p:spPr>
        <p:txBody>
          <a:bodyPr/>
          <a:lstStyle/>
          <a:p>
            <a:fld id="{BB39E8E8-57E7-4793-B5A8-D3F241E19927}" type="slidenum">
              <a:rPr lang="en-US"/>
              <a:pPr/>
              <a:t>12</a:t>
            </a:fld>
            <a:endParaRPr lang="en-US"/>
          </a:p>
        </p:txBody>
      </p:sp>
    </p:spTree>
    <p:extLst>
      <p:ext uri="{BB962C8B-B14F-4D97-AF65-F5344CB8AC3E}">
        <p14:creationId xmlns:p14="http://schemas.microsoft.com/office/powerpoint/2010/main" val="2696285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p:txBody>
          <a:bodyPr/>
          <a:lstStyle/>
          <a:p>
            <a:pPr>
              <a:spcBef>
                <a:spcPct val="0"/>
              </a:spcBef>
            </a:pPr>
            <a:endParaRPr lang="en-US" smtClean="0"/>
          </a:p>
        </p:txBody>
      </p:sp>
      <p:sp>
        <p:nvSpPr>
          <p:cNvPr id="44036" name="Slide Number Placeholder 3"/>
          <p:cNvSpPr>
            <a:spLocks noGrp="1"/>
          </p:cNvSpPr>
          <p:nvPr>
            <p:ph type="sldNum" sz="quarter" idx="5"/>
          </p:nvPr>
        </p:nvSpPr>
        <p:spPr>
          <a:noFill/>
        </p:spPr>
        <p:txBody>
          <a:bodyPr/>
          <a:lstStyle/>
          <a:p>
            <a:fld id="{E9C2631F-BB48-41C4-8481-5DF65B2C4E6F}" type="slidenum">
              <a:rPr lang="en-US"/>
              <a:pPr/>
              <a:t>19</a:t>
            </a:fld>
            <a:endParaRPr lang="en-US"/>
          </a:p>
        </p:txBody>
      </p:sp>
    </p:spTree>
    <p:extLst>
      <p:ext uri="{BB962C8B-B14F-4D97-AF65-F5344CB8AC3E}">
        <p14:creationId xmlns:p14="http://schemas.microsoft.com/office/powerpoint/2010/main" val="568372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p:txBody>
          <a:bodyPr/>
          <a:lstStyle/>
          <a:p>
            <a:pPr>
              <a:spcBef>
                <a:spcPct val="0"/>
              </a:spcBef>
            </a:pPr>
            <a:endParaRPr lang="en-US" smtClean="0"/>
          </a:p>
        </p:txBody>
      </p:sp>
      <p:sp>
        <p:nvSpPr>
          <p:cNvPr id="45060" name="Slide Number Placeholder 3"/>
          <p:cNvSpPr>
            <a:spLocks noGrp="1"/>
          </p:cNvSpPr>
          <p:nvPr>
            <p:ph type="sldNum" sz="quarter" idx="5"/>
          </p:nvPr>
        </p:nvSpPr>
        <p:spPr>
          <a:noFill/>
        </p:spPr>
        <p:txBody>
          <a:bodyPr/>
          <a:lstStyle/>
          <a:p>
            <a:fld id="{318B9BF5-E189-47EC-B9F3-ED217678650E}" type="slidenum">
              <a:rPr lang="en-US"/>
              <a:pPr/>
              <a:t>20</a:t>
            </a:fld>
            <a:endParaRPr lang="en-US"/>
          </a:p>
        </p:txBody>
      </p:sp>
    </p:spTree>
    <p:extLst>
      <p:ext uri="{BB962C8B-B14F-4D97-AF65-F5344CB8AC3E}">
        <p14:creationId xmlns:p14="http://schemas.microsoft.com/office/powerpoint/2010/main" val="3763608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p:txBody>
          <a:bodyPr/>
          <a:lstStyle/>
          <a:p>
            <a:pPr>
              <a:spcBef>
                <a:spcPct val="0"/>
              </a:spcBef>
            </a:pPr>
            <a:endParaRPr lang="en-US" smtClean="0"/>
          </a:p>
        </p:txBody>
      </p:sp>
      <p:sp>
        <p:nvSpPr>
          <p:cNvPr id="46084" name="Slide Number Placeholder 3"/>
          <p:cNvSpPr>
            <a:spLocks noGrp="1"/>
          </p:cNvSpPr>
          <p:nvPr>
            <p:ph type="sldNum" sz="quarter" idx="5"/>
          </p:nvPr>
        </p:nvSpPr>
        <p:spPr>
          <a:noFill/>
        </p:spPr>
        <p:txBody>
          <a:bodyPr/>
          <a:lstStyle/>
          <a:p>
            <a:fld id="{B328C4CC-8EEB-47F2-909F-317731531DE7}" type="slidenum">
              <a:rPr lang="en-US"/>
              <a:pPr/>
              <a:t>22</a:t>
            </a:fld>
            <a:endParaRPr lang="en-US"/>
          </a:p>
        </p:txBody>
      </p:sp>
    </p:spTree>
    <p:extLst>
      <p:ext uri="{BB962C8B-B14F-4D97-AF65-F5344CB8AC3E}">
        <p14:creationId xmlns:p14="http://schemas.microsoft.com/office/powerpoint/2010/main" val="3608931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p:txBody>
          <a:bodyPr/>
          <a:lstStyle/>
          <a:p>
            <a:pPr>
              <a:spcBef>
                <a:spcPct val="0"/>
              </a:spcBef>
            </a:pPr>
            <a:endParaRPr lang="en-US" smtClean="0"/>
          </a:p>
        </p:txBody>
      </p:sp>
      <p:sp>
        <p:nvSpPr>
          <p:cNvPr id="49156" name="Slide Number Placeholder 3"/>
          <p:cNvSpPr>
            <a:spLocks noGrp="1"/>
          </p:cNvSpPr>
          <p:nvPr>
            <p:ph type="sldNum" sz="quarter" idx="5"/>
          </p:nvPr>
        </p:nvSpPr>
        <p:spPr>
          <a:noFill/>
        </p:spPr>
        <p:txBody>
          <a:bodyPr/>
          <a:lstStyle/>
          <a:p>
            <a:fld id="{114D724E-A2D8-4987-AE25-95319D34D69C}" type="slidenum">
              <a:rPr lang="en-US"/>
              <a:pPr/>
              <a:t>26</a:t>
            </a:fld>
            <a:endParaRPr lang="en-US"/>
          </a:p>
        </p:txBody>
      </p:sp>
    </p:spTree>
    <p:extLst>
      <p:ext uri="{BB962C8B-B14F-4D97-AF65-F5344CB8AC3E}">
        <p14:creationId xmlns:p14="http://schemas.microsoft.com/office/powerpoint/2010/main" val="3578183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p:txBody>
          <a:bodyPr/>
          <a:lstStyle/>
          <a:p>
            <a:pPr>
              <a:spcBef>
                <a:spcPct val="0"/>
              </a:spcBef>
            </a:pPr>
            <a:endParaRPr lang="en-US" smtClean="0"/>
          </a:p>
        </p:txBody>
      </p:sp>
      <p:sp>
        <p:nvSpPr>
          <p:cNvPr id="50180" name="Slide Number Placeholder 3"/>
          <p:cNvSpPr>
            <a:spLocks noGrp="1"/>
          </p:cNvSpPr>
          <p:nvPr>
            <p:ph type="sldNum" sz="quarter" idx="5"/>
          </p:nvPr>
        </p:nvSpPr>
        <p:spPr>
          <a:noFill/>
        </p:spPr>
        <p:txBody>
          <a:bodyPr/>
          <a:lstStyle/>
          <a:p>
            <a:fld id="{C6DB12B1-ED12-447F-8F40-66A1A2ECF01A}" type="slidenum">
              <a:rPr lang="en-US"/>
              <a:pPr/>
              <a:t>28</a:t>
            </a:fld>
            <a:endParaRPr lang="en-US"/>
          </a:p>
        </p:txBody>
      </p:sp>
    </p:spTree>
    <p:extLst>
      <p:ext uri="{BB962C8B-B14F-4D97-AF65-F5344CB8AC3E}">
        <p14:creationId xmlns:p14="http://schemas.microsoft.com/office/powerpoint/2010/main" val="332857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p:txBody>
          <a:bodyPr/>
          <a:lstStyle/>
          <a:p>
            <a:pPr>
              <a:spcBef>
                <a:spcPct val="0"/>
              </a:spcBef>
            </a:pPr>
            <a:endParaRPr lang="en-US" smtClean="0"/>
          </a:p>
        </p:txBody>
      </p:sp>
      <p:sp>
        <p:nvSpPr>
          <p:cNvPr id="47108" name="Slide Number Placeholder 3"/>
          <p:cNvSpPr>
            <a:spLocks noGrp="1"/>
          </p:cNvSpPr>
          <p:nvPr>
            <p:ph type="sldNum" sz="quarter" idx="5"/>
          </p:nvPr>
        </p:nvSpPr>
        <p:spPr>
          <a:noFill/>
        </p:spPr>
        <p:txBody>
          <a:bodyPr/>
          <a:lstStyle/>
          <a:p>
            <a:fld id="{0EB79770-D9A8-4133-85F9-DDA33264F3CF}" type="slidenum">
              <a:rPr lang="en-US"/>
              <a:pPr/>
              <a:t>29</a:t>
            </a:fld>
            <a:endParaRPr lang="en-US"/>
          </a:p>
        </p:txBody>
      </p:sp>
    </p:spTree>
    <p:extLst>
      <p:ext uri="{BB962C8B-B14F-4D97-AF65-F5344CB8AC3E}">
        <p14:creationId xmlns:p14="http://schemas.microsoft.com/office/powerpoint/2010/main" val="2817536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p:txBody>
          <a:bodyPr/>
          <a:lstStyle/>
          <a:p>
            <a:pPr>
              <a:spcBef>
                <a:spcPct val="0"/>
              </a:spcBef>
            </a:pPr>
            <a:endParaRPr lang="en-US" smtClean="0"/>
          </a:p>
        </p:txBody>
      </p:sp>
      <p:sp>
        <p:nvSpPr>
          <p:cNvPr id="48132" name="Slide Number Placeholder 3"/>
          <p:cNvSpPr>
            <a:spLocks noGrp="1"/>
          </p:cNvSpPr>
          <p:nvPr>
            <p:ph type="sldNum" sz="quarter" idx="5"/>
          </p:nvPr>
        </p:nvSpPr>
        <p:spPr>
          <a:noFill/>
        </p:spPr>
        <p:txBody>
          <a:bodyPr/>
          <a:lstStyle/>
          <a:p>
            <a:fld id="{92D30E21-AE93-4238-B883-6BA9B7EF1563}" type="slidenum">
              <a:rPr lang="en-US"/>
              <a:pPr/>
              <a:t>30</a:t>
            </a:fld>
            <a:endParaRPr lang="en-US"/>
          </a:p>
        </p:txBody>
      </p:sp>
    </p:spTree>
    <p:extLst>
      <p:ext uri="{BB962C8B-B14F-4D97-AF65-F5344CB8AC3E}">
        <p14:creationId xmlns:p14="http://schemas.microsoft.com/office/powerpoint/2010/main" val="491051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F5AA5E-27DB-4721-A995-E1EF66034A6A}" type="slidenum">
              <a:rPr lang="en-US" smtClean="0"/>
              <a:pPr/>
              <a:t>34</a:t>
            </a:fld>
            <a:endParaRPr lang="en-US"/>
          </a:p>
        </p:txBody>
      </p:sp>
    </p:spTree>
    <p:extLst>
      <p:ext uri="{BB962C8B-B14F-4D97-AF65-F5344CB8AC3E}">
        <p14:creationId xmlns:p14="http://schemas.microsoft.com/office/powerpoint/2010/main" val="3128204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p:txBody>
          <a:bodyPr/>
          <a:lstStyle/>
          <a:p>
            <a:pPr>
              <a:spcBef>
                <a:spcPct val="0"/>
              </a:spcBef>
            </a:pPr>
            <a:endParaRPr lang="en-US" smtClean="0"/>
          </a:p>
        </p:txBody>
      </p:sp>
      <p:sp>
        <p:nvSpPr>
          <p:cNvPr id="51204" name="Slide Number Placeholder 3"/>
          <p:cNvSpPr>
            <a:spLocks noGrp="1"/>
          </p:cNvSpPr>
          <p:nvPr>
            <p:ph type="sldNum" sz="quarter" idx="5"/>
          </p:nvPr>
        </p:nvSpPr>
        <p:spPr>
          <a:noFill/>
        </p:spPr>
        <p:txBody>
          <a:bodyPr/>
          <a:lstStyle/>
          <a:p>
            <a:fld id="{64B6E472-75BD-44F7-9725-A6BC239ECC65}" type="slidenum">
              <a:rPr lang="en-US"/>
              <a:pPr/>
              <a:t>43</a:t>
            </a:fld>
            <a:endParaRPr lang="en-US"/>
          </a:p>
        </p:txBody>
      </p:sp>
    </p:spTree>
    <p:extLst>
      <p:ext uri="{BB962C8B-B14F-4D97-AF65-F5344CB8AC3E}">
        <p14:creationId xmlns:p14="http://schemas.microsoft.com/office/powerpoint/2010/main" val="3655536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p:spPr>
      </p:sp>
      <p:sp>
        <p:nvSpPr>
          <p:cNvPr id="52227" name="Notes Placeholder 2"/>
          <p:cNvSpPr>
            <a:spLocks noGrp="1"/>
          </p:cNvSpPr>
          <p:nvPr>
            <p:ph type="body" idx="1"/>
          </p:nvPr>
        </p:nvSpPr>
        <p:spPr/>
        <p:txBody>
          <a:bodyPr/>
          <a:lstStyle/>
          <a:p>
            <a:pPr>
              <a:spcBef>
                <a:spcPct val="0"/>
              </a:spcBef>
            </a:pPr>
            <a:endParaRPr lang="en-US" smtClean="0"/>
          </a:p>
        </p:txBody>
      </p:sp>
      <p:sp>
        <p:nvSpPr>
          <p:cNvPr id="52228" name="Slide Number Placeholder 3"/>
          <p:cNvSpPr>
            <a:spLocks noGrp="1"/>
          </p:cNvSpPr>
          <p:nvPr>
            <p:ph type="sldNum" sz="quarter" idx="5"/>
          </p:nvPr>
        </p:nvSpPr>
        <p:spPr>
          <a:noFill/>
        </p:spPr>
        <p:txBody>
          <a:bodyPr/>
          <a:lstStyle/>
          <a:p>
            <a:fld id="{FAB0FA65-60AF-4B52-8188-BAD4A4A40591}" type="slidenum">
              <a:rPr lang="en-US"/>
              <a:pPr/>
              <a:t>44</a:t>
            </a:fld>
            <a:endParaRPr lang="en-US"/>
          </a:p>
        </p:txBody>
      </p:sp>
    </p:spTree>
    <p:extLst>
      <p:ext uri="{BB962C8B-B14F-4D97-AF65-F5344CB8AC3E}">
        <p14:creationId xmlns:p14="http://schemas.microsoft.com/office/powerpoint/2010/main" val="3802792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p:txBody>
          <a:bodyPr/>
          <a:lstStyle/>
          <a:p>
            <a:pPr>
              <a:spcBef>
                <a:spcPct val="0"/>
              </a:spcBef>
            </a:pPr>
            <a:endParaRPr lang="en-US" smtClean="0"/>
          </a:p>
        </p:txBody>
      </p:sp>
      <p:sp>
        <p:nvSpPr>
          <p:cNvPr id="53252" name="Slide Number Placeholder 3"/>
          <p:cNvSpPr>
            <a:spLocks noGrp="1"/>
          </p:cNvSpPr>
          <p:nvPr>
            <p:ph type="sldNum" sz="quarter" idx="5"/>
          </p:nvPr>
        </p:nvSpPr>
        <p:spPr>
          <a:noFill/>
        </p:spPr>
        <p:txBody>
          <a:bodyPr/>
          <a:lstStyle/>
          <a:p>
            <a:fld id="{F819CB9E-2CED-4FBF-BD60-E255572274A4}" type="slidenum">
              <a:rPr lang="en-US"/>
              <a:pPr/>
              <a:t>45</a:t>
            </a:fld>
            <a:endParaRPr lang="en-US"/>
          </a:p>
        </p:txBody>
      </p:sp>
    </p:spTree>
    <p:extLst>
      <p:ext uri="{BB962C8B-B14F-4D97-AF65-F5344CB8AC3E}">
        <p14:creationId xmlns:p14="http://schemas.microsoft.com/office/powerpoint/2010/main" val="1413888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p:spPr>
      </p:sp>
      <p:sp>
        <p:nvSpPr>
          <p:cNvPr id="54275" name="Notes Placeholder 2"/>
          <p:cNvSpPr>
            <a:spLocks noGrp="1"/>
          </p:cNvSpPr>
          <p:nvPr>
            <p:ph type="body" idx="1"/>
          </p:nvPr>
        </p:nvSpPr>
        <p:spPr/>
        <p:txBody>
          <a:bodyPr/>
          <a:lstStyle/>
          <a:p>
            <a:pPr>
              <a:spcBef>
                <a:spcPct val="0"/>
              </a:spcBef>
            </a:pPr>
            <a:endParaRPr lang="en-US" smtClean="0"/>
          </a:p>
        </p:txBody>
      </p:sp>
      <p:sp>
        <p:nvSpPr>
          <p:cNvPr id="54276" name="Slide Number Placeholder 3"/>
          <p:cNvSpPr>
            <a:spLocks noGrp="1"/>
          </p:cNvSpPr>
          <p:nvPr>
            <p:ph type="sldNum" sz="quarter" idx="5"/>
          </p:nvPr>
        </p:nvSpPr>
        <p:spPr>
          <a:noFill/>
        </p:spPr>
        <p:txBody>
          <a:bodyPr/>
          <a:lstStyle/>
          <a:p>
            <a:fld id="{5333CF9C-09FD-4DB8-923A-77156199B553}" type="slidenum">
              <a:rPr lang="en-US"/>
              <a:pPr/>
              <a:t>46</a:t>
            </a:fld>
            <a:endParaRPr lang="en-US"/>
          </a:p>
        </p:txBody>
      </p:sp>
    </p:spTree>
    <p:extLst>
      <p:ext uri="{BB962C8B-B14F-4D97-AF65-F5344CB8AC3E}">
        <p14:creationId xmlns:p14="http://schemas.microsoft.com/office/powerpoint/2010/main" val="30705349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p:txBody>
          <a:bodyPr/>
          <a:lstStyle/>
          <a:p>
            <a:pPr>
              <a:spcBef>
                <a:spcPct val="0"/>
              </a:spcBef>
            </a:pPr>
            <a:endParaRPr lang="en-US" smtClean="0"/>
          </a:p>
        </p:txBody>
      </p:sp>
      <p:sp>
        <p:nvSpPr>
          <p:cNvPr id="55300" name="Slide Number Placeholder 3"/>
          <p:cNvSpPr>
            <a:spLocks noGrp="1"/>
          </p:cNvSpPr>
          <p:nvPr>
            <p:ph type="sldNum" sz="quarter" idx="5"/>
          </p:nvPr>
        </p:nvSpPr>
        <p:spPr>
          <a:noFill/>
        </p:spPr>
        <p:txBody>
          <a:bodyPr/>
          <a:lstStyle/>
          <a:p>
            <a:fld id="{1F325F74-0B03-48E9-A07C-9D36C6EFE155}" type="slidenum">
              <a:rPr lang="en-US"/>
              <a:pPr/>
              <a:t>47</a:t>
            </a:fld>
            <a:endParaRPr lang="en-US"/>
          </a:p>
        </p:txBody>
      </p:sp>
    </p:spTree>
    <p:extLst>
      <p:ext uri="{BB962C8B-B14F-4D97-AF65-F5344CB8AC3E}">
        <p14:creationId xmlns:p14="http://schemas.microsoft.com/office/powerpoint/2010/main" val="3033825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p:spPr>
      </p:sp>
      <p:sp>
        <p:nvSpPr>
          <p:cNvPr id="56323" name="Notes Placeholder 2"/>
          <p:cNvSpPr>
            <a:spLocks noGrp="1"/>
          </p:cNvSpPr>
          <p:nvPr>
            <p:ph type="body" idx="1"/>
          </p:nvPr>
        </p:nvSpPr>
        <p:spPr/>
        <p:txBody>
          <a:bodyPr/>
          <a:lstStyle/>
          <a:p>
            <a:pPr>
              <a:spcBef>
                <a:spcPct val="0"/>
              </a:spcBef>
            </a:pPr>
            <a:endParaRPr lang="en-US" smtClean="0"/>
          </a:p>
        </p:txBody>
      </p:sp>
      <p:sp>
        <p:nvSpPr>
          <p:cNvPr id="56324" name="Slide Number Placeholder 3"/>
          <p:cNvSpPr>
            <a:spLocks noGrp="1"/>
          </p:cNvSpPr>
          <p:nvPr>
            <p:ph type="sldNum" sz="quarter" idx="5"/>
          </p:nvPr>
        </p:nvSpPr>
        <p:spPr>
          <a:noFill/>
        </p:spPr>
        <p:txBody>
          <a:bodyPr/>
          <a:lstStyle/>
          <a:p>
            <a:fld id="{E7155B34-E547-4702-8D76-CC7E1F76D79C}" type="slidenum">
              <a:rPr lang="en-US"/>
              <a:pPr/>
              <a:t>48</a:t>
            </a:fld>
            <a:endParaRPr lang="en-US"/>
          </a:p>
        </p:txBody>
      </p:sp>
    </p:spTree>
    <p:extLst>
      <p:ext uri="{BB962C8B-B14F-4D97-AF65-F5344CB8AC3E}">
        <p14:creationId xmlns:p14="http://schemas.microsoft.com/office/powerpoint/2010/main" val="1129500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p:txBody>
          <a:bodyPr/>
          <a:lstStyle/>
          <a:p>
            <a:pPr>
              <a:spcBef>
                <a:spcPct val="0"/>
              </a:spcBef>
            </a:pPr>
            <a:endParaRPr lang="en-US" smtClean="0"/>
          </a:p>
        </p:txBody>
      </p:sp>
      <p:sp>
        <p:nvSpPr>
          <p:cNvPr id="57348" name="Slide Number Placeholder 3"/>
          <p:cNvSpPr>
            <a:spLocks noGrp="1"/>
          </p:cNvSpPr>
          <p:nvPr>
            <p:ph type="sldNum" sz="quarter" idx="5"/>
          </p:nvPr>
        </p:nvSpPr>
        <p:spPr>
          <a:noFill/>
        </p:spPr>
        <p:txBody>
          <a:bodyPr/>
          <a:lstStyle/>
          <a:p>
            <a:fld id="{4E6AD944-7B5F-4823-AF3D-2F0E17A0B3CE}" type="slidenum">
              <a:rPr lang="en-US"/>
              <a:pPr/>
              <a:t>49</a:t>
            </a:fld>
            <a:endParaRPr lang="en-US"/>
          </a:p>
        </p:txBody>
      </p:sp>
    </p:spTree>
    <p:extLst>
      <p:ext uri="{BB962C8B-B14F-4D97-AF65-F5344CB8AC3E}">
        <p14:creationId xmlns:p14="http://schemas.microsoft.com/office/powerpoint/2010/main" val="3982776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p:spPr>
      </p:sp>
      <p:sp>
        <p:nvSpPr>
          <p:cNvPr id="58371" name="Notes Placeholder 2"/>
          <p:cNvSpPr>
            <a:spLocks noGrp="1"/>
          </p:cNvSpPr>
          <p:nvPr>
            <p:ph type="body" idx="1"/>
          </p:nvPr>
        </p:nvSpPr>
        <p:spPr/>
        <p:txBody>
          <a:bodyPr/>
          <a:lstStyle/>
          <a:p>
            <a:pPr>
              <a:spcBef>
                <a:spcPct val="0"/>
              </a:spcBef>
            </a:pPr>
            <a:endParaRPr lang="en-US" smtClean="0"/>
          </a:p>
        </p:txBody>
      </p:sp>
      <p:sp>
        <p:nvSpPr>
          <p:cNvPr id="58372" name="Slide Number Placeholder 3"/>
          <p:cNvSpPr>
            <a:spLocks noGrp="1"/>
          </p:cNvSpPr>
          <p:nvPr>
            <p:ph type="sldNum" sz="quarter" idx="5"/>
          </p:nvPr>
        </p:nvSpPr>
        <p:spPr>
          <a:noFill/>
        </p:spPr>
        <p:txBody>
          <a:bodyPr/>
          <a:lstStyle/>
          <a:p>
            <a:fld id="{799FA96D-BAF8-4CAE-8B34-6D7D9A7D6237}" type="slidenum">
              <a:rPr lang="en-US"/>
              <a:pPr/>
              <a:t>50</a:t>
            </a:fld>
            <a:endParaRPr lang="en-US"/>
          </a:p>
        </p:txBody>
      </p:sp>
    </p:spTree>
    <p:extLst>
      <p:ext uri="{BB962C8B-B14F-4D97-AF65-F5344CB8AC3E}">
        <p14:creationId xmlns:p14="http://schemas.microsoft.com/office/powerpoint/2010/main" val="4114910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p:spPr>
      </p:sp>
      <p:sp>
        <p:nvSpPr>
          <p:cNvPr id="59395" name="Notes Placeholder 2"/>
          <p:cNvSpPr>
            <a:spLocks noGrp="1"/>
          </p:cNvSpPr>
          <p:nvPr>
            <p:ph type="body" idx="1"/>
          </p:nvPr>
        </p:nvSpPr>
        <p:spPr/>
        <p:txBody>
          <a:bodyPr/>
          <a:lstStyle/>
          <a:p>
            <a:pPr>
              <a:spcBef>
                <a:spcPct val="0"/>
              </a:spcBef>
            </a:pPr>
            <a:endParaRPr lang="en-US" smtClean="0"/>
          </a:p>
        </p:txBody>
      </p:sp>
      <p:sp>
        <p:nvSpPr>
          <p:cNvPr id="59396" name="Slide Number Placeholder 3"/>
          <p:cNvSpPr>
            <a:spLocks noGrp="1"/>
          </p:cNvSpPr>
          <p:nvPr>
            <p:ph type="sldNum" sz="quarter" idx="5"/>
          </p:nvPr>
        </p:nvSpPr>
        <p:spPr>
          <a:noFill/>
        </p:spPr>
        <p:txBody>
          <a:bodyPr/>
          <a:lstStyle/>
          <a:p>
            <a:fld id="{DE1680FA-EDE6-4E2C-8827-28A8E10AF1A2}" type="slidenum">
              <a:rPr lang="en-US"/>
              <a:pPr/>
              <a:t>51</a:t>
            </a:fld>
            <a:endParaRPr lang="en-US"/>
          </a:p>
        </p:txBody>
      </p:sp>
    </p:spTree>
    <p:extLst>
      <p:ext uri="{BB962C8B-B14F-4D97-AF65-F5344CB8AC3E}">
        <p14:creationId xmlns:p14="http://schemas.microsoft.com/office/powerpoint/2010/main" val="3221971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p:txBody>
          <a:bodyPr/>
          <a:lstStyle/>
          <a:p>
            <a:pPr>
              <a:spcBef>
                <a:spcPct val="0"/>
              </a:spcBef>
            </a:pPr>
            <a:endParaRPr lang="en-US" smtClean="0"/>
          </a:p>
        </p:txBody>
      </p:sp>
      <p:sp>
        <p:nvSpPr>
          <p:cNvPr id="60420" name="Slide Number Placeholder 3"/>
          <p:cNvSpPr>
            <a:spLocks noGrp="1"/>
          </p:cNvSpPr>
          <p:nvPr>
            <p:ph type="sldNum" sz="quarter" idx="5"/>
          </p:nvPr>
        </p:nvSpPr>
        <p:spPr>
          <a:noFill/>
        </p:spPr>
        <p:txBody>
          <a:bodyPr/>
          <a:lstStyle/>
          <a:p>
            <a:fld id="{67D61462-392D-47D0-962E-B00D69E8BBEE}" type="slidenum">
              <a:rPr lang="en-US"/>
              <a:pPr/>
              <a:t>52</a:t>
            </a:fld>
            <a:endParaRPr lang="en-US"/>
          </a:p>
        </p:txBody>
      </p:sp>
    </p:spTree>
    <p:extLst>
      <p:ext uri="{BB962C8B-B14F-4D97-AF65-F5344CB8AC3E}">
        <p14:creationId xmlns:p14="http://schemas.microsoft.com/office/powerpoint/2010/main" val="371629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p:txBody>
          <a:bodyPr/>
          <a:lstStyle/>
          <a:p>
            <a:pPr>
              <a:spcBef>
                <a:spcPct val="0"/>
              </a:spcBef>
            </a:pPr>
            <a:endParaRPr lang="en-US" smtClean="0"/>
          </a:p>
        </p:txBody>
      </p:sp>
      <p:sp>
        <p:nvSpPr>
          <p:cNvPr id="61444" name="Slide Number Placeholder 3"/>
          <p:cNvSpPr>
            <a:spLocks noGrp="1"/>
          </p:cNvSpPr>
          <p:nvPr>
            <p:ph type="sldNum" sz="quarter" idx="5"/>
          </p:nvPr>
        </p:nvSpPr>
        <p:spPr>
          <a:noFill/>
        </p:spPr>
        <p:txBody>
          <a:bodyPr/>
          <a:lstStyle/>
          <a:p>
            <a:fld id="{982C99DB-70A3-407B-A9EB-004567FA9275}" type="slidenum">
              <a:rPr lang="en-US"/>
              <a:pPr/>
              <a:t>53</a:t>
            </a:fld>
            <a:endParaRPr lang="en-US"/>
          </a:p>
        </p:txBody>
      </p:sp>
    </p:spTree>
    <p:extLst>
      <p:ext uri="{BB962C8B-B14F-4D97-AF65-F5344CB8AC3E}">
        <p14:creationId xmlns:p14="http://schemas.microsoft.com/office/powerpoint/2010/main" val="23896243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p:txBody>
          <a:bodyPr/>
          <a:lstStyle/>
          <a:p>
            <a:pPr>
              <a:spcBef>
                <a:spcPct val="0"/>
              </a:spcBef>
            </a:pPr>
            <a:endParaRPr lang="en-US" smtClean="0"/>
          </a:p>
        </p:txBody>
      </p:sp>
      <p:sp>
        <p:nvSpPr>
          <p:cNvPr id="62468" name="Slide Number Placeholder 3"/>
          <p:cNvSpPr>
            <a:spLocks noGrp="1"/>
          </p:cNvSpPr>
          <p:nvPr>
            <p:ph type="sldNum" sz="quarter" idx="5"/>
          </p:nvPr>
        </p:nvSpPr>
        <p:spPr>
          <a:noFill/>
        </p:spPr>
        <p:txBody>
          <a:bodyPr/>
          <a:lstStyle/>
          <a:p>
            <a:fld id="{7C3E2E16-CF19-4A83-8277-A280336EBAD2}" type="slidenum">
              <a:rPr lang="en-US"/>
              <a:pPr/>
              <a:t>57</a:t>
            </a:fld>
            <a:endParaRPr lang="en-US"/>
          </a:p>
        </p:txBody>
      </p:sp>
    </p:spTree>
    <p:extLst>
      <p:ext uri="{BB962C8B-B14F-4D97-AF65-F5344CB8AC3E}">
        <p14:creationId xmlns:p14="http://schemas.microsoft.com/office/powerpoint/2010/main" val="11605335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p:txBody>
          <a:bodyPr/>
          <a:lstStyle/>
          <a:p>
            <a:pPr>
              <a:spcBef>
                <a:spcPct val="0"/>
              </a:spcBef>
            </a:pPr>
            <a:endParaRPr lang="en-US" smtClean="0"/>
          </a:p>
        </p:txBody>
      </p:sp>
      <p:sp>
        <p:nvSpPr>
          <p:cNvPr id="63492" name="Slide Number Placeholder 3"/>
          <p:cNvSpPr>
            <a:spLocks noGrp="1"/>
          </p:cNvSpPr>
          <p:nvPr>
            <p:ph type="sldNum" sz="quarter" idx="5"/>
          </p:nvPr>
        </p:nvSpPr>
        <p:spPr>
          <a:noFill/>
        </p:spPr>
        <p:txBody>
          <a:bodyPr/>
          <a:lstStyle/>
          <a:p>
            <a:fld id="{17A222BF-F9A6-44F2-968E-4D1518C12C2C}" type="slidenum">
              <a:rPr lang="en-US"/>
              <a:pPr/>
              <a:t>58</a:t>
            </a:fld>
            <a:endParaRPr lang="en-US"/>
          </a:p>
        </p:txBody>
      </p:sp>
    </p:spTree>
    <p:extLst>
      <p:ext uri="{BB962C8B-B14F-4D97-AF65-F5344CB8AC3E}">
        <p14:creationId xmlns:p14="http://schemas.microsoft.com/office/powerpoint/2010/main" val="30614315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p:spPr>
      </p:sp>
      <p:sp>
        <p:nvSpPr>
          <p:cNvPr id="64515" name="Notes Placeholder 2"/>
          <p:cNvSpPr>
            <a:spLocks noGrp="1"/>
          </p:cNvSpPr>
          <p:nvPr>
            <p:ph type="body" idx="1"/>
          </p:nvPr>
        </p:nvSpPr>
        <p:spPr/>
        <p:txBody>
          <a:bodyPr/>
          <a:lstStyle/>
          <a:p>
            <a:pPr>
              <a:spcBef>
                <a:spcPct val="0"/>
              </a:spcBef>
            </a:pPr>
            <a:endParaRPr lang="en-US" smtClean="0"/>
          </a:p>
        </p:txBody>
      </p:sp>
      <p:sp>
        <p:nvSpPr>
          <p:cNvPr id="64516" name="Slide Number Placeholder 3"/>
          <p:cNvSpPr>
            <a:spLocks noGrp="1"/>
          </p:cNvSpPr>
          <p:nvPr>
            <p:ph type="sldNum" sz="quarter" idx="5"/>
          </p:nvPr>
        </p:nvSpPr>
        <p:spPr>
          <a:noFill/>
        </p:spPr>
        <p:txBody>
          <a:bodyPr/>
          <a:lstStyle/>
          <a:p>
            <a:fld id="{815EA427-9249-4693-958F-CF6E9D814513}" type="slidenum">
              <a:rPr lang="en-US"/>
              <a:pPr/>
              <a:t>59</a:t>
            </a:fld>
            <a:endParaRPr lang="en-US"/>
          </a:p>
        </p:txBody>
      </p:sp>
    </p:spTree>
    <p:extLst>
      <p:ext uri="{BB962C8B-B14F-4D97-AF65-F5344CB8AC3E}">
        <p14:creationId xmlns:p14="http://schemas.microsoft.com/office/powerpoint/2010/main" val="1540837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p:txBody>
          <a:bodyPr/>
          <a:lstStyle/>
          <a:p>
            <a:pPr>
              <a:spcBef>
                <a:spcPct val="0"/>
              </a:spcBef>
            </a:pPr>
            <a:endParaRPr lang="en-US" smtClean="0"/>
          </a:p>
        </p:txBody>
      </p:sp>
      <p:sp>
        <p:nvSpPr>
          <p:cNvPr id="66564" name="Slide Number Placeholder 3"/>
          <p:cNvSpPr>
            <a:spLocks noGrp="1"/>
          </p:cNvSpPr>
          <p:nvPr>
            <p:ph type="sldNum" sz="quarter" idx="5"/>
          </p:nvPr>
        </p:nvSpPr>
        <p:spPr>
          <a:noFill/>
        </p:spPr>
        <p:txBody>
          <a:bodyPr/>
          <a:lstStyle/>
          <a:p>
            <a:fld id="{61C8CBA3-6168-4A14-92E6-C247B1ADA5CA}" type="slidenum">
              <a:rPr lang="en-US"/>
              <a:pPr/>
              <a:t>60</a:t>
            </a:fld>
            <a:endParaRPr lang="en-US"/>
          </a:p>
        </p:txBody>
      </p:sp>
    </p:spTree>
    <p:extLst>
      <p:ext uri="{BB962C8B-B14F-4D97-AF65-F5344CB8AC3E}">
        <p14:creationId xmlns:p14="http://schemas.microsoft.com/office/powerpoint/2010/main" val="1305022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p:txBody>
          <a:bodyPr/>
          <a:lstStyle/>
          <a:p>
            <a:pPr>
              <a:spcBef>
                <a:spcPct val="0"/>
              </a:spcBef>
            </a:pPr>
            <a:endParaRPr lang="en-US" smtClean="0"/>
          </a:p>
        </p:txBody>
      </p:sp>
      <p:sp>
        <p:nvSpPr>
          <p:cNvPr id="67588" name="Slide Number Placeholder 3"/>
          <p:cNvSpPr>
            <a:spLocks noGrp="1"/>
          </p:cNvSpPr>
          <p:nvPr>
            <p:ph type="sldNum" sz="quarter" idx="5"/>
          </p:nvPr>
        </p:nvSpPr>
        <p:spPr>
          <a:noFill/>
        </p:spPr>
        <p:txBody>
          <a:bodyPr/>
          <a:lstStyle/>
          <a:p>
            <a:fld id="{3A1322FB-B4C5-4EEC-BA50-DF6717E40911}" type="slidenum">
              <a:rPr lang="en-US"/>
              <a:pPr/>
              <a:t>61</a:t>
            </a:fld>
            <a:endParaRPr lang="en-US"/>
          </a:p>
        </p:txBody>
      </p:sp>
    </p:spTree>
    <p:extLst>
      <p:ext uri="{BB962C8B-B14F-4D97-AF65-F5344CB8AC3E}">
        <p14:creationId xmlns:p14="http://schemas.microsoft.com/office/powerpoint/2010/main" val="23797844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p:txBody>
          <a:bodyPr/>
          <a:lstStyle/>
          <a:p>
            <a:pPr>
              <a:spcBef>
                <a:spcPct val="0"/>
              </a:spcBef>
            </a:pPr>
            <a:endParaRPr lang="en-US" smtClean="0"/>
          </a:p>
        </p:txBody>
      </p:sp>
      <p:sp>
        <p:nvSpPr>
          <p:cNvPr id="68612" name="Slide Number Placeholder 3"/>
          <p:cNvSpPr>
            <a:spLocks noGrp="1"/>
          </p:cNvSpPr>
          <p:nvPr>
            <p:ph type="sldNum" sz="quarter" idx="5"/>
          </p:nvPr>
        </p:nvSpPr>
        <p:spPr>
          <a:noFill/>
        </p:spPr>
        <p:txBody>
          <a:bodyPr/>
          <a:lstStyle/>
          <a:p>
            <a:fld id="{A3239562-20D5-4249-97FC-689FE7CE6E45}" type="slidenum">
              <a:rPr lang="en-US"/>
              <a:pPr/>
              <a:t>62</a:t>
            </a:fld>
            <a:endParaRPr lang="en-US"/>
          </a:p>
        </p:txBody>
      </p:sp>
    </p:spTree>
    <p:extLst>
      <p:ext uri="{BB962C8B-B14F-4D97-AF65-F5344CB8AC3E}">
        <p14:creationId xmlns:p14="http://schemas.microsoft.com/office/powerpoint/2010/main" val="8874462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p:txBody>
          <a:bodyPr/>
          <a:lstStyle/>
          <a:p>
            <a:pPr>
              <a:spcBef>
                <a:spcPct val="0"/>
              </a:spcBef>
            </a:pPr>
            <a:endParaRPr lang="en-US" smtClean="0"/>
          </a:p>
        </p:txBody>
      </p:sp>
      <p:sp>
        <p:nvSpPr>
          <p:cNvPr id="69636" name="Slide Number Placeholder 3"/>
          <p:cNvSpPr>
            <a:spLocks noGrp="1"/>
          </p:cNvSpPr>
          <p:nvPr>
            <p:ph type="sldNum" sz="quarter" idx="5"/>
          </p:nvPr>
        </p:nvSpPr>
        <p:spPr>
          <a:noFill/>
        </p:spPr>
        <p:txBody>
          <a:bodyPr/>
          <a:lstStyle/>
          <a:p>
            <a:fld id="{150DFF49-8127-47B0-AFCF-71FEDBB8541C}" type="slidenum">
              <a:rPr lang="en-US"/>
              <a:pPr/>
              <a:t>63</a:t>
            </a:fld>
            <a:endParaRPr lang="en-US"/>
          </a:p>
        </p:txBody>
      </p:sp>
    </p:spTree>
    <p:extLst>
      <p:ext uri="{BB962C8B-B14F-4D97-AF65-F5344CB8AC3E}">
        <p14:creationId xmlns:p14="http://schemas.microsoft.com/office/powerpoint/2010/main" val="8117829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p:txBody>
          <a:bodyPr/>
          <a:lstStyle/>
          <a:p>
            <a:pPr>
              <a:spcBef>
                <a:spcPct val="0"/>
              </a:spcBef>
            </a:pPr>
            <a:endParaRPr lang="en-US" smtClean="0"/>
          </a:p>
        </p:txBody>
      </p:sp>
      <p:sp>
        <p:nvSpPr>
          <p:cNvPr id="70660" name="Slide Number Placeholder 3"/>
          <p:cNvSpPr>
            <a:spLocks noGrp="1"/>
          </p:cNvSpPr>
          <p:nvPr>
            <p:ph type="sldNum" sz="quarter" idx="5"/>
          </p:nvPr>
        </p:nvSpPr>
        <p:spPr>
          <a:noFill/>
        </p:spPr>
        <p:txBody>
          <a:bodyPr/>
          <a:lstStyle/>
          <a:p>
            <a:fld id="{2FE59E23-EF23-4CF2-B323-94D26879ACF2}" type="slidenum">
              <a:rPr lang="en-US"/>
              <a:pPr/>
              <a:t>67</a:t>
            </a:fld>
            <a:endParaRPr lang="en-US"/>
          </a:p>
        </p:txBody>
      </p:sp>
    </p:spTree>
    <p:extLst>
      <p:ext uri="{BB962C8B-B14F-4D97-AF65-F5344CB8AC3E}">
        <p14:creationId xmlns:p14="http://schemas.microsoft.com/office/powerpoint/2010/main" val="27563688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p:txBody>
          <a:bodyPr/>
          <a:lstStyle/>
          <a:p>
            <a:pPr>
              <a:spcBef>
                <a:spcPct val="0"/>
              </a:spcBef>
            </a:pPr>
            <a:endParaRPr lang="en-US" smtClean="0"/>
          </a:p>
        </p:txBody>
      </p:sp>
      <p:sp>
        <p:nvSpPr>
          <p:cNvPr id="71684" name="Slide Number Placeholder 3"/>
          <p:cNvSpPr>
            <a:spLocks noGrp="1"/>
          </p:cNvSpPr>
          <p:nvPr>
            <p:ph type="sldNum" sz="quarter" idx="5"/>
          </p:nvPr>
        </p:nvSpPr>
        <p:spPr>
          <a:noFill/>
        </p:spPr>
        <p:txBody>
          <a:bodyPr/>
          <a:lstStyle/>
          <a:p>
            <a:fld id="{33F5C317-F6E6-4B0B-AEE5-C6ADCA2A251A}" type="slidenum">
              <a:rPr lang="en-US"/>
              <a:pPr/>
              <a:t>68</a:t>
            </a:fld>
            <a:endParaRPr lang="en-US"/>
          </a:p>
        </p:txBody>
      </p:sp>
    </p:spTree>
    <p:extLst>
      <p:ext uri="{BB962C8B-B14F-4D97-AF65-F5344CB8AC3E}">
        <p14:creationId xmlns:p14="http://schemas.microsoft.com/office/powerpoint/2010/main" val="34020101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p:spPr>
      </p:sp>
      <p:sp>
        <p:nvSpPr>
          <p:cNvPr id="72707" name="Notes Placeholder 2"/>
          <p:cNvSpPr>
            <a:spLocks noGrp="1"/>
          </p:cNvSpPr>
          <p:nvPr>
            <p:ph type="body" idx="1"/>
          </p:nvPr>
        </p:nvSpPr>
        <p:spPr/>
        <p:txBody>
          <a:bodyPr/>
          <a:lstStyle/>
          <a:p>
            <a:pPr>
              <a:spcBef>
                <a:spcPct val="0"/>
              </a:spcBef>
            </a:pPr>
            <a:endParaRPr lang="en-US" smtClean="0"/>
          </a:p>
        </p:txBody>
      </p:sp>
      <p:sp>
        <p:nvSpPr>
          <p:cNvPr id="72708" name="Slide Number Placeholder 3"/>
          <p:cNvSpPr>
            <a:spLocks noGrp="1"/>
          </p:cNvSpPr>
          <p:nvPr>
            <p:ph type="sldNum" sz="quarter" idx="5"/>
          </p:nvPr>
        </p:nvSpPr>
        <p:spPr>
          <a:noFill/>
        </p:spPr>
        <p:txBody>
          <a:bodyPr/>
          <a:lstStyle/>
          <a:p>
            <a:fld id="{CB220F28-6268-497A-818B-764E3D69866B}" type="slidenum">
              <a:rPr lang="en-US"/>
              <a:pPr/>
              <a:t>70</a:t>
            </a:fld>
            <a:endParaRPr lang="en-US"/>
          </a:p>
        </p:txBody>
      </p:sp>
    </p:spTree>
    <p:extLst>
      <p:ext uri="{BB962C8B-B14F-4D97-AF65-F5344CB8AC3E}">
        <p14:creationId xmlns:p14="http://schemas.microsoft.com/office/powerpoint/2010/main" val="35200804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p:spPr>
      </p:sp>
      <p:sp>
        <p:nvSpPr>
          <p:cNvPr id="73731" name="Notes Placeholder 2"/>
          <p:cNvSpPr>
            <a:spLocks noGrp="1"/>
          </p:cNvSpPr>
          <p:nvPr>
            <p:ph type="body" idx="1"/>
          </p:nvPr>
        </p:nvSpPr>
        <p:spPr/>
        <p:txBody>
          <a:bodyPr/>
          <a:lstStyle/>
          <a:p>
            <a:pPr>
              <a:spcBef>
                <a:spcPct val="0"/>
              </a:spcBef>
            </a:pPr>
            <a:endParaRPr lang="en-US" smtClean="0"/>
          </a:p>
        </p:txBody>
      </p:sp>
      <p:sp>
        <p:nvSpPr>
          <p:cNvPr id="73732" name="Slide Number Placeholder 3"/>
          <p:cNvSpPr>
            <a:spLocks noGrp="1"/>
          </p:cNvSpPr>
          <p:nvPr>
            <p:ph type="sldNum" sz="quarter" idx="5"/>
          </p:nvPr>
        </p:nvSpPr>
        <p:spPr>
          <a:noFill/>
        </p:spPr>
        <p:txBody>
          <a:bodyPr/>
          <a:lstStyle/>
          <a:p>
            <a:fld id="{392B2D16-D18B-4796-93D6-CE473F9A5092}" type="slidenum">
              <a:rPr lang="en-US"/>
              <a:pPr/>
              <a:t>71</a:t>
            </a:fld>
            <a:endParaRPr lang="en-US"/>
          </a:p>
        </p:txBody>
      </p:sp>
    </p:spTree>
    <p:extLst>
      <p:ext uri="{BB962C8B-B14F-4D97-AF65-F5344CB8AC3E}">
        <p14:creationId xmlns:p14="http://schemas.microsoft.com/office/powerpoint/2010/main" val="11144813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p:txBody>
          <a:bodyPr/>
          <a:lstStyle/>
          <a:p>
            <a:pPr>
              <a:spcBef>
                <a:spcPct val="0"/>
              </a:spcBef>
            </a:pPr>
            <a:endParaRPr lang="en-US" smtClean="0"/>
          </a:p>
        </p:txBody>
      </p:sp>
      <p:sp>
        <p:nvSpPr>
          <p:cNvPr id="74756" name="Slide Number Placeholder 3"/>
          <p:cNvSpPr>
            <a:spLocks noGrp="1"/>
          </p:cNvSpPr>
          <p:nvPr>
            <p:ph type="sldNum" sz="quarter" idx="5"/>
          </p:nvPr>
        </p:nvSpPr>
        <p:spPr>
          <a:noFill/>
        </p:spPr>
        <p:txBody>
          <a:bodyPr/>
          <a:lstStyle/>
          <a:p>
            <a:fld id="{6BA1F6EC-402A-43E0-A1E6-2ADC649D51D0}" type="slidenum">
              <a:rPr lang="en-US"/>
              <a:pPr/>
              <a:t>74</a:t>
            </a:fld>
            <a:endParaRPr lang="en-US"/>
          </a:p>
        </p:txBody>
      </p:sp>
    </p:spTree>
    <p:extLst>
      <p:ext uri="{BB962C8B-B14F-4D97-AF65-F5344CB8AC3E}">
        <p14:creationId xmlns:p14="http://schemas.microsoft.com/office/powerpoint/2010/main" val="12140728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pPr>
              <a:defRPr/>
            </a:pPr>
            <a:fld id="{2D5156B7-C133-4502-8B84-FF5789DD7F99}" type="datetime13">
              <a:rPr lang="en-US" smtClean="0"/>
              <a:t>11:50:32 PM</a:t>
            </a:fld>
            <a:endParaRPr lang="en-US"/>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pPr>
              <a:defRPr/>
            </a:pPr>
            <a:r>
              <a:rPr lang="en-US" smtClean="0"/>
              <a:t>Oyugi Nyanjong'</a:t>
            </a:r>
            <a:endParaRPr lang="en-US"/>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pPr>
              <a:defRPr/>
            </a:pPr>
            <a:fld id="{1EFD98CC-8E8C-4376-A4D4-A0F15EB79D52}" type="slidenum">
              <a:rPr lang="en-US" smtClean="0"/>
              <a:pPr>
                <a:defRPr/>
              </a:pPr>
              <a:t>‹#›</a:t>
            </a:fld>
            <a:endParaRPr lang="en-US"/>
          </a:p>
        </p:txBody>
      </p:sp>
    </p:spTree>
    <p:extLst>
      <p:ext uri="{BB962C8B-B14F-4D97-AF65-F5344CB8AC3E}">
        <p14:creationId xmlns:p14="http://schemas.microsoft.com/office/powerpoint/2010/main" val="4204969977"/>
      </p:ext>
    </p:extLst>
  </p:cSld>
  <p:clrMapOvr>
    <a:overrideClrMapping bg1="lt1" tx1="dk1" bg2="lt2" tx2="dk2" accent1="accent1" accent2="accent2" accent3="accent3" accent4="accent4" accent5="accent5" accent6="accent6" hlink="hlink" folHlink="folHlink"/>
  </p:clrMapOvr>
  <p:transition>
    <p:wheel spokes="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088A79DC-0093-46BE-8657-014D5813661C}" type="datetime13">
              <a:rPr lang="en-US" smtClean="0"/>
              <a:t>11:50:32 PM</a:t>
            </a:fld>
            <a:endParaRPr lang="en-US"/>
          </a:p>
        </p:txBody>
      </p:sp>
      <p:sp>
        <p:nvSpPr>
          <p:cNvPr id="8" name="Footer Placeholder 7"/>
          <p:cNvSpPr>
            <a:spLocks noGrp="1"/>
          </p:cNvSpPr>
          <p:nvPr>
            <p:ph type="ftr" sz="quarter" idx="11"/>
          </p:nvPr>
        </p:nvSpPr>
        <p:spPr/>
        <p:txBody>
          <a:bodyPr/>
          <a:lstStyle/>
          <a:p>
            <a:pPr>
              <a:defRPr/>
            </a:pPr>
            <a:r>
              <a:rPr lang="en-US" smtClean="0"/>
              <a:t>Oyugi Nyanjong'</a:t>
            </a:r>
            <a:endParaRPr lang="en-US"/>
          </a:p>
        </p:txBody>
      </p:sp>
      <p:sp>
        <p:nvSpPr>
          <p:cNvPr id="9" name="Slide Number Placeholder 8"/>
          <p:cNvSpPr>
            <a:spLocks noGrp="1"/>
          </p:cNvSpPr>
          <p:nvPr>
            <p:ph type="sldNum" sz="quarter" idx="12"/>
          </p:nvPr>
        </p:nvSpPr>
        <p:spPr/>
        <p:txBody>
          <a:bodyPr/>
          <a:lstStyle/>
          <a:p>
            <a:pPr>
              <a:defRPr/>
            </a:pPr>
            <a:fld id="{BE36189F-8EA4-4393-831F-E9BB08DDB1F4}" type="slidenum">
              <a:rPr lang="en-US" smtClean="0"/>
              <a:pPr>
                <a:defRPr/>
              </a:pPr>
              <a:t>‹#›</a:t>
            </a:fld>
            <a:endParaRPr lang="en-US"/>
          </a:p>
        </p:txBody>
      </p:sp>
    </p:spTree>
    <p:extLst>
      <p:ext uri="{BB962C8B-B14F-4D97-AF65-F5344CB8AC3E}">
        <p14:creationId xmlns:p14="http://schemas.microsoft.com/office/powerpoint/2010/main" val="2026105328"/>
      </p:ext>
    </p:extLst>
  </p:cSld>
  <p:clrMapOvr>
    <a:masterClrMapping/>
  </p:clrMapOvr>
  <p:transition>
    <p:wheel spokes="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pPr>
              <a:defRPr/>
            </a:pPr>
            <a:fld id="{2E754605-43B3-418D-9391-513FFF097A23}" type="datetime13">
              <a:rPr lang="en-US" smtClean="0"/>
              <a:t>11:50:32 PM</a:t>
            </a:fld>
            <a:endParaRPr lang="en-US"/>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pPr>
              <a:defRPr/>
            </a:pPr>
            <a:r>
              <a:rPr lang="en-US" smtClean="0"/>
              <a:t>Oyugi Nyanjong'</a:t>
            </a:r>
            <a:endParaRPr lang="en-US"/>
          </a:p>
        </p:txBody>
      </p:sp>
      <p:sp>
        <p:nvSpPr>
          <p:cNvPr id="6" name="Slide Number Placeholder 5"/>
          <p:cNvSpPr>
            <a:spLocks noGrp="1"/>
          </p:cNvSpPr>
          <p:nvPr>
            <p:ph type="sldNum" sz="quarter" idx="12"/>
          </p:nvPr>
        </p:nvSpPr>
        <p:spPr>
          <a:xfrm>
            <a:off x="6453378" y="5211060"/>
            <a:ext cx="1584198" cy="228600"/>
          </a:xfrm>
        </p:spPr>
        <p:txBody>
          <a:bodyPr/>
          <a:lstStyle/>
          <a:p>
            <a:pPr>
              <a:defRPr/>
            </a:pPr>
            <a:fld id="{F23F62EE-3305-4229-AD62-9E3ABBC95E06}" type="slidenum">
              <a:rPr lang="en-US" smtClean="0"/>
              <a:pPr>
                <a:defRPr/>
              </a:pPr>
              <a:t>‹#›</a:t>
            </a:fld>
            <a:endParaRPr lang="en-US"/>
          </a:p>
        </p:txBody>
      </p:sp>
    </p:spTree>
    <p:extLst>
      <p:ext uri="{BB962C8B-B14F-4D97-AF65-F5344CB8AC3E}">
        <p14:creationId xmlns:p14="http://schemas.microsoft.com/office/powerpoint/2010/main" val="3896092142"/>
      </p:ext>
    </p:extLst>
  </p:cSld>
  <p:clrMapOvr>
    <a:overrideClrMapping bg1="lt1" tx1="dk1" bg2="lt2" tx2="dk2" accent1="accent1" accent2="accent2" accent3="accent3" accent4="accent4" accent5="accent5" accent6="accent6" hlink="hlink" folHlink="folHlink"/>
  </p:clrMapOvr>
  <p:transition>
    <p:wheel spokes="1"/>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ACF63389-897A-4D5B-8E88-456576777BB3}" type="datetime13">
              <a:rPr lang="en-US" smtClean="0"/>
              <a:t>11:50:32 PM</a:t>
            </a:fld>
            <a:endParaRPr lang="en-US"/>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7" name="Slide Number Placeholder 6"/>
          <p:cNvSpPr>
            <a:spLocks noGrp="1"/>
          </p:cNvSpPr>
          <p:nvPr>
            <p:ph type="sldNum" sz="quarter" idx="12"/>
          </p:nvPr>
        </p:nvSpPr>
        <p:spPr/>
        <p:txBody>
          <a:bodyPr/>
          <a:lstStyle/>
          <a:p>
            <a:pPr>
              <a:defRPr/>
            </a:pPr>
            <a:fld id="{C728A99F-21D4-46FB-9B04-A2E14CDE75E2}" type="slidenum">
              <a:rPr lang="en-US" smtClean="0"/>
              <a:pPr>
                <a:defRPr/>
              </a:pPr>
              <a:t>‹#›</a:t>
            </a:fld>
            <a:endParaRPr lang="en-US"/>
          </a:p>
        </p:txBody>
      </p:sp>
    </p:spTree>
    <p:extLst>
      <p:ext uri="{BB962C8B-B14F-4D97-AF65-F5344CB8AC3E}">
        <p14:creationId xmlns:p14="http://schemas.microsoft.com/office/powerpoint/2010/main" val="179532623"/>
      </p:ext>
    </p:extLst>
  </p:cSld>
  <p:clrMapOvr>
    <a:masterClrMapping/>
  </p:clrMapOvr>
  <p:transition>
    <p:wheel spokes="1"/>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66654DAB-46AD-432B-8469-C3AA24F83640}" type="datetime13">
              <a:rPr lang="en-US" smtClean="0"/>
              <a:t>11:50:32 PM</a:t>
            </a:fld>
            <a:endParaRPr lang="en-US"/>
          </a:p>
        </p:txBody>
      </p:sp>
      <p:sp>
        <p:nvSpPr>
          <p:cNvPr id="8" name="Footer Placeholder 7"/>
          <p:cNvSpPr>
            <a:spLocks noGrp="1"/>
          </p:cNvSpPr>
          <p:nvPr>
            <p:ph type="ftr" sz="quarter" idx="11"/>
          </p:nvPr>
        </p:nvSpPr>
        <p:spPr/>
        <p:txBody>
          <a:bodyPr/>
          <a:lstStyle/>
          <a:p>
            <a:pPr>
              <a:defRPr/>
            </a:pPr>
            <a:r>
              <a:rPr lang="en-US" smtClean="0"/>
              <a:t>Oyugi Nyanjong'</a:t>
            </a:r>
            <a:endParaRPr lang="en-US"/>
          </a:p>
        </p:txBody>
      </p:sp>
      <p:sp>
        <p:nvSpPr>
          <p:cNvPr id="9" name="Slide Number Placeholder 8"/>
          <p:cNvSpPr>
            <a:spLocks noGrp="1"/>
          </p:cNvSpPr>
          <p:nvPr>
            <p:ph type="sldNum" sz="quarter" idx="12"/>
          </p:nvPr>
        </p:nvSpPr>
        <p:spPr/>
        <p:txBody>
          <a:bodyPr/>
          <a:lstStyle/>
          <a:p>
            <a:pPr>
              <a:defRPr/>
            </a:pPr>
            <a:fld id="{E18157AD-9D46-4F37-8DA3-550D88724DBE}" type="slidenum">
              <a:rPr lang="en-US" smtClean="0"/>
              <a:pPr>
                <a:defRPr/>
              </a:pPr>
              <a:t>‹#›</a:t>
            </a:fld>
            <a:endParaRPr lang="en-US"/>
          </a:p>
        </p:txBody>
      </p:sp>
    </p:spTree>
    <p:extLst>
      <p:ext uri="{BB962C8B-B14F-4D97-AF65-F5344CB8AC3E}">
        <p14:creationId xmlns:p14="http://schemas.microsoft.com/office/powerpoint/2010/main" val="1777968194"/>
      </p:ext>
    </p:extLst>
  </p:cSld>
  <p:clrMapOvr>
    <a:masterClrMapping/>
  </p:clrMapOvr>
  <p:transition>
    <p:wheel spokes="1"/>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0F5E3A6B-75EF-4BD4-B17B-B2D86984D6A7}" type="datetime13">
              <a:rPr lang="en-US" smtClean="0"/>
              <a:t>11:50:32 PM</a:t>
            </a:fld>
            <a:endParaRPr lang="en-US"/>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514C3829-AEA4-4AA4-B041-A2F3B6A8E263}" type="slidenum">
              <a:rPr lang="en-US" smtClean="0"/>
              <a:pPr>
                <a:defRPr/>
              </a:pPr>
              <a:t>‹#›</a:t>
            </a:fld>
            <a:endParaRPr lang="en-US"/>
          </a:p>
        </p:txBody>
      </p:sp>
    </p:spTree>
    <p:extLst>
      <p:ext uri="{BB962C8B-B14F-4D97-AF65-F5344CB8AC3E}">
        <p14:creationId xmlns:p14="http://schemas.microsoft.com/office/powerpoint/2010/main" val="3324923947"/>
      </p:ext>
    </p:extLst>
  </p:cSld>
  <p:clrMapOvr>
    <a:masterClrMapping/>
  </p:clrMapOvr>
  <p:transition>
    <p:wheel spokes="1"/>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70B8057-306E-4940-9877-50AF9AFAA2DE}" type="datetime13">
              <a:rPr lang="en-US" smtClean="0"/>
              <a:t>11:50:32 PM</a:t>
            </a:fld>
            <a:endParaRPr lang="en-US"/>
          </a:p>
        </p:txBody>
      </p:sp>
      <p:sp>
        <p:nvSpPr>
          <p:cNvPr id="3" name="Footer Placeholder 2"/>
          <p:cNvSpPr>
            <a:spLocks noGrp="1"/>
          </p:cNvSpPr>
          <p:nvPr>
            <p:ph type="ftr" sz="quarter" idx="11"/>
          </p:nvPr>
        </p:nvSpPr>
        <p:spPr/>
        <p:txBody>
          <a:bodyPr/>
          <a:lstStyle/>
          <a:p>
            <a:pPr>
              <a:defRPr/>
            </a:pPr>
            <a:r>
              <a:rPr lang="en-US" smtClean="0"/>
              <a:t>Oyugi Nyanjong'</a:t>
            </a:r>
            <a:endParaRPr lang="en-US"/>
          </a:p>
        </p:txBody>
      </p:sp>
      <p:sp>
        <p:nvSpPr>
          <p:cNvPr id="4" name="Slide Number Placeholder 3"/>
          <p:cNvSpPr>
            <a:spLocks noGrp="1"/>
          </p:cNvSpPr>
          <p:nvPr>
            <p:ph type="sldNum" sz="quarter" idx="12"/>
          </p:nvPr>
        </p:nvSpPr>
        <p:spPr/>
        <p:txBody>
          <a:bodyPr/>
          <a:lstStyle/>
          <a:p>
            <a:pPr>
              <a:defRPr/>
            </a:pPr>
            <a:fld id="{3162A282-89DC-4859-936D-C54E76D397AA}" type="slidenum">
              <a:rPr lang="en-US" smtClean="0"/>
              <a:pPr>
                <a:defRPr/>
              </a:pPr>
              <a:t>‹#›</a:t>
            </a:fld>
            <a:endParaRPr lang="en-US"/>
          </a:p>
        </p:txBody>
      </p:sp>
    </p:spTree>
    <p:extLst>
      <p:ext uri="{BB962C8B-B14F-4D97-AF65-F5344CB8AC3E}">
        <p14:creationId xmlns:p14="http://schemas.microsoft.com/office/powerpoint/2010/main" val="142409366"/>
      </p:ext>
    </p:extLst>
  </p:cSld>
  <p:clrMapOvr>
    <a:masterClrMapping/>
  </p:clrMapOvr>
  <p:transition>
    <p:wheel spokes="1"/>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pPr>
              <a:defRPr/>
            </a:pPr>
            <a:fld id="{48E9BD54-A591-4B20-9C67-BE1BF9992857}" type="datetime13">
              <a:rPr lang="en-US" smtClean="0"/>
              <a:t>11:50:32 PM</a:t>
            </a:fld>
            <a:endParaRPr lang="en-US"/>
          </a:p>
        </p:txBody>
      </p:sp>
      <p:sp>
        <p:nvSpPr>
          <p:cNvPr id="9" name="Footer Placeholder 8"/>
          <p:cNvSpPr>
            <a:spLocks noGrp="1"/>
          </p:cNvSpPr>
          <p:nvPr>
            <p:ph type="ftr" sz="quarter" idx="11"/>
          </p:nvPr>
        </p:nvSpPr>
        <p:spPr/>
        <p:txBody>
          <a:bodyPr/>
          <a:lstStyle>
            <a:lvl1pPr algn="r">
              <a:defRPr/>
            </a:lvl1pPr>
          </a:lstStyle>
          <a:p>
            <a:pPr>
              <a:defRPr/>
            </a:pPr>
            <a:r>
              <a:rPr lang="en-US" smtClean="0"/>
              <a:t>Oyugi Nyanjong'</a:t>
            </a:r>
            <a:endParaRPr lang="en-US"/>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pPr>
              <a:defRPr/>
            </a:pPr>
            <a:fld id="{D8B3E3F2-CC02-46A8-88DE-B1C5A0A14670}" type="slidenum">
              <a:rPr lang="en-US" smtClean="0"/>
              <a:pPr>
                <a:defRPr/>
              </a:pPr>
              <a:t>‹#›</a:t>
            </a:fld>
            <a:endParaRPr lang="en-US"/>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65668382"/>
      </p:ext>
    </p:extLst>
  </p:cSld>
  <p:clrMapOvr>
    <a:masterClrMapping/>
  </p:clrMapOvr>
  <p:transition>
    <p:wheel spokes="1"/>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pPr>
              <a:defRPr/>
            </a:pPr>
            <a:fld id="{4807DD66-A5CE-413C-8892-981A75BD3DC6}" type="datetime13">
              <a:rPr lang="en-US" smtClean="0"/>
              <a:t>11:50:32 PM</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pPr>
              <a:defRPr/>
            </a:pPr>
            <a:r>
              <a:rPr lang="en-US" smtClean="0"/>
              <a:t>Oyugi Nyanjong'</a:t>
            </a:r>
            <a:endParaRPr lang="en-US"/>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pPr>
              <a:defRPr/>
            </a:pPr>
            <a:fld id="{661DA38F-DB45-4B8E-AFD0-99A1067D13C7}" type="slidenum">
              <a:rPr lang="en-US" smtClean="0"/>
              <a:pPr>
                <a:defRPr/>
              </a:pPr>
              <a:t>‹#›</a:t>
            </a:fld>
            <a:endParaRPr lang="en-US"/>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10425592"/>
      </p:ext>
    </p:extLst>
  </p:cSld>
  <p:clrMapOvr>
    <a:masterClrMapping/>
  </p:clrMapOvr>
  <p:transition>
    <p:wheel spokes="1"/>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5BD7103B-54F6-4F13-8B4C-7A60C07D14BE}" type="datetime13">
              <a:rPr lang="en-US" smtClean="0"/>
              <a:t>11:50:32 PM</a:t>
            </a:fld>
            <a:endParaRPr lang="en-US"/>
          </a:p>
        </p:txBody>
      </p:sp>
      <p:sp>
        <p:nvSpPr>
          <p:cNvPr id="5" name="Footer Placeholder 4"/>
          <p:cNvSpPr>
            <a:spLocks noGrp="1"/>
          </p:cNvSpPr>
          <p:nvPr>
            <p:ph type="ftr" sz="quarter" idx="11"/>
          </p:nvPr>
        </p:nvSpPr>
        <p:spPr/>
        <p:txBody>
          <a:bodyPr/>
          <a:lstStyle/>
          <a:p>
            <a:pPr>
              <a:defRPr/>
            </a:pPr>
            <a:r>
              <a:rPr lang="en-US" smtClean="0"/>
              <a:t>Oyugi Nyanjong'</a:t>
            </a:r>
            <a:endParaRPr lang="en-US"/>
          </a:p>
        </p:txBody>
      </p:sp>
      <p:sp>
        <p:nvSpPr>
          <p:cNvPr id="6" name="Slide Number Placeholder 5"/>
          <p:cNvSpPr>
            <a:spLocks noGrp="1"/>
          </p:cNvSpPr>
          <p:nvPr>
            <p:ph type="sldNum" sz="quarter" idx="12"/>
          </p:nvPr>
        </p:nvSpPr>
        <p:spPr/>
        <p:txBody>
          <a:bodyPr/>
          <a:lstStyle/>
          <a:p>
            <a:pPr>
              <a:defRPr/>
            </a:pPr>
            <a:fld id="{F15EDF6A-B799-4771-8092-9375763A58A1}" type="slidenum">
              <a:rPr lang="en-US" smtClean="0"/>
              <a:pPr>
                <a:defRPr/>
              </a:pPr>
              <a:t>‹#›</a:t>
            </a:fld>
            <a:endParaRPr lang="en-US"/>
          </a:p>
        </p:txBody>
      </p:sp>
    </p:spTree>
    <p:extLst>
      <p:ext uri="{BB962C8B-B14F-4D97-AF65-F5344CB8AC3E}">
        <p14:creationId xmlns:p14="http://schemas.microsoft.com/office/powerpoint/2010/main" val="2964123485"/>
      </p:ext>
    </p:extLst>
  </p:cSld>
  <p:clrMapOvr>
    <a:masterClrMapping/>
  </p:clrMapOvr>
  <p:transition>
    <p:wheel spokes="1"/>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0176E5F5-01C2-490D-811A-AE2734214C63}" type="datetime13">
              <a:rPr lang="en-US" smtClean="0"/>
              <a:t>11:50:32 PM</a:t>
            </a:fld>
            <a:endParaRPr lang="en-US"/>
          </a:p>
        </p:txBody>
      </p:sp>
      <p:sp>
        <p:nvSpPr>
          <p:cNvPr id="5" name="Footer Placeholder 4"/>
          <p:cNvSpPr>
            <a:spLocks noGrp="1"/>
          </p:cNvSpPr>
          <p:nvPr>
            <p:ph type="ftr" sz="quarter" idx="11"/>
          </p:nvPr>
        </p:nvSpPr>
        <p:spPr/>
        <p:txBody>
          <a:bodyPr/>
          <a:lstStyle/>
          <a:p>
            <a:pPr>
              <a:defRPr/>
            </a:pPr>
            <a:r>
              <a:rPr lang="en-US" smtClean="0"/>
              <a:t>Oyugi Nyanjong'</a:t>
            </a:r>
            <a:endParaRPr lang="en-US"/>
          </a:p>
        </p:txBody>
      </p:sp>
      <p:sp>
        <p:nvSpPr>
          <p:cNvPr id="6" name="Slide Number Placeholder 5"/>
          <p:cNvSpPr>
            <a:spLocks noGrp="1"/>
          </p:cNvSpPr>
          <p:nvPr>
            <p:ph type="sldNum" sz="quarter" idx="12"/>
          </p:nvPr>
        </p:nvSpPr>
        <p:spPr/>
        <p:txBody>
          <a:bodyPr/>
          <a:lstStyle/>
          <a:p>
            <a:pPr>
              <a:defRPr/>
            </a:pPr>
            <a:fld id="{91F80726-DDB7-4FF9-BC92-CE194711829A}" type="slidenum">
              <a:rPr lang="en-US" smtClean="0"/>
              <a:pPr>
                <a:defRPr/>
              </a:pPr>
              <a:t>‹#›</a:t>
            </a:fld>
            <a:endParaRPr lang="en-US"/>
          </a:p>
        </p:txBody>
      </p:sp>
    </p:spTree>
    <p:extLst>
      <p:ext uri="{BB962C8B-B14F-4D97-AF65-F5344CB8AC3E}">
        <p14:creationId xmlns:p14="http://schemas.microsoft.com/office/powerpoint/2010/main" val="2501153670"/>
      </p:ext>
    </p:extLst>
  </p:cSld>
  <p:clrMapOvr>
    <a:masterClrMapping/>
  </p:clrMapOvr>
  <p:transition>
    <p:wheel spokes="1"/>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pPr>
              <a:defRPr/>
            </a:pPr>
            <a:fld id="{F601D10F-63FB-4787-91CF-AC2555106D76}" type="datetime13">
              <a:rPr lang="en-US" smtClean="0"/>
              <a:t>11:50:32 PM</a:t>
            </a:fld>
            <a:endParaRPr lang="en-US"/>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pPr>
              <a:defRPr/>
            </a:pPr>
            <a:r>
              <a:rPr lang="en-US" smtClean="0"/>
              <a:t>Oyugi Nyanjong'</a:t>
            </a:r>
            <a:endParaRPr lang="en-US"/>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pPr>
              <a:defRPr/>
            </a:pPr>
            <a:fld id="{DA7B54D2-6F40-44E4-AD86-BC0A77515CE2}" type="slidenum">
              <a:rPr lang="en-US" smtClean="0"/>
              <a:pPr>
                <a:defRPr/>
              </a:pPr>
              <a:t>‹#›</a:t>
            </a:fld>
            <a:endParaRPr lang="en-US"/>
          </a:p>
        </p:txBody>
      </p:sp>
    </p:spTree>
    <p:extLst>
      <p:ext uri="{BB962C8B-B14F-4D97-AF65-F5344CB8AC3E}">
        <p14:creationId xmlns:p14="http://schemas.microsoft.com/office/powerpoint/2010/main" val="3674778919"/>
      </p:ext>
    </p:extLst>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ransition>
    <p:wheel spokes="1"/>
  </p:transition>
  <p:timing>
    <p:tnLst>
      <p:par>
        <p:cTn id="1" dur="indefinite" restart="never" nodeType="tmRoot"/>
      </p:par>
    </p:tnLst>
  </p:timing>
  <p:hf hdr="0" dt="0"/>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jpeg"/><Relationship Id="rId5" Type="http://schemas.openxmlformats.org/officeDocument/2006/relationships/image" Target="../media/image4.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228601"/>
            <a:ext cx="9982200" cy="914400"/>
          </a:xfrm>
        </p:spPr>
        <p:txBody>
          <a:bodyPr>
            <a:normAutofit/>
          </a:bodyPr>
          <a:lstStyle/>
          <a:p>
            <a:pPr fontAlgn="auto">
              <a:spcAft>
                <a:spcPts val="0"/>
              </a:spcAft>
              <a:defRPr/>
            </a:pPr>
            <a:r>
              <a:rPr lang="en-US" sz="5400" dirty="0" smtClean="0"/>
              <a:t>INTRODUCTORY CONCEPTS</a:t>
            </a:r>
            <a:endParaRPr lang="en-US" sz="5400" dirty="0"/>
          </a:p>
        </p:txBody>
      </p:sp>
      <p:sp>
        <p:nvSpPr>
          <p:cNvPr id="8" name="Subtitle 7"/>
          <p:cNvSpPr>
            <a:spLocks noGrp="1"/>
          </p:cNvSpPr>
          <p:nvPr>
            <p:ph type="subTitle" idx="1"/>
          </p:nvPr>
        </p:nvSpPr>
        <p:spPr>
          <a:xfrm>
            <a:off x="4038600" y="4114800"/>
            <a:ext cx="3733800" cy="1524000"/>
          </a:xfrm>
        </p:spPr>
        <p:txBody>
          <a:bodyPr>
            <a:noAutofit/>
          </a:bodyPr>
          <a:lstStyle/>
          <a:p>
            <a:pPr marR="0"/>
            <a:r>
              <a:rPr lang="en-US" sz="2800" b="1" dirty="0" err="1" smtClean="0"/>
              <a:t>Oyugi</a:t>
            </a:r>
            <a:r>
              <a:rPr lang="en-US" sz="2800" b="1" dirty="0" smtClean="0"/>
              <a:t> </a:t>
            </a:r>
            <a:r>
              <a:rPr lang="en-US" sz="2800" b="1" dirty="0" err="1" smtClean="0"/>
              <a:t>J.Nyanjong</a:t>
            </a:r>
            <a:r>
              <a:rPr lang="en-US" sz="2800" b="1" dirty="0" smtClean="0"/>
              <a:t>’</a:t>
            </a:r>
          </a:p>
          <a:p>
            <a:pPr marR="0"/>
            <a:r>
              <a:rPr lang="en-US" sz="2800" b="1" dirty="0" smtClean="0"/>
              <a:t>ECONOMICS DEPT.</a:t>
            </a:r>
          </a:p>
          <a:p>
            <a:pPr marR="0"/>
            <a:r>
              <a:rPr lang="en-US" sz="2800" b="1" dirty="0" smtClean="0"/>
              <a:t>Twitter: @</a:t>
            </a:r>
            <a:r>
              <a:rPr lang="en-US" sz="2800" b="1" dirty="0" err="1" smtClean="0"/>
              <a:t>ohyouguy</a:t>
            </a:r>
            <a:endParaRPr lang="en-US" sz="2800" b="1" dirty="0" smtClean="0"/>
          </a:p>
        </p:txBody>
      </p:sp>
      <p:sp>
        <p:nvSpPr>
          <p:cNvPr id="9" name="Footer Placeholder 8"/>
          <p:cNvSpPr>
            <a:spLocks noGrp="1"/>
          </p:cNvSpPr>
          <p:nvPr>
            <p:ph type="ftr" sz="quarter" idx="11"/>
          </p:nvPr>
        </p:nvSpPr>
        <p:spPr/>
        <p:txBody>
          <a:bodyPr/>
          <a:lstStyle/>
          <a:p>
            <a:pPr>
              <a:defRPr/>
            </a:pPr>
            <a:r>
              <a:rPr lang="en-US" smtClean="0"/>
              <a:t>Oyugi Nyanjong'</a:t>
            </a:r>
            <a:endParaRPr lang="en-US"/>
          </a:p>
        </p:txBody>
      </p:sp>
      <p:sp>
        <p:nvSpPr>
          <p:cNvPr id="7" name="Slide Number Placeholder 6"/>
          <p:cNvSpPr>
            <a:spLocks noGrp="1"/>
          </p:cNvSpPr>
          <p:nvPr>
            <p:ph type="sldNum" sz="quarter" idx="12"/>
          </p:nvPr>
        </p:nvSpPr>
        <p:spPr/>
        <p:txBody>
          <a:bodyPr/>
          <a:lstStyle/>
          <a:p>
            <a:pPr>
              <a:defRPr/>
            </a:pPr>
            <a:fld id="{1EFD98CC-8E8C-4376-A4D4-A0F15EB79D52}" type="slidenum">
              <a:rPr lang="en-US" smtClean="0"/>
              <a:pPr>
                <a:defRPr/>
              </a:pPr>
              <a:t>1</a:t>
            </a:fld>
            <a:endParaRPr lang="en-US"/>
          </a:p>
        </p:txBody>
      </p:sp>
      <p:sp>
        <p:nvSpPr>
          <p:cNvPr id="1029" name="Rectangle 2"/>
          <p:cNvSpPr>
            <a:spLocks noChangeArrowheads="1"/>
          </p:cNvSpPr>
          <p:nvPr/>
        </p:nvSpPr>
        <p:spPr bwMode="auto">
          <a:xfrm>
            <a:off x="0" y="0"/>
            <a:ext cx="184150" cy="369888"/>
          </a:xfrm>
          <a:prstGeom prst="rect">
            <a:avLst/>
          </a:prstGeom>
          <a:noFill/>
          <a:ln w="9525">
            <a:noFill/>
            <a:miter lim="800000"/>
            <a:headEnd/>
            <a:tailEnd/>
          </a:ln>
        </p:spPr>
        <p:txBody>
          <a:bodyPr wrap="none" anchor="ctr">
            <a:spAutoFit/>
          </a:bodyPr>
          <a:lstStyle/>
          <a:p>
            <a:endParaRPr lang="en-US">
              <a:latin typeface="Rockwell" pitchFamily="18" charset="0"/>
            </a:endParaRPr>
          </a:p>
        </p:txBody>
      </p:sp>
      <p:graphicFrame>
        <p:nvGraphicFramePr>
          <p:cNvPr id="67585" name="Object 1"/>
          <p:cNvGraphicFramePr>
            <a:graphicFrameLocks noChangeAspect="1"/>
          </p:cNvGraphicFramePr>
          <p:nvPr>
            <p:extLst>
              <p:ext uri="{D42A27DB-BD31-4B8C-83A1-F6EECF244321}">
                <p14:modId xmlns:p14="http://schemas.microsoft.com/office/powerpoint/2010/main" val="2017553551"/>
              </p:ext>
            </p:extLst>
          </p:nvPr>
        </p:nvGraphicFramePr>
        <p:xfrm>
          <a:off x="79375" y="1752600"/>
          <a:ext cx="3348038" cy="2362200"/>
        </p:xfrm>
        <a:graphic>
          <a:graphicData uri="http://schemas.openxmlformats.org/presentationml/2006/ole">
            <mc:AlternateContent xmlns:mc="http://schemas.openxmlformats.org/markup-compatibility/2006">
              <mc:Choice xmlns:v="urn:schemas-microsoft-com:vml" Requires="v">
                <p:oleObj spid="_x0000_s1092" name="Bitmap Image" r:id="rId4" imgW="3086531" imgH="3134162" progId="Paint.Picture">
                  <p:embed/>
                </p:oleObj>
              </mc:Choice>
              <mc:Fallback>
                <p:oleObj name="Bitmap Image" r:id="rId4" imgW="3086531" imgH="3134162"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75" y="1752600"/>
                        <a:ext cx="3348038" cy="2362200"/>
                      </a:xfrm>
                      <a:prstGeom prst="rect">
                        <a:avLst/>
                      </a:prstGeom>
                      <a:blipFill>
                        <a:blip r:embed="rId6"/>
                        <a:tile tx="0" ty="0" sx="100000" sy="100000" flip="none" algn="tl"/>
                      </a:blipFill>
                      <a:extLst/>
                    </p:spPr>
                  </p:pic>
                </p:oleObj>
              </mc:Fallback>
            </mc:AlternateContent>
          </a:graphicData>
        </a:graphic>
      </p:graphicFrame>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7585"/>
                                        </p:tgtEl>
                                        <p:attrNameLst>
                                          <p:attrName>style.visibility</p:attrName>
                                        </p:attrNameLst>
                                      </p:cBhvr>
                                      <p:to>
                                        <p:strVal val="visible"/>
                                      </p:to>
                                    </p:set>
                                    <p:animEffect transition="in" filter="checkerboard(across)">
                                      <p:cBhvr>
                                        <p:cTn id="7" dur="500"/>
                                        <p:tgtEl>
                                          <p:spTgt spid="6758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checkerboard(across)">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checkerboard(across)">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686800" cy="838200"/>
          </a:xfrm>
        </p:spPr>
        <p:txBody>
          <a:bodyPr/>
          <a:lstStyle/>
          <a:p>
            <a:r>
              <a:rPr lang="en-GB" dirty="0"/>
              <a:t>Philosophy  of university education</a:t>
            </a:r>
            <a:endParaRPr lang="en-US" dirty="0"/>
          </a:p>
        </p:txBody>
      </p:sp>
      <p:sp>
        <p:nvSpPr>
          <p:cNvPr id="3" name="Content Placeholder 2"/>
          <p:cNvSpPr>
            <a:spLocks noGrp="1"/>
          </p:cNvSpPr>
          <p:nvPr>
            <p:ph idx="1"/>
          </p:nvPr>
        </p:nvSpPr>
        <p:spPr>
          <a:xfrm>
            <a:off x="228600" y="990600"/>
            <a:ext cx="8183880" cy="5044440"/>
          </a:xfrm>
        </p:spPr>
        <p:txBody>
          <a:bodyPr>
            <a:normAutofit lnSpcReduction="10000"/>
          </a:bodyPr>
          <a:lstStyle/>
          <a:p>
            <a:pPr marL="0" indent="0">
              <a:buNone/>
            </a:pPr>
            <a:r>
              <a:rPr lang="en-US" sz="4800" i="1" dirty="0">
                <a:solidFill>
                  <a:srgbClr val="0F1419"/>
                </a:solidFill>
                <a:latin typeface="TwitterChirp"/>
              </a:rPr>
              <a:t>“Students should be made to think, to doubt, to communicate, to question, to learn from their mistakes, and most importantly have fun in their learning’’-Prof Feynman (2021).</a:t>
            </a:r>
            <a:endParaRPr lang="en-GB" sz="4800" i="1" dirty="0"/>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a:t>
            </a:fld>
            <a:endParaRPr lang="en-US"/>
          </a:p>
        </p:txBody>
      </p:sp>
    </p:spTree>
    <p:extLst>
      <p:ext uri="{BB962C8B-B14F-4D97-AF65-F5344CB8AC3E}">
        <p14:creationId xmlns:p14="http://schemas.microsoft.com/office/powerpoint/2010/main" val="2311457353"/>
      </p:ext>
    </p:extLst>
  </p:cSld>
  <p:clrMapOvr>
    <a:masterClrMapping/>
  </p:clrMapOvr>
  <p:transition>
    <p:wheel spokes="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686800" cy="838200"/>
          </a:xfrm>
        </p:spPr>
        <p:txBody>
          <a:bodyPr/>
          <a:lstStyle/>
          <a:p>
            <a:r>
              <a:rPr lang="en-GB" dirty="0"/>
              <a:t>Philosophy  of university education</a:t>
            </a:r>
            <a:endParaRPr lang="en-US" dirty="0"/>
          </a:p>
        </p:txBody>
      </p:sp>
      <p:sp>
        <p:nvSpPr>
          <p:cNvPr id="3" name="Content Placeholder 2"/>
          <p:cNvSpPr>
            <a:spLocks noGrp="1"/>
          </p:cNvSpPr>
          <p:nvPr>
            <p:ph idx="1"/>
          </p:nvPr>
        </p:nvSpPr>
        <p:spPr>
          <a:xfrm>
            <a:off x="381000" y="1066800"/>
            <a:ext cx="8539662" cy="4968240"/>
          </a:xfrm>
        </p:spPr>
        <p:txBody>
          <a:bodyPr>
            <a:noAutofit/>
          </a:bodyPr>
          <a:lstStyle/>
          <a:p>
            <a:pPr>
              <a:buFont typeface="Wingdings" panose="05000000000000000000" pitchFamily="2" charset="2"/>
              <a:buChar char="ü"/>
            </a:pPr>
            <a:r>
              <a:rPr lang="en-US" sz="2800" dirty="0">
                <a:solidFill>
                  <a:srgbClr val="0F1419"/>
                </a:solidFill>
                <a:latin typeface="TwitterChirp"/>
              </a:rPr>
              <a:t>Study hard </a:t>
            </a:r>
          </a:p>
          <a:p>
            <a:pPr>
              <a:buFont typeface="Wingdings" panose="05000000000000000000" pitchFamily="2" charset="2"/>
              <a:buChar char="ü"/>
            </a:pPr>
            <a:r>
              <a:rPr lang="en-US" sz="2800" dirty="0">
                <a:solidFill>
                  <a:srgbClr val="0F1419"/>
                </a:solidFill>
                <a:latin typeface="TwitterChirp"/>
              </a:rPr>
              <a:t> What others think of you is none of your business. </a:t>
            </a:r>
          </a:p>
          <a:p>
            <a:pPr>
              <a:buFont typeface="Wingdings" panose="05000000000000000000" pitchFamily="2" charset="2"/>
              <a:buChar char="ü"/>
            </a:pPr>
            <a:r>
              <a:rPr lang="en-US" sz="2800" dirty="0">
                <a:solidFill>
                  <a:srgbClr val="0F1419"/>
                </a:solidFill>
                <a:latin typeface="TwitterChirp"/>
              </a:rPr>
              <a:t>t's OK not to have all the answers. </a:t>
            </a:r>
          </a:p>
          <a:p>
            <a:pPr>
              <a:buFont typeface="Wingdings" panose="05000000000000000000" pitchFamily="2" charset="2"/>
              <a:buChar char="ü"/>
            </a:pPr>
            <a:r>
              <a:rPr lang="en-US" sz="2800" dirty="0">
                <a:solidFill>
                  <a:srgbClr val="0F1419"/>
                </a:solidFill>
                <a:latin typeface="TwitterChirp"/>
              </a:rPr>
              <a:t>Experiment, Fail, Learn and Repeat. </a:t>
            </a:r>
          </a:p>
          <a:p>
            <a:pPr>
              <a:buFont typeface="Wingdings" panose="05000000000000000000" pitchFamily="2" charset="2"/>
              <a:buChar char="ü"/>
            </a:pPr>
            <a:r>
              <a:rPr lang="en-US" sz="2800" dirty="0">
                <a:solidFill>
                  <a:srgbClr val="0F1419"/>
                </a:solidFill>
                <a:latin typeface="TwitterChirp"/>
              </a:rPr>
              <a:t> Knowledge comes from experience. </a:t>
            </a:r>
          </a:p>
          <a:p>
            <a:pPr>
              <a:buFont typeface="Wingdings" panose="05000000000000000000" pitchFamily="2" charset="2"/>
              <a:buChar char="ü"/>
            </a:pPr>
            <a:r>
              <a:rPr lang="en-US" sz="2800" dirty="0">
                <a:solidFill>
                  <a:srgbClr val="0F1419"/>
                </a:solidFill>
                <a:latin typeface="TwitterChirp"/>
              </a:rPr>
              <a:t>Imagination is important. </a:t>
            </a:r>
          </a:p>
          <a:p>
            <a:pPr>
              <a:buFont typeface="Wingdings" panose="05000000000000000000" pitchFamily="2" charset="2"/>
              <a:buChar char="ü"/>
            </a:pPr>
            <a:r>
              <a:rPr lang="en-US" sz="2800" dirty="0">
                <a:solidFill>
                  <a:srgbClr val="0F1419"/>
                </a:solidFill>
                <a:latin typeface="TwitterChirp"/>
              </a:rPr>
              <a:t>Do what interests you the most. </a:t>
            </a:r>
          </a:p>
          <a:p>
            <a:pPr>
              <a:buFont typeface="Wingdings" panose="05000000000000000000" pitchFamily="2" charset="2"/>
              <a:buChar char="ü"/>
            </a:pPr>
            <a:r>
              <a:rPr lang="en-US" sz="2800" dirty="0">
                <a:solidFill>
                  <a:srgbClr val="0F1419"/>
                </a:solidFill>
                <a:latin typeface="TwitterChirp"/>
              </a:rPr>
              <a:t>Stay curious.</a:t>
            </a:r>
          </a:p>
          <a:p>
            <a:pPr marL="0" indent="0">
              <a:buNone/>
            </a:pPr>
            <a:r>
              <a:rPr lang="en-US" sz="2800" dirty="0">
                <a:solidFill>
                  <a:srgbClr val="0F1419"/>
                </a:solidFill>
                <a:latin typeface="TwitterChirp"/>
              </a:rPr>
              <a:t>Feynman (2021)</a:t>
            </a:r>
            <a:endParaRPr lang="en-GB" sz="28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a:t>
            </a:fld>
            <a:endParaRPr lang="en-US"/>
          </a:p>
        </p:txBody>
      </p:sp>
    </p:spTree>
    <p:extLst>
      <p:ext uri="{BB962C8B-B14F-4D97-AF65-F5344CB8AC3E}">
        <p14:creationId xmlns:p14="http://schemas.microsoft.com/office/powerpoint/2010/main" val="443701624"/>
      </p:ext>
    </p:extLst>
  </p:cSld>
  <p:clrMapOvr>
    <a:masterClrMapping/>
  </p:clrMapOvr>
  <p:transition>
    <p:wheel spokes="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81000"/>
            <a:ext cx="7680960" cy="1066800"/>
          </a:xfrm>
        </p:spPr>
        <p:txBody>
          <a:bodyPr/>
          <a:lstStyle/>
          <a:p>
            <a:r>
              <a:rPr lang="en-GB" dirty="0"/>
              <a:t>Resources</a:t>
            </a:r>
            <a:endParaRPr lang="en-US" dirty="0"/>
          </a:p>
        </p:txBody>
      </p:sp>
      <p:sp>
        <p:nvSpPr>
          <p:cNvPr id="3" name="Content Placeholder 2"/>
          <p:cNvSpPr>
            <a:spLocks noGrp="1"/>
          </p:cNvSpPr>
          <p:nvPr>
            <p:ph idx="1"/>
          </p:nvPr>
        </p:nvSpPr>
        <p:spPr>
          <a:xfrm>
            <a:off x="228600" y="1447800"/>
            <a:ext cx="8692062" cy="4587240"/>
          </a:xfrm>
        </p:spPr>
        <p:txBody>
          <a:bodyPr>
            <a:normAutofit fontScale="92500" lnSpcReduction="10000"/>
          </a:bodyPr>
          <a:lstStyle/>
          <a:p>
            <a:pPr marL="1143000" indent="-1143000">
              <a:buFont typeface="+mj-lt"/>
              <a:buAutoNum type="arabicPeriod"/>
            </a:pPr>
            <a:r>
              <a:rPr lang="en-GB" sz="6600" dirty="0"/>
              <a:t>Course Outline</a:t>
            </a:r>
          </a:p>
          <a:p>
            <a:pPr marL="1143000" indent="-1143000">
              <a:buFont typeface="+mj-lt"/>
              <a:buAutoNum type="arabicPeriod"/>
            </a:pPr>
            <a:r>
              <a:rPr lang="en-GB" sz="6600" dirty="0"/>
              <a:t>Resource Book</a:t>
            </a:r>
          </a:p>
          <a:p>
            <a:pPr marL="1143000" indent="-1143000">
              <a:buFont typeface="+mj-lt"/>
              <a:buAutoNum type="arabicPeriod"/>
            </a:pPr>
            <a:r>
              <a:rPr lang="en-GB" sz="6600" dirty="0"/>
              <a:t>Slide presentations</a:t>
            </a:r>
          </a:p>
          <a:p>
            <a:pPr marL="925680" lvl="5" indent="0">
              <a:buNone/>
            </a:pPr>
            <a:r>
              <a:rPr lang="en-GB" sz="6000" i="1" dirty="0"/>
              <a:t>All provided via </a:t>
            </a:r>
            <a:r>
              <a:rPr lang="en-GB" sz="6000" i="1" dirty="0" err="1"/>
              <a:t>WHatsApp</a:t>
            </a:r>
            <a:r>
              <a:rPr lang="en-GB" sz="6000" i="1" dirty="0"/>
              <a:t> Platform.</a:t>
            </a:r>
            <a:endParaRPr lang="en-GB" sz="60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a:t>
            </a:fld>
            <a:endParaRPr lang="en-US"/>
          </a:p>
        </p:txBody>
      </p:sp>
    </p:spTree>
    <p:extLst>
      <p:ext uri="{BB962C8B-B14F-4D97-AF65-F5344CB8AC3E}">
        <p14:creationId xmlns:p14="http://schemas.microsoft.com/office/powerpoint/2010/main" val="1977105225"/>
      </p:ext>
    </p:extLst>
  </p:cSld>
  <p:clrMapOvr>
    <a:masterClrMapping/>
  </p:clrMapOvr>
  <p:transition>
    <p:wheel spokes="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7CD692-2F77-40A2-B51E-616D80D1808E}"/>
              </a:ext>
            </a:extLst>
          </p:cNvPr>
          <p:cNvSpPr>
            <a:spLocks noGrp="1"/>
          </p:cNvSpPr>
          <p:nvPr>
            <p:ph type="title"/>
          </p:nvPr>
        </p:nvSpPr>
        <p:spPr>
          <a:xfrm>
            <a:off x="933450" y="283914"/>
            <a:ext cx="7200900" cy="685800"/>
          </a:xfrm>
        </p:spPr>
        <p:txBody>
          <a:bodyPr>
            <a:normAutofit/>
          </a:bodyPr>
          <a:lstStyle/>
          <a:p>
            <a:r>
              <a:rPr lang="en-GB" dirty="0"/>
              <a:t>Topics</a:t>
            </a:r>
          </a:p>
        </p:txBody>
      </p:sp>
      <p:sp>
        <p:nvSpPr>
          <p:cNvPr id="3" name="Content Placeholder 2">
            <a:extLst>
              <a:ext uri="{FF2B5EF4-FFF2-40B4-BE49-F238E27FC236}">
                <a16:creationId xmlns:a16="http://schemas.microsoft.com/office/drawing/2014/main" xmlns="" id="{7B20501B-A855-4568-A3BA-54F5D54C4A27}"/>
              </a:ext>
            </a:extLst>
          </p:cNvPr>
          <p:cNvSpPr>
            <a:spLocks noGrp="1"/>
          </p:cNvSpPr>
          <p:nvPr>
            <p:ph idx="1"/>
          </p:nvPr>
        </p:nvSpPr>
        <p:spPr>
          <a:xfrm>
            <a:off x="304800" y="762000"/>
            <a:ext cx="8458200" cy="5029200"/>
          </a:xfrm>
        </p:spPr>
        <p:txBody>
          <a:bodyPr>
            <a:noAutofit/>
          </a:bodyPr>
          <a:lstStyle/>
          <a:p>
            <a:pPr marL="742950" indent="-742950">
              <a:buFont typeface="+mj-lt"/>
              <a:buAutoNum type="arabicPeriod"/>
            </a:pPr>
            <a:r>
              <a:rPr lang="en-GB" sz="3600" dirty="0"/>
              <a:t>Introductory concepts</a:t>
            </a:r>
          </a:p>
          <a:p>
            <a:pPr marL="742950" indent="-742950">
              <a:buFont typeface="+mj-lt"/>
              <a:buAutoNum type="arabicPeriod"/>
            </a:pPr>
            <a:r>
              <a:rPr lang="en-GB" sz="3600" dirty="0"/>
              <a:t>Demand (Price) Theory</a:t>
            </a:r>
          </a:p>
          <a:p>
            <a:pPr marL="742950" indent="-742950">
              <a:buFont typeface="+mj-lt"/>
              <a:buAutoNum type="arabicPeriod"/>
            </a:pPr>
            <a:r>
              <a:rPr lang="en-GB" sz="3600" dirty="0"/>
              <a:t>Theory of the Firm</a:t>
            </a:r>
          </a:p>
          <a:p>
            <a:pPr marL="742950" indent="-742950">
              <a:buFont typeface="+mj-lt"/>
              <a:buAutoNum type="arabicPeriod"/>
            </a:pPr>
            <a:r>
              <a:rPr lang="en-GB" sz="3600" dirty="0"/>
              <a:t>Consumer Theory</a:t>
            </a:r>
          </a:p>
          <a:p>
            <a:pPr marL="742950" indent="-742950">
              <a:buFont typeface="+mj-lt"/>
              <a:buAutoNum type="arabicPeriod"/>
            </a:pPr>
            <a:r>
              <a:rPr lang="en-GB" sz="3600" dirty="0"/>
              <a:t>Market Structures</a:t>
            </a:r>
          </a:p>
          <a:p>
            <a:pPr marL="742950" indent="-742950">
              <a:buFont typeface="+mj-lt"/>
              <a:buAutoNum type="arabicPeriod"/>
            </a:pPr>
            <a:r>
              <a:rPr lang="en-GB" sz="3600" dirty="0"/>
              <a:t>Inflation &amp; Unemployment</a:t>
            </a:r>
          </a:p>
          <a:p>
            <a:pPr marL="742950" indent="-742950">
              <a:buFont typeface="+mj-lt"/>
              <a:buAutoNum type="arabicPeriod"/>
            </a:pPr>
            <a:r>
              <a:rPr lang="en-GB" sz="3600" dirty="0"/>
              <a:t>National Income Accounting</a:t>
            </a:r>
          </a:p>
          <a:p>
            <a:pPr marL="742950" indent="-742950">
              <a:buFont typeface="+mj-lt"/>
              <a:buAutoNum type="arabicPeriod"/>
            </a:pPr>
            <a:r>
              <a:rPr lang="en-GB" sz="3600" dirty="0"/>
              <a:t>Monetary &amp; Fiscal Policy</a:t>
            </a:r>
          </a:p>
        </p:txBody>
      </p:sp>
      <p:sp>
        <p:nvSpPr>
          <p:cNvPr id="4" name="Footer Placeholder 3">
            <a:extLst>
              <a:ext uri="{FF2B5EF4-FFF2-40B4-BE49-F238E27FC236}">
                <a16:creationId xmlns:a16="http://schemas.microsoft.com/office/drawing/2014/main" xmlns="" id="{609F7546-DC7F-4423-B035-4D130A649CAD}"/>
              </a:ext>
            </a:extLst>
          </p:cNvPr>
          <p:cNvSpPr>
            <a:spLocks noGrp="1"/>
          </p:cNvSpPr>
          <p:nvPr>
            <p:ph type="ftr" sz="quarter" idx="11"/>
          </p:nvPr>
        </p:nvSpPr>
        <p:spPr/>
        <p:txBody>
          <a:bodyPr/>
          <a:lstStyle/>
          <a:p>
            <a:pPr>
              <a:defRPr/>
            </a:pPr>
            <a:r>
              <a:rPr lang="en-US" dirty="0"/>
              <a:t>Oyugi Nyanjong'</a:t>
            </a:r>
          </a:p>
        </p:txBody>
      </p:sp>
      <p:sp>
        <p:nvSpPr>
          <p:cNvPr id="5" name="Slide Number Placeholder 4">
            <a:extLst>
              <a:ext uri="{FF2B5EF4-FFF2-40B4-BE49-F238E27FC236}">
                <a16:creationId xmlns:a16="http://schemas.microsoft.com/office/drawing/2014/main" xmlns="" id="{6C7C9CEC-E77B-4842-915A-AB04FD4B9131}"/>
              </a:ext>
            </a:extLst>
          </p:cNvPr>
          <p:cNvSpPr>
            <a:spLocks noGrp="1"/>
          </p:cNvSpPr>
          <p:nvPr>
            <p:ph type="sldNum" sz="quarter" idx="12"/>
          </p:nvPr>
        </p:nvSpPr>
        <p:spPr/>
        <p:txBody>
          <a:bodyPr/>
          <a:lstStyle/>
          <a:p>
            <a:pPr>
              <a:defRPr/>
            </a:pPr>
            <a:fld id="{BE36189F-8EA4-4393-831F-E9BB08DDB1F4}" type="slidenum">
              <a:rPr lang="en-US" smtClean="0"/>
              <a:pPr>
                <a:defRPr/>
              </a:pPr>
              <a:t>5</a:t>
            </a:fld>
            <a:endParaRPr lang="en-US"/>
          </a:p>
        </p:txBody>
      </p:sp>
    </p:spTree>
    <p:extLst>
      <p:ext uri="{BB962C8B-B14F-4D97-AF65-F5344CB8AC3E}">
        <p14:creationId xmlns:p14="http://schemas.microsoft.com/office/powerpoint/2010/main" val="3998263851"/>
      </p:ext>
    </p:extLst>
  </p:cSld>
  <p:clrMapOvr>
    <a:masterClrMapping/>
  </p:clrMapOvr>
  <p:transition>
    <p:wheel spokes="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228600"/>
            <a:ext cx="7200900" cy="914400"/>
          </a:xfrm>
        </p:spPr>
        <p:txBody>
          <a:bodyPr>
            <a:normAutofit/>
          </a:bodyPr>
          <a:lstStyle/>
          <a:p>
            <a:r>
              <a:rPr lang="en-US" dirty="0" smtClean="0">
                <a:solidFill>
                  <a:srgbClr val="002060"/>
                </a:solidFill>
              </a:rPr>
              <a:t>ECONOMICS </a:t>
            </a:r>
            <a:r>
              <a:rPr lang="en-US" sz="2700" i="1" dirty="0" smtClean="0">
                <a:solidFill>
                  <a:srgbClr val="002060"/>
                </a:solidFill>
              </a:rPr>
              <a:t>etymological root</a:t>
            </a:r>
            <a:endParaRPr lang="en-US" sz="2700" i="1" dirty="0">
              <a:solidFill>
                <a:srgbClr val="002060"/>
              </a:solidFill>
            </a:endParaRPr>
          </a:p>
        </p:txBody>
      </p:sp>
      <p:sp>
        <p:nvSpPr>
          <p:cNvPr id="3" name="Content Placeholder 2"/>
          <p:cNvSpPr>
            <a:spLocks noGrp="1"/>
          </p:cNvSpPr>
          <p:nvPr>
            <p:ph idx="1"/>
          </p:nvPr>
        </p:nvSpPr>
        <p:spPr>
          <a:xfrm>
            <a:off x="762000" y="1143000"/>
            <a:ext cx="7848600" cy="5029200"/>
          </a:xfrm>
        </p:spPr>
        <p:txBody>
          <a:bodyPr>
            <a:normAutofit fontScale="92500" lnSpcReduction="20000"/>
          </a:bodyPr>
          <a:lstStyle/>
          <a:p>
            <a:pPr marR="0">
              <a:lnSpc>
                <a:spcPct val="90000"/>
              </a:lnSpc>
              <a:buFont typeface="Arial" charset="0"/>
              <a:buChar char="•"/>
            </a:pPr>
            <a:r>
              <a:rPr lang="en-US" sz="6600" dirty="0">
                <a:solidFill>
                  <a:schemeClr val="tx1"/>
                </a:solidFill>
              </a:rPr>
              <a:t>Origin - comes from the </a:t>
            </a:r>
            <a:r>
              <a:rPr lang="en-US" sz="6600" dirty="0" err="1">
                <a:solidFill>
                  <a:schemeClr val="tx1"/>
                </a:solidFill>
              </a:rPr>
              <a:t>greek</a:t>
            </a:r>
            <a:r>
              <a:rPr lang="en-US" sz="6600" dirty="0">
                <a:solidFill>
                  <a:schemeClr val="tx1"/>
                </a:solidFill>
              </a:rPr>
              <a:t> word </a:t>
            </a:r>
            <a:r>
              <a:rPr lang="en-US" sz="6600" i="1" dirty="0" err="1" smtClean="0">
                <a:solidFill>
                  <a:srgbClr val="002060"/>
                </a:solidFill>
              </a:rPr>
              <a:t>oikonomia</a:t>
            </a:r>
            <a:r>
              <a:rPr lang="en-US" sz="6600" dirty="0" smtClean="0">
                <a:solidFill>
                  <a:schemeClr val="tx1"/>
                </a:solidFill>
              </a:rPr>
              <a:t>, coined by Xenophon– </a:t>
            </a:r>
            <a:r>
              <a:rPr lang="en-US" sz="6600" dirty="0">
                <a:solidFill>
                  <a:schemeClr val="tx1"/>
                </a:solidFill>
              </a:rPr>
              <a:t>literally, “the management of the household”.</a:t>
            </a:r>
          </a:p>
          <a:p>
            <a:pPr marR="0">
              <a:lnSpc>
                <a:spcPct val="90000"/>
              </a:lnSpc>
            </a:pPr>
            <a:endParaRPr lang="en-US" sz="3600" dirty="0"/>
          </a:p>
          <a:p>
            <a:endParaRPr lang="en-US" sz="36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a:t>
            </a:fld>
            <a:endParaRPr lang="en-US"/>
          </a:p>
        </p:txBody>
      </p:sp>
    </p:spTree>
    <p:extLst>
      <p:ext uri="{BB962C8B-B14F-4D97-AF65-F5344CB8AC3E}">
        <p14:creationId xmlns:p14="http://schemas.microsoft.com/office/powerpoint/2010/main" val="1655398125"/>
      </p:ext>
    </p:extLst>
  </p:cSld>
  <p:clrMapOvr>
    <a:masterClrMapping/>
  </p:clrMapOvr>
  <p:transition>
    <p:wheel spokes="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458200" cy="1395214"/>
          </a:xfrm>
        </p:spPr>
        <p:txBody>
          <a:bodyPr/>
          <a:lstStyle/>
          <a:p>
            <a:r>
              <a:rPr lang="en-US" dirty="0"/>
              <a:t>Definitions of economics: </a:t>
            </a:r>
            <a:r>
              <a:rPr lang="en-US" sz="1800" i="1" dirty="0" smtClean="0"/>
              <a:t>Robbins, 1932</a:t>
            </a:r>
            <a:endParaRPr lang="en-US" sz="2400" i="1" dirty="0"/>
          </a:p>
        </p:txBody>
      </p:sp>
      <p:sp>
        <p:nvSpPr>
          <p:cNvPr id="3" name="Content Placeholder 2"/>
          <p:cNvSpPr>
            <a:spLocks noGrp="1"/>
          </p:cNvSpPr>
          <p:nvPr>
            <p:ph idx="1"/>
          </p:nvPr>
        </p:nvSpPr>
        <p:spPr>
          <a:xfrm>
            <a:off x="152400" y="1295400"/>
            <a:ext cx="8991600" cy="5029200"/>
          </a:xfrm>
        </p:spPr>
        <p:txBody>
          <a:bodyPr>
            <a:noAutofit/>
          </a:bodyPr>
          <a:lstStyle/>
          <a:p>
            <a:pPr marL="0" indent="0">
              <a:buNone/>
            </a:pPr>
            <a:r>
              <a:rPr lang="en-US" sz="5400" dirty="0" smtClean="0">
                <a:solidFill>
                  <a:schemeClr val="tx1"/>
                </a:solidFill>
              </a:rPr>
              <a:t>Economics </a:t>
            </a:r>
            <a:r>
              <a:rPr lang="en-US" sz="5400" dirty="0">
                <a:solidFill>
                  <a:schemeClr val="tx1"/>
                </a:solidFill>
              </a:rPr>
              <a:t>is a </a:t>
            </a:r>
            <a:r>
              <a:rPr lang="en-US" sz="5400" dirty="0">
                <a:solidFill>
                  <a:srgbClr val="FF0000"/>
                </a:solidFill>
              </a:rPr>
              <a:t>science</a:t>
            </a:r>
            <a:r>
              <a:rPr lang="en-US" sz="5400" dirty="0">
                <a:solidFill>
                  <a:schemeClr val="tx1"/>
                </a:solidFill>
              </a:rPr>
              <a:t> that studies </a:t>
            </a:r>
            <a:r>
              <a:rPr lang="en-US" sz="5400" dirty="0">
                <a:solidFill>
                  <a:srgbClr val="FF0000"/>
                </a:solidFill>
              </a:rPr>
              <a:t>human behavior</a:t>
            </a:r>
            <a:r>
              <a:rPr lang="en-US" sz="5400" dirty="0">
                <a:solidFill>
                  <a:schemeClr val="tx1"/>
                </a:solidFill>
              </a:rPr>
              <a:t> as a relationship between </a:t>
            </a:r>
            <a:r>
              <a:rPr lang="en-US" sz="5400" dirty="0">
                <a:solidFill>
                  <a:srgbClr val="FF0000"/>
                </a:solidFill>
              </a:rPr>
              <a:t>ends</a:t>
            </a:r>
            <a:r>
              <a:rPr lang="en-US" sz="5400" dirty="0">
                <a:solidFill>
                  <a:schemeClr val="tx1"/>
                </a:solidFill>
              </a:rPr>
              <a:t> and </a:t>
            </a:r>
            <a:r>
              <a:rPr lang="en-US" sz="5400" dirty="0">
                <a:solidFill>
                  <a:srgbClr val="FF0000"/>
                </a:solidFill>
              </a:rPr>
              <a:t>scarce means </a:t>
            </a:r>
            <a:r>
              <a:rPr lang="en-US" sz="5400" dirty="0">
                <a:solidFill>
                  <a:schemeClr val="tx1"/>
                </a:solidFill>
              </a:rPr>
              <a:t>which have </a:t>
            </a:r>
            <a:r>
              <a:rPr lang="en-US" sz="5400" dirty="0">
                <a:solidFill>
                  <a:srgbClr val="FF0000"/>
                </a:solidFill>
              </a:rPr>
              <a:t>alternative </a:t>
            </a:r>
            <a:r>
              <a:rPr lang="en-US" sz="5400" dirty="0" smtClean="0">
                <a:solidFill>
                  <a:srgbClr val="FF0000"/>
                </a:solidFill>
              </a:rPr>
              <a:t>uses.</a:t>
            </a:r>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7</a:t>
            </a:fld>
            <a:endParaRPr lang="en-US"/>
          </a:p>
        </p:txBody>
      </p:sp>
    </p:spTree>
    <p:extLst>
      <p:ext uri="{BB962C8B-B14F-4D97-AF65-F5344CB8AC3E}">
        <p14:creationId xmlns:p14="http://schemas.microsoft.com/office/powerpoint/2010/main" val="1205878812"/>
      </p:ext>
    </p:extLst>
  </p:cSld>
  <p:clrMapOvr>
    <a:masterClrMapping/>
  </p:clrMapOvr>
  <p:transition>
    <p:wheel spokes="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63462" cy="715962"/>
          </a:xfrm>
        </p:spPr>
        <p:txBody>
          <a:bodyPr>
            <a:normAutofit/>
          </a:bodyPr>
          <a:lstStyle/>
          <a:p>
            <a:r>
              <a:rPr lang="en-US" dirty="0" smtClean="0"/>
              <a:t>Definitions of economics: </a:t>
            </a:r>
            <a:r>
              <a:rPr lang="en-US" sz="1800" i="1" dirty="0" err="1"/>
              <a:t>McCornell</a:t>
            </a:r>
            <a:r>
              <a:rPr lang="en-US" sz="1800" i="1" dirty="0"/>
              <a:t>, 2002</a:t>
            </a:r>
          </a:p>
        </p:txBody>
      </p:sp>
      <p:sp>
        <p:nvSpPr>
          <p:cNvPr id="3" name="Content Placeholder 2"/>
          <p:cNvSpPr>
            <a:spLocks noGrp="1"/>
          </p:cNvSpPr>
          <p:nvPr>
            <p:ph idx="1"/>
          </p:nvPr>
        </p:nvSpPr>
        <p:spPr>
          <a:xfrm>
            <a:off x="304800" y="1143000"/>
            <a:ext cx="8839200" cy="5330952"/>
          </a:xfrm>
        </p:spPr>
        <p:txBody>
          <a:bodyPr>
            <a:noAutofit/>
          </a:bodyPr>
          <a:lstStyle/>
          <a:p>
            <a:r>
              <a:rPr lang="en-US" sz="4800" dirty="0" smtClean="0"/>
              <a:t>"</a:t>
            </a:r>
            <a:r>
              <a:rPr lang="en-US" sz="4800" i="1" dirty="0" smtClean="0"/>
              <a:t>the social science concerned with the efficient use of limited or scarce resources to achieve maximum satisfaction of human material wants”-</a:t>
            </a:r>
            <a:endParaRPr lang="en-US" sz="4800"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8</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7"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782" y="350838"/>
            <a:ext cx="8178618" cy="715962"/>
          </a:xfrm>
        </p:spPr>
        <p:txBody>
          <a:bodyPr>
            <a:normAutofit fontScale="90000"/>
          </a:bodyPr>
          <a:lstStyle/>
          <a:p>
            <a:r>
              <a:rPr lang="en-US" dirty="0" smtClean="0"/>
              <a:t>Definition of economics: </a:t>
            </a:r>
            <a:r>
              <a:rPr lang="en-US" sz="2700" i="1" dirty="0" smtClean="0"/>
              <a:t>Marshall (1920)</a:t>
            </a:r>
            <a:endParaRPr lang="en-US" sz="2700" i="1" dirty="0"/>
          </a:p>
        </p:txBody>
      </p:sp>
      <p:sp>
        <p:nvSpPr>
          <p:cNvPr id="3" name="Content Placeholder 2"/>
          <p:cNvSpPr>
            <a:spLocks noGrp="1"/>
          </p:cNvSpPr>
          <p:nvPr>
            <p:ph idx="1"/>
          </p:nvPr>
        </p:nvSpPr>
        <p:spPr>
          <a:xfrm>
            <a:off x="457200" y="1066800"/>
            <a:ext cx="8839200" cy="5407152"/>
          </a:xfrm>
        </p:spPr>
        <p:txBody>
          <a:bodyPr>
            <a:noAutofit/>
          </a:bodyPr>
          <a:lstStyle/>
          <a:p>
            <a:r>
              <a:rPr lang="en-US" sz="4000" i="1" dirty="0" smtClean="0"/>
              <a:t>economics is a study of mankind in the ordinary business of life; it examines that part of individual and social action which is most closely connected with the attainment and with the use of the material requisites of wellbeing.</a:t>
            </a:r>
            <a:endParaRPr lang="en-US" sz="4000"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9</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7"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22" y="381000"/>
            <a:ext cx="8925378" cy="914400"/>
          </a:xfrm>
        </p:spPr>
        <p:txBody>
          <a:bodyPr>
            <a:normAutofit/>
          </a:bodyPr>
          <a:lstStyle/>
          <a:p>
            <a:r>
              <a:rPr lang="en-US" sz="3600" dirty="0"/>
              <a:t>Definition of economics: </a:t>
            </a:r>
            <a:r>
              <a:rPr lang="en-US" sz="2400" i="1" dirty="0" smtClean="0"/>
              <a:t>Bernanke(2019</a:t>
            </a:r>
            <a:r>
              <a:rPr lang="en-US" sz="2700" i="1" dirty="0" smtClean="0"/>
              <a:t>)</a:t>
            </a:r>
            <a:endParaRPr lang="en-US" dirty="0"/>
          </a:p>
        </p:txBody>
      </p:sp>
      <p:sp>
        <p:nvSpPr>
          <p:cNvPr id="3" name="Content Placeholder 2"/>
          <p:cNvSpPr>
            <a:spLocks noGrp="1"/>
          </p:cNvSpPr>
          <p:nvPr>
            <p:ph idx="1"/>
          </p:nvPr>
        </p:nvSpPr>
        <p:spPr>
          <a:xfrm>
            <a:off x="228600" y="1524000"/>
            <a:ext cx="8534400" cy="4511040"/>
          </a:xfrm>
        </p:spPr>
        <p:txBody>
          <a:bodyPr>
            <a:normAutofit/>
          </a:bodyPr>
          <a:lstStyle/>
          <a:p>
            <a:r>
              <a:rPr lang="en-US" sz="4800" dirty="0"/>
              <a:t>Economics is the study of how people make choices under </a:t>
            </a:r>
            <a:r>
              <a:rPr lang="en-US" sz="4800" dirty="0" smtClean="0"/>
              <a:t>conditions of scarcity, </a:t>
            </a:r>
            <a:r>
              <a:rPr lang="en-US" sz="4800" dirty="0"/>
              <a:t>and of the results of those choices for society.</a:t>
            </a:r>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10</a:t>
            </a:fld>
            <a:endParaRPr lang="en-US"/>
          </a:p>
        </p:txBody>
      </p:sp>
    </p:spTree>
    <p:extLst>
      <p:ext uri="{BB962C8B-B14F-4D97-AF65-F5344CB8AC3E}">
        <p14:creationId xmlns:p14="http://schemas.microsoft.com/office/powerpoint/2010/main" val="1145761961"/>
      </p:ext>
    </p:extLst>
  </p:cSld>
  <p:clrMapOvr>
    <a:masterClrMapping/>
  </p:clrMapOvr>
  <p:transition>
    <p:wheel spokes="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1028700" y="228600"/>
            <a:ext cx="7200900" cy="1014214"/>
          </a:xfrm>
        </p:spPr>
        <p:txBody>
          <a:bodyPr/>
          <a:lstStyle/>
          <a:p>
            <a:r>
              <a:rPr lang="en-US" dirty="0" smtClean="0">
                <a:solidFill>
                  <a:srgbClr val="002060"/>
                </a:solidFill>
              </a:rPr>
              <a:t>Economic agents</a:t>
            </a:r>
          </a:p>
        </p:txBody>
      </p:sp>
      <p:sp>
        <p:nvSpPr>
          <p:cNvPr id="3" name="Content Placeholder 2"/>
          <p:cNvSpPr>
            <a:spLocks noGrp="1"/>
          </p:cNvSpPr>
          <p:nvPr>
            <p:ph idx="1"/>
          </p:nvPr>
        </p:nvSpPr>
        <p:spPr>
          <a:xfrm>
            <a:off x="228600" y="1143000"/>
            <a:ext cx="8692062" cy="5105400"/>
          </a:xfrm>
        </p:spPr>
        <p:txBody>
          <a:bodyPr>
            <a:normAutofit fontScale="92500" lnSpcReduction="10000"/>
          </a:bodyPr>
          <a:lstStyle/>
          <a:p>
            <a:pPr marL="274320" indent="-274320" fontAlgn="auto">
              <a:spcAft>
                <a:spcPts val="0"/>
              </a:spcAft>
              <a:buClr>
                <a:schemeClr val="accent3"/>
              </a:buClr>
              <a:buFont typeface="Wingdings 2"/>
              <a:buChar char=""/>
              <a:defRPr/>
            </a:pPr>
            <a:r>
              <a:rPr lang="en-US" sz="3500" dirty="0" smtClean="0"/>
              <a:t>Economics aims to explain how economies work and how </a:t>
            </a:r>
            <a:r>
              <a:rPr lang="en-US" sz="3500" b="1" dirty="0" smtClean="0"/>
              <a:t>economic agents </a:t>
            </a:r>
            <a:r>
              <a:rPr lang="en-US" sz="3500" dirty="0" smtClean="0"/>
              <a:t>interact:</a:t>
            </a:r>
          </a:p>
          <a:p>
            <a:pPr marL="274320" indent="-274320" fontAlgn="auto">
              <a:spcAft>
                <a:spcPts val="0"/>
              </a:spcAft>
              <a:buClr>
                <a:schemeClr val="accent3"/>
              </a:buClr>
              <a:buFont typeface="Wingdings 2"/>
              <a:buChar char=""/>
              <a:defRPr/>
            </a:pPr>
            <a:r>
              <a:rPr lang="en-US" sz="3500" dirty="0" smtClean="0"/>
              <a:t>Economic agents=</a:t>
            </a:r>
            <a:r>
              <a:rPr lang="en-US" sz="3500" b="1" i="1" dirty="0" smtClean="0"/>
              <a:t>Homo </a:t>
            </a:r>
            <a:r>
              <a:rPr lang="en-US" sz="3500" b="1" i="1" dirty="0" err="1" smtClean="0"/>
              <a:t>economicus</a:t>
            </a:r>
            <a:r>
              <a:rPr lang="en-US" sz="3500" i="1" dirty="0" smtClean="0"/>
              <a:t>=“The Rational Man(Person)”</a:t>
            </a:r>
          </a:p>
          <a:p>
            <a:pPr lvl="2" indent="-246888" fontAlgn="auto">
              <a:spcAft>
                <a:spcPts val="0"/>
              </a:spcAft>
              <a:buFont typeface="Wingdings 2"/>
              <a:buChar char=""/>
              <a:defRPr/>
            </a:pPr>
            <a:r>
              <a:rPr lang="en-US" sz="3500" dirty="0" smtClean="0"/>
              <a:t>individuals</a:t>
            </a:r>
          </a:p>
          <a:p>
            <a:pPr lvl="2" indent="-246888" fontAlgn="auto">
              <a:spcAft>
                <a:spcPts val="0"/>
              </a:spcAft>
              <a:buFont typeface="Wingdings 2"/>
              <a:buChar char=""/>
              <a:defRPr/>
            </a:pPr>
            <a:r>
              <a:rPr lang="en-US" sz="3500" dirty="0" smtClean="0"/>
              <a:t> households</a:t>
            </a:r>
          </a:p>
          <a:p>
            <a:pPr lvl="2" indent="-246888" fontAlgn="auto">
              <a:spcAft>
                <a:spcPts val="0"/>
              </a:spcAft>
              <a:buFont typeface="Wingdings 2"/>
              <a:buChar char=""/>
              <a:defRPr/>
            </a:pPr>
            <a:r>
              <a:rPr lang="en-US" sz="3500" dirty="0" smtClean="0"/>
              <a:t>firms.</a:t>
            </a:r>
          </a:p>
          <a:p>
            <a:pPr lvl="2" indent="-246888" fontAlgn="auto">
              <a:spcAft>
                <a:spcPts val="0"/>
              </a:spcAft>
              <a:buFont typeface="Wingdings 2"/>
              <a:buChar char=""/>
              <a:defRPr/>
            </a:pPr>
            <a:r>
              <a:rPr lang="en-US" sz="3500" dirty="0" smtClean="0"/>
              <a:t>government</a:t>
            </a:r>
          </a:p>
          <a:p>
            <a:pPr lvl="2" indent="-246888" fontAlgn="auto">
              <a:spcAft>
                <a:spcPts val="0"/>
              </a:spcAft>
              <a:buFont typeface="Wingdings 2"/>
              <a:buChar char=""/>
              <a:defRPr/>
            </a:pPr>
            <a:r>
              <a:rPr lang="en-US" sz="3500" dirty="0" smtClean="0"/>
              <a:t>international sector (X, M)</a:t>
            </a:r>
          </a:p>
          <a:p>
            <a:pPr lvl="2" indent="-246888" fontAlgn="auto">
              <a:spcAft>
                <a:spcPts val="0"/>
              </a:spcAft>
              <a:buFont typeface="Wingdings 2"/>
              <a:buNone/>
              <a:defRPr/>
            </a:pPr>
            <a:endParaRPr lang="en-US" dirty="0" smtClean="0"/>
          </a:p>
          <a:p>
            <a:pPr lvl="2" indent="-246888" fontAlgn="auto">
              <a:spcAft>
                <a:spcPts val="0"/>
              </a:spcAft>
              <a:buFont typeface="Wingdings 2"/>
              <a:buNone/>
              <a:defRPr/>
            </a:pPr>
            <a:endParaRPr lang="en-US" dirty="0" smtClean="0"/>
          </a:p>
          <a:p>
            <a:pPr marL="274320" indent="-274320" fontAlgn="auto">
              <a:spcAft>
                <a:spcPts val="0"/>
              </a:spcAft>
              <a:buClr>
                <a:schemeClr val="accent3"/>
              </a:buClr>
              <a:buFont typeface="Wingdings 2"/>
              <a:buChar char=""/>
              <a:defRPr/>
            </a:pPr>
            <a:endParaRPr lang="en-US"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11</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down)">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checkerboard(across)">
                                      <p:cBhvr>
                                        <p:cTn id="32" dur="500"/>
                                        <p:tgtEl>
                                          <p:spTgt spid="3">
                                            <p:txEl>
                                              <p:pRg st="2" end="2"/>
                                            </p:txEl>
                                          </p:spTgt>
                                        </p:tgtEl>
                                      </p:cBhvr>
                                    </p:animEffect>
                                  </p:childTnLst>
                                </p:cTn>
                              </p:par>
                              <p:par>
                                <p:cTn id="33" presetID="5" presetClass="entr" presetSubtype="10" fill="hold"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checkerboard(across)">
                                      <p:cBhvr>
                                        <p:cTn id="35" dur="500"/>
                                        <p:tgtEl>
                                          <p:spTgt spid="3">
                                            <p:txEl>
                                              <p:pRg st="3" end="3"/>
                                            </p:txEl>
                                          </p:spTgt>
                                        </p:tgtEl>
                                      </p:cBhvr>
                                    </p:animEffect>
                                  </p:childTnLst>
                                </p:cTn>
                              </p:par>
                              <p:par>
                                <p:cTn id="36" presetID="5" presetClass="entr" presetSubtype="10" fill="hold" nodeType="with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checkerboard(across)">
                                      <p:cBhvr>
                                        <p:cTn id="38" dur="500"/>
                                        <p:tgtEl>
                                          <p:spTgt spid="3">
                                            <p:txEl>
                                              <p:pRg st="4" end="4"/>
                                            </p:txEl>
                                          </p:spTgt>
                                        </p:tgtEl>
                                      </p:cBhvr>
                                    </p:animEffect>
                                  </p:childTnLst>
                                </p:cTn>
                              </p:par>
                              <p:par>
                                <p:cTn id="39" presetID="5" presetClass="entr" presetSubtype="10" fill="hold"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checkerboard(across)">
                                      <p:cBhvr>
                                        <p:cTn id="41" dur="500"/>
                                        <p:tgtEl>
                                          <p:spTgt spid="3">
                                            <p:txEl>
                                              <p:pRg st="5" end="5"/>
                                            </p:txEl>
                                          </p:spTgt>
                                        </p:tgtEl>
                                      </p:cBhvr>
                                    </p:animEffect>
                                  </p:childTnLst>
                                </p:cTn>
                              </p:par>
                              <p:par>
                                <p:cTn id="42" presetID="5" presetClass="entr" presetSubtype="10" fill="hold"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checkerboard(across)">
                                      <p:cBhvr>
                                        <p:cTn id="4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028700" y="76200"/>
            <a:ext cx="7200900" cy="1066800"/>
          </a:xfrm>
        </p:spPr>
        <p:txBody>
          <a:bodyPr>
            <a:normAutofit/>
          </a:bodyPr>
          <a:lstStyle/>
          <a:p>
            <a:r>
              <a:rPr lang="en-US" dirty="0" smtClean="0">
                <a:solidFill>
                  <a:srgbClr val="002060"/>
                </a:solidFill>
              </a:rPr>
              <a:t>Branches of economics</a:t>
            </a:r>
            <a:endParaRPr lang="en-US" dirty="0" smtClean="0">
              <a:solidFill>
                <a:srgbClr val="002060"/>
              </a:solidFill>
            </a:endParaRPr>
          </a:p>
        </p:txBody>
      </p:sp>
      <p:sp>
        <p:nvSpPr>
          <p:cNvPr id="3" name="Content Placeholder 2"/>
          <p:cNvSpPr>
            <a:spLocks noGrp="1"/>
          </p:cNvSpPr>
          <p:nvPr>
            <p:ph idx="1"/>
          </p:nvPr>
        </p:nvSpPr>
        <p:spPr>
          <a:xfrm>
            <a:off x="1028700" y="1371600"/>
            <a:ext cx="7200900" cy="4953000"/>
          </a:xfrm>
        </p:spPr>
        <p:txBody>
          <a:bodyPr>
            <a:normAutofit/>
          </a:bodyPr>
          <a:lstStyle/>
          <a:p>
            <a:r>
              <a:rPr lang="en-US" sz="3200" b="1" dirty="0" smtClean="0"/>
              <a:t>Microeconomics</a:t>
            </a:r>
            <a:r>
              <a:rPr lang="en-US" sz="3200" dirty="0" smtClean="0"/>
              <a:t> examines the economic behaviour between individual economic agents.</a:t>
            </a:r>
          </a:p>
          <a:p>
            <a:r>
              <a:rPr lang="en-US" sz="3200" b="1" dirty="0" smtClean="0"/>
              <a:t>Macroeconomics</a:t>
            </a:r>
            <a:r>
              <a:rPr lang="en-US" sz="3200" dirty="0" smtClean="0"/>
              <a:t> addresses issues of unemployment, inflation, monetary, fiscal policy in the entire economy i.e. is concerned with the </a:t>
            </a:r>
            <a:r>
              <a:rPr lang="en-US" sz="3200" b="1" dirty="0" smtClean="0"/>
              <a:t>aggregate</a:t>
            </a:r>
            <a:r>
              <a:rPr lang="en-US" sz="3200" dirty="0" smtClean="0"/>
              <a:t> of economic agents.</a:t>
            </a:r>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12</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3">
                                            <p:txEl>
                                              <p:pRg st="0" end="0"/>
                                            </p:txEl>
                                          </p:spTgt>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304800"/>
            <a:ext cx="7200900" cy="1143000"/>
          </a:xfrm>
        </p:spPr>
        <p:txBody>
          <a:bodyPr/>
          <a:lstStyle/>
          <a:p>
            <a:r>
              <a:rPr lang="en-US" dirty="0" smtClean="0"/>
              <a:t>History of Economic Thought</a:t>
            </a:r>
            <a:endParaRPr lang="en-US" dirty="0"/>
          </a:p>
        </p:txBody>
      </p:sp>
      <p:sp>
        <p:nvSpPr>
          <p:cNvPr id="3" name="Content Placeholder 2"/>
          <p:cNvSpPr>
            <a:spLocks noGrp="1"/>
          </p:cNvSpPr>
          <p:nvPr>
            <p:ph idx="1"/>
          </p:nvPr>
        </p:nvSpPr>
        <p:spPr>
          <a:xfrm>
            <a:off x="1028700" y="990600"/>
            <a:ext cx="7200900" cy="4876800"/>
          </a:xfrm>
        </p:spPr>
        <p:txBody>
          <a:bodyPr>
            <a:normAutofit/>
          </a:bodyPr>
          <a:lstStyle/>
          <a:p>
            <a:r>
              <a:rPr lang="en-US" sz="6000" dirty="0" smtClean="0"/>
              <a:t>3 eras</a:t>
            </a:r>
          </a:p>
          <a:p>
            <a:pPr lvl="1"/>
            <a:r>
              <a:rPr lang="en-US" sz="6000" dirty="0" smtClean="0"/>
              <a:t>Ancient</a:t>
            </a:r>
          </a:p>
          <a:p>
            <a:pPr lvl="1"/>
            <a:r>
              <a:rPr lang="en-US" sz="6000" dirty="0" smtClean="0"/>
              <a:t>Medieval </a:t>
            </a:r>
          </a:p>
          <a:p>
            <a:pPr lvl="1"/>
            <a:r>
              <a:rPr lang="en-US" sz="6000" dirty="0" smtClean="0"/>
              <a:t>Modern </a:t>
            </a:r>
            <a:endParaRPr lang="en-US" sz="60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13</a:t>
            </a:fld>
            <a:endParaRPr lang="en-US"/>
          </a:p>
        </p:txBody>
      </p:sp>
    </p:spTree>
    <p:extLst>
      <p:ext uri="{BB962C8B-B14F-4D97-AF65-F5344CB8AC3E}">
        <p14:creationId xmlns:p14="http://schemas.microsoft.com/office/powerpoint/2010/main" val="3140469340"/>
      </p:ext>
    </p:extLst>
  </p:cSld>
  <p:clrMapOvr>
    <a:masterClrMapping/>
  </p:clrMapOvr>
  <p:transition>
    <p:wheel spokes="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799" cy="838200"/>
          </a:xfrm>
        </p:spPr>
        <p:txBody>
          <a:bodyPr>
            <a:normAutofit fontScale="90000"/>
          </a:bodyPr>
          <a:lstStyle/>
          <a:p>
            <a:r>
              <a:rPr lang="en-US" dirty="0"/>
              <a:t>History of Economic </a:t>
            </a:r>
            <a:r>
              <a:rPr lang="en-US" dirty="0" smtClean="0"/>
              <a:t>Thought: </a:t>
            </a:r>
            <a:r>
              <a:rPr lang="en-US" sz="2400" i="1" dirty="0" smtClean="0"/>
              <a:t>Ancient era</a:t>
            </a:r>
            <a:endParaRPr lang="en-US" sz="2400" i="1" dirty="0"/>
          </a:p>
        </p:txBody>
      </p:sp>
      <p:sp>
        <p:nvSpPr>
          <p:cNvPr id="3" name="Content Placeholder 2"/>
          <p:cNvSpPr>
            <a:spLocks noGrp="1"/>
          </p:cNvSpPr>
          <p:nvPr>
            <p:ph idx="1"/>
          </p:nvPr>
        </p:nvSpPr>
        <p:spPr>
          <a:xfrm>
            <a:off x="228600" y="914400"/>
            <a:ext cx="8686799" cy="5538986"/>
          </a:xfrm>
        </p:spPr>
        <p:txBody>
          <a:bodyPr>
            <a:normAutofit/>
          </a:bodyPr>
          <a:lstStyle/>
          <a:p>
            <a:r>
              <a:rPr lang="en-US" sz="3600" dirty="0" smtClean="0"/>
              <a:t>Age of Great Philosophers</a:t>
            </a:r>
          </a:p>
          <a:p>
            <a:pPr lvl="1"/>
            <a:r>
              <a:rPr lang="en-US" sz="3600" dirty="0" smtClean="0"/>
              <a:t>Aristotle: </a:t>
            </a:r>
          </a:p>
          <a:p>
            <a:pPr lvl="3"/>
            <a:r>
              <a:rPr lang="en-US" sz="2400" dirty="0" smtClean="0"/>
              <a:t>Perhaps the most </a:t>
            </a:r>
            <a:r>
              <a:rPr lang="en-US" sz="2400" dirty="0"/>
              <a:t>“ancient” </a:t>
            </a:r>
            <a:r>
              <a:rPr lang="en-US" sz="2400" dirty="0" smtClean="0"/>
              <a:t>of economic thinkers.</a:t>
            </a:r>
          </a:p>
          <a:p>
            <a:pPr lvl="1"/>
            <a:r>
              <a:rPr lang="en-US" sz="3600" dirty="0" smtClean="0"/>
              <a:t>Plato.</a:t>
            </a:r>
          </a:p>
          <a:p>
            <a:pPr lvl="1"/>
            <a:r>
              <a:rPr lang="en-US" sz="3600" dirty="0" smtClean="0"/>
              <a:t>Xenophon.</a:t>
            </a:r>
          </a:p>
          <a:p>
            <a:r>
              <a:rPr lang="en-US" sz="3600" dirty="0" smtClean="0"/>
              <a:t>Main idea/question: </a:t>
            </a:r>
            <a:r>
              <a:rPr lang="en-US" sz="3600" dirty="0"/>
              <a:t>whether property is best left in private or public </a:t>
            </a:r>
            <a:r>
              <a:rPr lang="en-US" sz="3600" dirty="0" smtClean="0"/>
              <a:t>hands?</a:t>
            </a:r>
            <a:endParaRPr lang="en-US" sz="36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14</a:t>
            </a:fld>
            <a:endParaRPr lang="en-US"/>
          </a:p>
        </p:txBody>
      </p:sp>
    </p:spTree>
    <p:extLst>
      <p:ext uri="{BB962C8B-B14F-4D97-AF65-F5344CB8AC3E}">
        <p14:creationId xmlns:p14="http://schemas.microsoft.com/office/powerpoint/2010/main" val="2455846540"/>
      </p:ext>
    </p:extLst>
  </p:cSld>
  <p:clrMapOvr>
    <a:masterClrMapping/>
  </p:clrMapOvr>
  <p:transition>
    <p:wheel spokes="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94360"/>
            <a:ext cx="8458200" cy="1005840"/>
          </a:xfrm>
        </p:spPr>
        <p:txBody>
          <a:bodyPr>
            <a:normAutofit/>
          </a:bodyPr>
          <a:lstStyle/>
          <a:p>
            <a:r>
              <a:rPr lang="en-US" sz="3600" dirty="0" smtClean="0"/>
              <a:t>History </a:t>
            </a:r>
            <a:r>
              <a:rPr lang="en-US" sz="3600" dirty="0"/>
              <a:t>of Economic Thought: </a:t>
            </a:r>
            <a:r>
              <a:rPr lang="en-US" sz="2400" i="1" dirty="0" smtClean="0"/>
              <a:t>Medieval</a:t>
            </a:r>
            <a:endParaRPr lang="en-US" i="1" dirty="0"/>
          </a:p>
        </p:txBody>
      </p:sp>
      <p:sp>
        <p:nvSpPr>
          <p:cNvPr id="3" name="Content Placeholder 2"/>
          <p:cNvSpPr>
            <a:spLocks noGrp="1"/>
          </p:cNvSpPr>
          <p:nvPr>
            <p:ph idx="1"/>
          </p:nvPr>
        </p:nvSpPr>
        <p:spPr>
          <a:xfrm>
            <a:off x="731520" y="1600200"/>
            <a:ext cx="7680960" cy="4434840"/>
          </a:xfrm>
        </p:spPr>
        <p:txBody>
          <a:bodyPr>
            <a:normAutofit fontScale="85000" lnSpcReduction="20000"/>
          </a:bodyPr>
          <a:lstStyle/>
          <a:p>
            <a:r>
              <a:rPr lang="en-US" sz="2800" dirty="0" smtClean="0"/>
              <a:t>5</a:t>
            </a:r>
            <a:r>
              <a:rPr lang="en-US" sz="2800" baseline="30000" dirty="0" smtClean="0"/>
              <a:t>th</a:t>
            </a:r>
            <a:r>
              <a:rPr lang="en-US" sz="2800" dirty="0" smtClean="0"/>
              <a:t> to 15</a:t>
            </a:r>
            <a:r>
              <a:rPr lang="en-US" sz="2800" baseline="30000" dirty="0" smtClean="0"/>
              <a:t>th</a:t>
            </a:r>
            <a:r>
              <a:rPr lang="en-US" sz="2800" dirty="0" smtClean="0"/>
              <a:t> century</a:t>
            </a:r>
          </a:p>
          <a:p>
            <a:r>
              <a:rPr lang="en-US" sz="2800" dirty="0" smtClean="0"/>
              <a:t>Renaissance; Age of discovery</a:t>
            </a:r>
          </a:p>
          <a:p>
            <a:r>
              <a:rPr lang="en-US" sz="2800" dirty="0" smtClean="0"/>
              <a:t>Rise in Christianity had an effect on medieval economic thinking</a:t>
            </a:r>
          </a:p>
          <a:p>
            <a:pPr lvl="1"/>
            <a:r>
              <a:rPr lang="en-US" sz="2800" dirty="0" smtClean="0"/>
              <a:t>Implication: Thinking led by priests, who drew inspiration from Canon Law.	</a:t>
            </a:r>
          </a:p>
          <a:p>
            <a:r>
              <a:rPr lang="en-US" sz="2800" dirty="0" smtClean="0"/>
              <a:t>Two main doctrines:</a:t>
            </a:r>
          </a:p>
          <a:p>
            <a:pPr lvl="1"/>
            <a:r>
              <a:rPr lang="en-US" sz="2800" b="1" dirty="0" smtClean="0"/>
              <a:t>Usury</a:t>
            </a:r>
            <a:r>
              <a:rPr lang="en-US" sz="2800" dirty="0" smtClean="0"/>
              <a:t>(lending </a:t>
            </a:r>
            <a:r>
              <a:rPr lang="en-US" sz="2800" dirty="0"/>
              <a:t>money at </a:t>
            </a:r>
            <a:r>
              <a:rPr lang="en-US" sz="2800" u="sng" dirty="0"/>
              <a:t>unreasonably</a:t>
            </a:r>
            <a:r>
              <a:rPr lang="en-US" sz="2800" dirty="0"/>
              <a:t> high </a:t>
            </a:r>
            <a:r>
              <a:rPr lang="en-US" sz="2800" dirty="0" smtClean="0"/>
              <a:t>IR)</a:t>
            </a:r>
          </a:p>
          <a:p>
            <a:pPr lvl="1"/>
            <a:r>
              <a:rPr lang="en-US" sz="2800" b="1" dirty="0" smtClean="0"/>
              <a:t>Just price</a:t>
            </a:r>
            <a:r>
              <a:rPr lang="en-US" sz="2800" dirty="0" smtClean="0"/>
              <a:t>(price </a:t>
            </a:r>
            <a:r>
              <a:rPr lang="en-US" sz="2800" dirty="0"/>
              <a:t>approved by common estimate, determined by a legal </a:t>
            </a:r>
            <a:r>
              <a:rPr lang="en-US" sz="2800" dirty="0" smtClean="0"/>
              <a:t>maxim, </a:t>
            </a:r>
            <a:r>
              <a:rPr lang="en-US" sz="2800" dirty="0"/>
              <a:t>or conforming to some other standard of rightness or </a:t>
            </a:r>
            <a:r>
              <a:rPr lang="en-US" sz="2800" dirty="0" smtClean="0"/>
              <a:t>equity-MW)	</a:t>
            </a:r>
          </a:p>
          <a:p>
            <a:pPr lvl="1"/>
            <a:endParaRPr lang="en-US" i="0" dirty="0" smtClean="0"/>
          </a:p>
          <a:p>
            <a:pPr lvl="1"/>
            <a:endParaRPr lang="en-US" dirty="0" smtClean="0"/>
          </a:p>
          <a:p>
            <a:pPr lvl="1"/>
            <a:endParaRPr lang="en-US"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15</a:t>
            </a:fld>
            <a:endParaRPr lang="en-US"/>
          </a:p>
        </p:txBody>
      </p:sp>
    </p:spTree>
    <p:extLst>
      <p:ext uri="{BB962C8B-B14F-4D97-AF65-F5344CB8AC3E}">
        <p14:creationId xmlns:p14="http://schemas.microsoft.com/office/powerpoint/2010/main" val="1624114532"/>
      </p:ext>
    </p:extLst>
  </p:cSld>
  <p:clrMapOvr>
    <a:masterClrMapping/>
  </p:clrMapOvr>
  <p:transition>
    <p:wheel spokes="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610600" cy="762000"/>
          </a:xfrm>
        </p:spPr>
        <p:txBody>
          <a:bodyPr>
            <a:normAutofit fontScale="90000"/>
          </a:bodyPr>
          <a:lstStyle/>
          <a:p>
            <a:r>
              <a:rPr lang="en-US" dirty="0"/>
              <a:t>History of Economic Thought: </a:t>
            </a:r>
            <a:r>
              <a:rPr lang="en-US" sz="2400" i="1" dirty="0"/>
              <a:t>Medieval</a:t>
            </a:r>
            <a:endParaRPr lang="en-US" dirty="0"/>
          </a:p>
        </p:txBody>
      </p:sp>
      <p:sp>
        <p:nvSpPr>
          <p:cNvPr id="3" name="Content Placeholder 2"/>
          <p:cNvSpPr>
            <a:spLocks noGrp="1"/>
          </p:cNvSpPr>
          <p:nvPr>
            <p:ph idx="1"/>
          </p:nvPr>
        </p:nvSpPr>
        <p:spPr>
          <a:xfrm>
            <a:off x="152400" y="952500"/>
            <a:ext cx="8768262" cy="4838700"/>
          </a:xfrm>
        </p:spPr>
        <p:txBody>
          <a:bodyPr>
            <a:noAutofit/>
          </a:bodyPr>
          <a:lstStyle/>
          <a:p>
            <a:r>
              <a:rPr lang="en-US" sz="4000" dirty="0" smtClean="0"/>
              <a:t>Prominent </a:t>
            </a:r>
            <a:r>
              <a:rPr lang="en-US" sz="4000" dirty="0"/>
              <a:t>economic </a:t>
            </a:r>
            <a:r>
              <a:rPr lang="en-US" sz="4000" dirty="0" smtClean="0"/>
              <a:t>thinkers:</a:t>
            </a:r>
            <a:endParaRPr lang="en-US" sz="4000" dirty="0"/>
          </a:p>
          <a:p>
            <a:pPr lvl="1"/>
            <a:r>
              <a:rPr lang="en-US" sz="4000" dirty="0"/>
              <a:t>Thomas Aquinas: moral obligation of businesses to sell goods at a just price</a:t>
            </a:r>
            <a:r>
              <a:rPr lang="en-US" sz="4000" dirty="0" smtClean="0"/>
              <a:t>.</a:t>
            </a:r>
          </a:p>
          <a:p>
            <a:pPr lvl="5"/>
            <a:r>
              <a:rPr lang="en-US" sz="3200" dirty="0"/>
              <a:t>Basil of </a:t>
            </a:r>
            <a:r>
              <a:rPr lang="en-US" sz="3200" dirty="0" smtClean="0"/>
              <a:t>Caesarea</a:t>
            </a:r>
          </a:p>
          <a:p>
            <a:pPr lvl="5"/>
            <a:r>
              <a:rPr lang="en-US" sz="3200" dirty="0" smtClean="0"/>
              <a:t>John </a:t>
            </a:r>
            <a:r>
              <a:rPr lang="en-US" sz="3200" dirty="0"/>
              <a:t>Chrysostom,</a:t>
            </a:r>
          </a:p>
          <a:p>
            <a:pPr lvl="5"/>
            <a:r>
              <a:rPr lang="en-US" sz="3200" dirty="0"/>
              <a:t>Ambrose of </a:t>
            </a:r>
            <a:r>
              <a:rPr lang="en-US" sz="3200" dirty="0" smtClean="0"/>
              <a:t>Milan</a:t>
            </a:r>
          </a:p>
          <a:p>
            <a:pPr lvl="5"/>
            <a:r>
              <a:rPr lang="en-US" sz="3200" dirty="0" smtClean="0"/>
              <a:t> </a:t>
            </a:r>
            <a:r>
              <a:rPr lang="en-US" sz="3200" dirty="0"/>
              <a:t>Saint </a:t>
            </a:r>
            <a:r>
              <a:rPr lang="en-US" sz="3200" dirty="0" smtClean="0"/>
              <a:t>Augustine</a:t>
            </a:r>
          </a:p>
          <a:p>
            <a:pPr lvl="5"/>
            <a:r>
              <a:rPr lang="en-US" sz="3200" i="0" dirty="0" smtClean="0"/>
              <a:t>Peter Damia</a:t>
            </a:r>
            <a:r>
              <a:rPr lang="en-US" sz="3200" i="0" dirty="0"/>
              <a:t>n</a:t>
            </a:r>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16</a:t>
            </a:fld>
            <a:endParaRPr lang="en-US"/>
          </a:p>
        </p:txBody>
      </p:sp>
    </p:spTree>
    <p:extLst>
      <p:ext uri="{BB962C8B-B14F-4D97-AF65-F5344CB8AC3E}">
        <p14:creationId xmlns:p14="http://schemas.microsoft.com/office/powerpoint/2010/main" val="1452335361"/>
      </p:ext>
    </p:extLst>
  </p:cSld>
  <p:clrMapOvr>
    <a:masterClrMapping/>
  </p:clrMapOvr>
  <p:transition>
    <p:wheel spokes="1"/>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42594"/>
            <a:ext cx="8458200" cy="607086"/>
          </a:xfrm>
        </p:spPr>
        <p:txBody>
          <a:bodyPr/>
          <a:lstStyle/>
          <a:p>
            <a:r>
              <a:rPr lang="en-US" sz="3200" dirty="0"/>
              <a:t>History of Economic </a:t>
            </a:r>
            <a:r>
              <a:rPr lang="en-US" sz="3200" dirty="0" smtClean="0"/>
              <a:t>Thought: </a:t>
            </a:r>
            <a:r>
              <a:rPr lang="en-US" sz="2400" i="1" dirty="0" smtClean="0"/>
              <a:t>Mercantilism</a:t>
            </a:r>
            <a:endParaRPr lang="en-US" sz="2400" i="1" dirty="0"/>
          </a:p>
        </p:txBody>
      </p:sp>
      <p:sp>
        <p:nvSpPr>
          <p:cNvPr id="3" name="Content Placeholder 2"/>
          <p:cNvSpPr>
            <a:spLocks noGrp="1"/>
          </p:cNvSpPr>
          <p:nvPr>
            <p:ph idx="1"/>
          </p:nvPr>
        </p:nvSpPr>
        <p:spPr>
          <a:xfrm>
            <a:off x="381000" y="1249680"/>
            <a:ext cx="8539662" cy="5059680"/>
          </a:xfrm>
        </p:spPr>
        <p:txBody>
          <a:bodyPr>
            <a:noAutofit/>
          </a:bodyPr>
          <a:lstStyle/>
          <a:p>
            <a:r>
              <a:rPr lang="en-US" sz="4400" dirty="0"/>
              <a:t>economic policy </a:t>
            </a:r>
            <a:r>
              <a:rPr lang="en-US" sz="4400" dirty="0" smtClean="0"/>
              <a:t>designed </a:t>
            </a:r>
            <a:r>
              <a:rPr lang="en-US" sz="4400" dirty="0"/>
              <a:t>to </a:t>
            </a:r>
            <a:r>
              <a:rPr lang="en-US" sz="4400" dirty="0" smtClean="0"/>
              <a:t>maximize exports, minimize imports </a:t>
            </a:r>
            <a:r>
              <a:rPr lang="en-US" sz="4400" dirty="0"/>
              <a:t>for an economy. </a:t>
            </a:r>
          </a:p>
          <a:p>
            <a:r>
              <a:rPr lang="en-US" sz="4400" dirty="0" smtClean="0"/>
              <a:t>promotes </a:t>
            </a:r>
            <a:r>
              <a:rPr lang="en-US" sz="4400" dirty="0"/>
              <a:t>imperialism, colonialism, tariffs and subsidies on traded goods to achieve that goal</a:t>
            </a:r>
            <a:r>
              <a:rPr lang="en-US" sz="4400" dirty="0" smtClean="0"/>
              <a:t>.</a:t>
            </a:r>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17</a:t>
            </a:fld>
            <a:endParaRPr lang="en-US"/>
          </a:p>
        </p:txBody>
      </p:sp>
    </p:spTree>
    <p:extLst>
      <p:ext uri="{BB962C8B-B14F-4D97-AF65-F5344CB8AC3E}">
        <p14:creationId xmlns:p14="http://schemas.microsoft.com/office/powerpoint/2010/main" val="3777254782"/>
      </p:ext>
    </p:extLst>
  </p:cSld>
  <p:clrMapOvr>
    <a:masterClrMapping/>
  </p:clrMapOvr>
  <p:transition>
    <p:wheel spokes="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42594"/>
            <a:ext cx="8183880" cy="1371600"/>
          </a:xfrm>
        </p:spPr>
        <p:txBody>
          <a:bodyPr/>
          <a:lstStyle/>
          <a:p>
            <a:r>
              <a:rPr lang="en-US" sz="3200" dirty="0"/>
              <a:t>History of Economic Thought: </a:t>
            </a:r>
            <a:r>
              <a:rPr lang="en-US" sz="2400" i="1" dirty="0"/>
              <a:t>Mercantilism</a:t>
            </a:r>
            <a:endParaRPr lang="en-US" sz="2400" dirty="0"/>
          </a:p>
        </p:txBody>
      </p:sp>
      <p:sp>
        <p:nvSpPr>
          <p:cNvPr id="3" name="Content Placeholder 2"/>
          <p:cNvSpPr>
            <a:spLocks noGrp="1"/>
          </p:cNvSpPr>
          <p:nvPr>
            <p:ph idx="1"/>
          </p:nvPr>
        </p:nvSpPr>
        <p:spPr>
          <a:xfrm>
            <a:off x="228600" y="1676400"/>
            <a:ext cx="8183880" cy="4358640"/>
          </a:xfrm>
        </p:spPr>
        <p:txBody>
          <a:bodyPr>
            <a:normAutofit fontScale="92500"/>
          </a:bodyPr>
          <a:lstStyle/>
          <a:p>
            <a:r>
              <a:rPr lang="en-US" sz="4800" dirty="0"/>
              <a:t>Premised nations wealth on the accumulation of gold </a:t>
            </a:r>
            <a:r>
              <a:rPr lang="en-US" sz="4800" dirty="0" smtClean="0"/>
              <a:t>silver…rather than the value produced by g &amp; s.</a:t>
            </a:r>
            <a:endParaRPr lang="en-US" sz="4800" dirty="0"/>
          </a:p>
          <a:p>
            <a:r>
              <a:rPr lang="en-US" sz="4800" dirty="0"/>
              <a:t>Major part of economic thought pre-classical. </a:t>
            </a:r>
          </a:p>
          <a:p>
            <a:endParaRPr lang="en-US"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18</a:t>
            </a:fld>
            <a:endParaRPr lang="en-US"/>
          </a:p>
        </p:txBody>
      </p:sp>
    </p:spTree>
    <p:extLst>
      <p:ext uri="{BB962C8B-B14F-4D97-AF65-F5344CB8AC3E}">
        <p14:creationId xmlns:p14="http://schemas.microsoft.com/office/powerpoint/2010/main" val="1966551700"/>
      </p:ext>
    </p:extLst>
  </p:cSld>
  <p:clrMapOvr>
    <a:masterClrMapping/>
  </p:clrMapOvr>
  <p:transition>
    <p:wheel spokes="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228600" y="228600"/>
            <a:ext cx="8001000" cy="1143000"/>
          </a:xfrm>
        </p:spPr>
        <p:txBody>
          <a:bodyPr>
            <a:normAutofit fontScale="90000"/>
          </a:bodyPr>
          <a:lstStyle/>
          <a:p>
            <a:pPr algn="ctr"/>
            <a:r>
              <a:rPr lang="en-US" dirty="0" smtClean="0">
                <a:solidFill>
                  <a:srgbClr val="002060"/>
                </a:solidFill>
              </a:rPr>
              <a:t>Schools Of Modern Economic Thought</a:t>
            </a:r>
          </a:p>
        </p:txBody>
      </p:sp>
      <p:sp>
        <p:nvSpPr>
          <p:cNvPr id="3" name="Content Placeholder 2"/>
          <p:cNvSpPr>
            <a:spLocks noGrp="1"/>
          </p:cNvSpPr>
          <p:nvPr>
            <p:ph idx="1"/>
          </p:nvPr>
        </p:nvSpPr>
        <p:spPr>
          <a:xfrm>
            <a:off x="228600" y="1447800"/>
            <a:ext cx="8915400" cy="5029200"/>
          </a:xfrm>
        </p:spPr>
        <p:txBody>
          <a:bodyPr>
            <a:normAutofit fontScale="70000" lnSpcReduction="20000"/>
          </a:bodyPr>
          <a:lstStyle/>
          <a:p>
            <a:r>
              <a:rPr lang="en-US" sz="5400" dirty="0" smtClean="0"/>
              <a:t>Three Schools of Thought:</a:t>
            </a:r>
          </a:p>
          <a:p>
            <a:pPr lvl="1" algn="just"/>
            <a:r>
              <a:rPr lang="en-US" sz="5400" dirty="0" smtClean="0"/>
              <a:t>Classical economics</a:t>
            </a:r>
          </a:p>
          <a:p>
            <a:pPr lvl="3" algn="just"/>
            <a:r>
              <a:rPr lang="en-US" sz="5200" dirty="0" smtClean="0"/>
              <a:t>1776 end of 2</a:t>
            </a:r>
            <a:r>
              <a:rPr lang="en-US" sz="5200" baseline="30000" dirty="0" smtClean="0"/>
              <a:t>nd</a:t>
            </a:r>
            <a:r>
              <a:rPr lang="en-US" sz="5200" dirty="0" smtClean="0"/>
              <a:t> WW</a:t>
            </a:r>
          </a:p>
          <a:p>
            <a:pPr lvl="1"/>
            <a:r>
              <a:rPr lang="en-US" sz="5400" dirty="0" smtClean="0"/>
              <a:t>Keynesian economics </a:t>
            </a:r>
          </a:p>
          <a:p>
            <a:pPr lvl="3"/>
            <a:r>
              <a:rPr lang="en-US" sz="5200" dirty="0" smtClean="0"/>
              <a:t>End of 2</a:t>
            </a:r>
            <a:r>
              <a:rPr lang="en-US" sz="5200" baseline="30000" dirty="0" smtClean="0"/>
              <a:t>nd</a:t>
            </a:r>
            <a:r>
              <a:rPr lang="en-US" sz="5200" dirty="0" smtClean="0"/>
              <a:t> WW-early 70s</a:t>
            </a:r>
          </a:p>
          <a:p>
            <a:pPr lvl="1"/>
            <a:r>
              <a:rPr lang="en-US" sz="5400" dirty="0"/>
              <a:t>Neo-classical </a:t>
            </a:r>
            <a:r>
              <a:rPr lang="en-US" sz="5400" dirty="0" smtClean="0"/>
              <a:t>economics</a:t>
            </a:r>
          </a:p>
          <a:p>
            <a:pPr lvl="3"/>
            <a:r>
              <a:rPr lang="en-US" sz="5200" dirty="0" smtClean="0"/>
              <a:t>70s-todate?-2007 Great Recession?</a:t>
            </a:r>
          </a:p>
          <a:p>
            <a:pPr lvl="1"/>
            <a:r>
              <a:rPr lang="en-US" sz="5400" dirty="0" smtClean="0"/>
              <a:t>New school of thought? </a:t>
            </a:r>
            <a:endParaRPr lang="en-US" sz="5400" dirty="0"/>
          </a:p>
          <a:p>
            <a:pPr lvl="1"/>
            <a:endParaRPr lang="en-US" sz="3700" dirty="0" smtClean="0"/>
          </a:p>
          <a:p>
            <a:endParaRPr lang="en-US" sz="3600"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19</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down)">
                                      <p:cBhvr>
                                        <p:cTn id="25" dur="500"/>
                                        <p:tgtEl>
                                          <p:spTgt spid="3">
                                            <p:txEl>
                                              <p:pRg st="6" end="6"/>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down)">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a:bodyPr>
          <a:lstStyle/>
          <a:p>
            <a:pPr algn="ctr" fontAlgn="auto">
              <a:spcAft>
                <a:spcPts val="0"/>
              </a:spcAft>
              <a:defRPr/>
            </a:pPr>
            <a:r>
              <a:rPr lang="en-US" dirty="0" smtClean="0">
                <a:solidFill>
                  <a:srgbClr val="002060"/>
                </a:solidFill>
              </a:rPr>
              <a:t>Classical Economics</a:t>
            </a:r>
            <a:endParaRPr lang="en-US" dirty="0">
              <a:solidFill>
                <a:srgbClr val="002060"/>
              </a:solidFill>
            </a:endParaRPr>
          </a:p>
        </p:txBody>
      </p:sp>
      <p:sp>
        <p:nvSpPr>
          <p:cNvPr id="3" name="Content Placeholder 2"/>
          <p:cNvSpPr>
            <a:spLocks noGrp="1"/>
          </p:cNvSpPr>
          <p:nvPr>
            <p:ph idx="1"/>
          </p:nvPr>
        </p:nvSpPr>
        <p:spPr>
          <a:xfrm>
            <a:off x="457200" y="1447800"/>
            <a:ext cx="8839200" cy="5257800"/>
          </a:xfrm>
        </p:spPr>
        <p:txBody>
          <a:bodyPr>
            <a:normAutofit lnSpcReduction="10000"/>
          </a:bodyPr>
          <a:lstStyle/>
          <a:p>
            <a:r>
              <a:rPr lang="en-US" sz="4400" dirty="0" smtClean="0"/>
              <a:t>Is considered to have begun with the publication of “An Inquiry into the Nature of Wealth of Nations” by </a:t>
            </a:r>
            <a:r>
              <a:rPr lang="en-US" sz="4400" b="1" dirty="0" smtClean="0"/>
              <a:t>Adam Smith</a:t>
            </a:r>
            <a:r>
              <a:rPr lang="en-US" sz="4400" dirty="0" smtClean="0"/>
              <a:t> in the 17</a:t>
            </a:r>
            <a:r>
              <a:rPr lang="en-US" sz="4400" baseline="30000" dirty="0" smtClean="0"/>
              <a:t>th</a:t>
            </a:r>
            <a:r>
              <a:rPr lang="en-US" sz="4400" dirty="0" smtClean="0"/>
              <a:t> Century. </a:t>
            </a:r>
          </a:p>
          <a:p>
            <a:r>
              <a:rPr lang="en-US" sz="4400" dirty="0" smtClean="0"/>
              <a:t>Adam Smith identified </a:t>
            </a:r>
            <a:r>
              <a:rPr lang="en-US" sz="4400" b="1" dirty="0" smtClean="0"/>
              <a:t>land, </a:t>
            </a:r>
            <a:r>
              <a:rPr lang="en-US" sz="4400" b="1" dirty="0" err="1" smtClean="0"/>
              <a:t>labour</a:t>
            </a:r>
            <a:r>
              <a:rPr lang="en-US" sz="4400" b="1" dirty="0" smtClean="0"/>
              <a:t> </a:t>
            </a:r>
            <a:r>
              <a:rPr lang="en-US" sz="4400" dirty="0" smtClean="0"/>
              <a:t>and</a:t>
            </a:r>
            <a:r>
              <a:rPr lang="en-US" sz="4400" b="1" dirty="0" smtClean="0"/>
              <a:t> capital</a:t>
            </a:r>
            <a:r>
              <a:rPr lang="en-US" sz="4400" dirty="0" smtClean="0"/>
              <a:t> as the 3 factors of production.</a:t>
            </a:r>
            <a:r>
              <a:rPr lang="en-US" sz="4000" dirty="0" smtClean="0"/>
              <a:t> </a:t>
            </a:r>
          </a:p>
          <a:p>
            <a:pPr algn="just">
              <a:buFont typeface="Wingdings 2" pitchFamily="18" charset="2"/>
              <a:buNone/>
            </a:pPr>
            <a:endParaRPr lang="en-US" sz="4000" b="1"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20</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228600"/>
            <a:ext cx="7955280" cy="1295400"/>
          </a:xfrm>
        </p:spPr>
        <p:txBody>
          <a:bodyPr/>
          <a:lstStyle/>
          <a:p>
            <a:pPr algn="ctr"/>
            <a:r>
              <a:rPr lang="en-US" dirty="0" smtClean="0"/>
              <a:t>Adam Smith: </a:t>
            </a:r>
            <a:r>
              <a:rPr lang="en-US" sz="2400" i="1" dirty="0" smtClean="0"/>
              <a:t>Father of Modern Economics (1723-1790)</a:t>
            </a:r>
            <a:endParaRPr lang="en-US" sz="2400" i="1"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21</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399" y="1676400"/>
            <a:ext cx="3727705" cy="4632960"/>
          </a:xfrm>
          <a:prstGeom prst="rect">
            <a:avLst/>
          </a:prstGeom>
        </p:spPr>
      </p:pic>
    </p:spTree>
    <p:extLst>
      <p:ext uri="{BB962C8B-B14F-4D97-AF65-F5344CB8AC3E}">
        <p14:creationId xmlns:p14="http://schemas.microsoft.com/office/powerpoint/2010/main" val="2391109442"/>
      </p:ext>
    </p:extLst>
  </p:cSld>
  <p:clrMapOvr>
    <a:masterClrMapping/>
  </p:clrMapOvr>
  <p:transition>
    <p:wheel spokes="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028700" y="76200"/>
            <a:ext cx="7200900" cy="1219200"/>
          </a:xfrm>
        </p:spPr>
        <p:txBody>
          <a:bodyPr/>
          <a:lstStyle/>
          <a:p>
            <a:r>
              <a:rPr lang="en-US" dirty="0" smtClean="0">
                <a:solidFill>
                  <a:srgbClr val="002060"/>
                </a:solidFill>
              </a:rPr>
              <a:t>Classical Economics</a:t>
            </a:r>
          </a:p>
        </p:txBody>
      </p:sp>
      <p:sp>
        <p:nvSpPr>
          <p:cNvPr id="3" name="Content Placeholder 2"/>
          <p:cNvSpPr>
            <a:spLocks noGrp="1"/>
          </p:cNvSpPr>
          <p:nvPr>
            <p:ph idx="1"/>
          </p:nvPr>
        </p:nvSpPr>
        <p:spPr>
          <a:xfrm>
            <a:off x="420290" y="914400"/>
            <a:ext cx="8305800" cy="5557418"/>
          </a:xfrm>
        </p:spPr>
        <p:txBody>
          <a:bodyPr>
            <a:normAutofit fontScale="85000" lnSpcReduction="20000"/>
          </a:bodyPr>
          <a:lstStyle/>
          <a:p>
            <a:pPr marL="274320" indent="-274320" fontAlgn="auto">
              <a:spcAft>
                <a:spcPts val="0"/>
              </a:spcAft>
              <a:buClr>
                <a:schemeClr val="accent3"/>
              </a:buClr>
              <a:buFont typeface="Wingdings 2"/>
              <a:buChar char=""/>
              <a:defRPr/>
            </a:pPr>
            <a:r>
              <a:rPr lang="en-US" sz="3600" dirty="0" smtClean="0"/>
              <a:t>Smith argued the following:</a:t>
            </a:r>
          </a:p>
          <a:p>
            <a:pPr marL="274320" indent="-274320">
              <a:buClr>
                <a:schemeClr val="accent3"/>
              </a:buClr>
              <a:buFont typeface="Wingdings 2"/>
              <a:buChar char=""/>
              <a:defRPr/>
            </a:pPr>
            <a:r>
              <a:rPr lang="en-US" sz="3600" dirty="0" smtClean="0"/>
              <a:t>Thro’ the“ </a:t>
            </a:r>
            <a:r>
              <a:rPr lang="en-US" sz="3600" dirty="0"/>
              <a:t>Invisible Hand” </a:t>
            </a:r>
            <a:endParaRPr lang="en-US" sz="3600" dirty="0" smtClean="0"/>
          </a:p>
          <a:p>
            <a:pPr marL="822960" lvl="2" indent="-274320">
              <a:buClr>
                <a:schemeClr val="accent3"/>
              </a:buClr>
              <a:buFont typeface="Wingdings 2"/>
              <a:buChar char=""/>
              <a:defRPr/>
            </a:pPr>
            <a:r>
              <a:rPr lang="en-US" sz="3200" dirty="0" smtClean="0"/>
              <a:t>Consumers maximize utility</a:t>
            </a:r>
          </a:p>
          <a:p>
            <a:pPr marL="822960" lvl="2" indent="-274320">
              <a:buClr>
                <a:schemeClr val="accent3"/>
              </a:buClr>
              <a:buFont typeface="Wingdings 2"/>
              <a:buChar char=""/>
              <a:defRPr/>
            </a:pPr>
            <a:r>
              <a:rPr lang="en-US" sz="3200" dirty="0" smtClean="0"/>
              <a:t>Producers maximize profits</a:t>
            </a:r>
          </a:p>
          <a:p>
            <a:pPr marL="822960" lvl="2" indent="-274320">
              <a:buClr>
                <a:schemeClr val="accent3"/>
              </a:buClr>
              <a:buFont typeface="Wingdings 2"/>
              <a:buChar char=""/>
              <a:defRPr/>
            </a:pPr>
            <a:r>
              <a:rPr lang="en-US" sz="3200" dirty="0" smtClean="0"/>
              <a:t>Leading to market self regulation</a:t>
            </a:r>
            <a:endParaRPr lang="en-US" sz="3600" dirty="0" smtClean="0"/>
          </a:p>
          <a:p>
            <a:pPr marL="274320" indent="-274320" fontAlgn="auto">
              <a:spcAft>
                <a:spcPts val="0"/>
              </a:spcAft>
              <a:buClr>
                <a:schemeClr val="accent3"/>
              </a:buClr>
              <a:buFont typeface="Wingdings 2"/>
              <a:buChar char=""/>
              <a:defRPr/>
            </a:pPr>
            <a:r>
              <a:rPr lang="en-US" sz="3600" dirty="0" smtClean="0"/>
              <a:t> that competitive markets tended to advance the </a:t>
            </a:r>
            <a:r>
              <a:rPr lang="en-US" sz="3600" b="1" dirty="0" smtClean="0"/>
              <a:t>economic interest of the wider society </a:t>
            </a:r>
            <a:r>
              <a:rPr lang="en-US" sz="3600" dirty="0" smtClean="0"/>
              <a:t>even though their motives were </a:t>
            </a:r>
            <a:r>
              <a:rPr lang="en-US" sz="3600" b="1" dirty="0" smtClean="0"/>
              <a:t>narrow self interest.</a:t>
            </a:r>
          </a:p>
          <a:p>
            <a:pPr marL="804672" lvl="1" indent="-274320">
              <a:spcAft>
                <a:spcPts val="0"/>
              </a:spcAft>
              <a:buClr>
                <a:schemeClr val="accent3"/>
              </a:buClr>
              <a:buFont typeface="Wingdings 2"/>
              <a:buChar char=""/>
              <a:defRPr/>
            </a:pPr>
            <a:r>
              <a:rPr lang="en-US" sz="3600" dirty="0" smtClean="0"/>
              <a:t>“</a:t>
            </a:r>
            <a:r>
              <a:rPr lang="en-US" sz="3000" dirty="0">
                <a:solidFill>
                  <a:schemeClr val="bg2">
                    <a:lumMod val="25000"/>
                  </a:schemeClr>
                </a:solidFill>
              </a:rPr>
              <a:t>It is not from the benevolence of the butcher, the brewer, or the baker that we expect our dinner, but from their regard to their own </a:t>
            </a:r>
            <a:r>
              <a:rPr lang="en-US" sz="3000" dirty="0" smtClean="0">
                <a:solidFill>
                  <a:schemeClr val="bg2">
                    <a:lumMod val="25000"/>
                  </a:schemeClr>
                </a:solidFill>
              </a:rPr>
              <a:t>interest</a:t>
            </a:r>
            <a:r>
              <a:rPr lang="en-US" sz="3000" dirty="0" smtClean="0"/>
              <a:t>”-A. Smith.</a:t>
            </a:r>
            <a:endParaRPr lang="en-US" sz="3600" dirty="0" smtClean="0"/>
          </a:p>
          <a:p>
            <a:pPr marL="274320" indent="-274320" fontAlgn="auto">
              <a:spcAft>
                <a:spcPts val="0"/>
              </a:spcAft>
              <a:buClr>
                <a:schemeClr val="accent3"/>
              </a:buClr>
              <a:buFont typeface="Wingdings 2"/>
              <a:buChar char=""/>
              <a:defRPr/>
            </a:pPr>
            <a:endParaRPr lang="en-US"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22</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228600"/>
            <a:ext cx="7680960" cy="1066800"/>
          </a:xfrm>
        </p:spPr>
        <p:txBody>
          <a:bodyPr/>
          <a:lstStyle/>
          <a:p>
            <a:r>
              <a:rPr lang="en-US" dirty="0" smtClean="0"/>
              <a:t>Smith arguments </a:t>
            </a:r>
            <a:r>
              <a:rPr lang="en-US" sz="2400" i="1" dirty="0" smtClean="0"/>
              <a:t>continued</a:t>
            </a:r>
            <a:endParaRPr lang="en-US" sz="2400" i="1" dirty="0"/>
          </a:p>
        </p:txBody>
      </p:sp>
      <p:sp>
        <p:nvSpPr>
          <p:cNvPr id="3" name="Content Placeholder 2"/>
          <p:cNvSpPr>
            <a:spLocks noGrp="1"/>
          </p:cNvSpPr>
          <p:nvPr>
            <p:ph idx="1"/>
          </p:nvPr>
        </p:nvSpPr>
        <p:spPr>
          <a:xfrm>
            <a:off x="457200" y="1219200"/>
            <a:ext cx="8305800" cy="4815840"/>
          </a:xfrm>
        </p:spPr>
        <p:txBody>
          <a:bodyPr>
            <a:normAutofit fontScale="70000" lnSpcReduction="20000"/>
          </a:bodyPr>
          <a:lstStyle/>
          <a:p>
            <a:pPr marL="274320" indent="-274320">
              <a:buClr>
                <a:schemeClr val="accent3"/>
              </a:buClr>
              <a:buFont typeface="Wingdings 2"/>
              <a:buChar char=""/>
              <a:defRPr/>
            </a:pPr>
            <a:r>
              <a:rPr lang="en-US" sz="3600" dirty="0"/>
              <a:t>Worker productivity is key in increasing </a:t>
            </a:r>
            <a:r>
              <a:rPr lang="en-US" sz="3600" dirty="0" smtClean="0"/>
              <a:t>wealth.</a:t>
            </a:r>
            <a:endParaRPr lang="en-US" sz="3600" dirty="0"/>
          </a:p>
          <a:p>
            <a:pPr marL="822960" lvl="2" indent="-274320">
              <a:buClr>
                <a:schemeClr val="accent3"/>
              </a:buClr>
              <a:buFont typeface="Wingdings 2"/>
              <a:buChar char=""/>
              <a:defRPr/>
            </a:pPr>
            <a:r>
              <a:rPr lang="en-US" sz="3200" dirty="0"/>
              <a:t>Labour Specialization</a:t>
            </a:r>
          </a:p>
          <a:p>
            <a:pPr marL="822960" lvl="2" indent="-274320">
              <a:buClr>
                <a:schemeClr val="accent3"/>
              </a:buClr>
              <a:buFont typeface="Wingdings 2"/>
              <a:buChar char=""/>
              <a:defRPr/>
            </a:pPr>
            <a:r>
              <a:rPr lang="en-US" sz="3200" dirty="0"/>
              <a:t>Division of labour</a:t>
            </a:r>
          </a:p>
          <a:p>
            <a:pPr marL="274320" indent="-274320">
              <a:buClr>
                <a:schemeClr val="accent3"/>
              </a:buClr>
              <a:buFont typeface="Wingdings 2"/>
              <a:buChar char=""/>
              <a:defRPr/>
            </a:pPr>
            <a:r>
              <a:rPr lang="en-US" sz="3600" dirty="0"/>
              <a:t>Labour theory of </a:t>
            </a:r>
            <a:r>
              <a:rPr lang="en-US" sz="3600" dirty="0" smtClean="0"/>
              <a:t>value.</a:t>
            </a:r>
            <a:endParaRPr lang="en-US" sz="3600" dirty="0"/>
          </a:p>
          <a:p>
            <a:pPr marL="822960" lvl="2" indent="-274320">
              <a:buClr>
                <a:schemeClr val="accent3"/>
              </a:buClr>
              <a:buFont typeface="Wingdings 2"/>
              <a:buChar char=""/>
              <a:defRPr/>
            </a:pPr>
            <a:r>
              <a:rPr lang="en-US" sz="3200" dirty="0"/>
              <a:t>Cost of </a:t>
            </a:r>
            <a:r>
              <a:rPr lang="en-US" sz="3200" dirty="0" smtClean="0"/>
              <a:t>production=value </a:t>
            </a:r>
            <a:r>
              <a:rPr lang="en-US" sz="3200" dirty="0"/>
              <a:t>of good </a:t>
            </a:r>
            <a:r>
              <a:rPr lang="en-US" sz="3200" dirty="0" smtClean="0"/>
              <a:t>produced</a:t>
            </a:r>
          </a:p>
          <a:p>
            <a:pPr marL="274320" indent="-274320">
              <a:buClr>
                <a:schemeClr val="accent3"/>
              </a:buClr>
              <a:buFont typeface="Wingdings 2"/>
              <a:buChar char=""/>
              <a:defRPr/>
            </a:pPr>
            <a:r>
              <a:rPr lang="en-US" sz="3600" dirty="0" smtClean="0"/>
              <a:t>Free trade key to nations’ prosperity.</a:t>
            </a:r>
          </a:p>
          <a:p>
            <a:pPr marL="274320" indent="-274320">
              <a:buClr>
                <a:schemeClr val="accent3"/>
              </a:buClr>
              <a:buFont typeface="Wingdings 2"/>
              <a:buChar char=""/>
              <a:defRPr/>
            </a:pPr>
            <a:r>
              <a:rPr lang="en-US" sz="3600" dirty="0" smtClean="0"/>
              <a:t>Laissez-faire economics</a:t>
            </a:r>
          </a:p>
          <a:p>
            <a:pPr marL="548640" lvl="1" indent="-274320">
              <a:buClr>
                <a:schemeClr val="accent3"/>
              </a:buClr>
              <a:buFont typeface="Wingdings 2"/>
              <a:buChar char=""/>
              <a:defRPr/>
            </a:pPr>
            <a:r>
              <a:rPr lang="en-US" sz="3400" dirty="0" smtClean="0"/>
              <a:t>Economies function best when free from government “interference”</a:t>
            </a:r>
          </a:p>
          <a:p>
            <a:pPr marL="274320" indent="-274320">
              <a:buClr>
                <a:schemeClr val="accent3"/>
              </a:buClr>
              <a:buFont typeface="Wingdings 2"/>
              <a:buChar char=""/>
              <a:defRPr/>
            </a:pPr>
            <a:r>
              <a:rPr lang="en-US" sz="3800" dirty="0" smtClean="0"/>
              <a:t>But…government has role to play</a:t>
            </a:r>
          </a:p>
          <a:p>
            <a:pPr marL="548640" lvl="1" indent="-274320">
              <a:buClr>
                <a:schemeClr val="accent3"/>
              </a:buClr>
              <a:buFont typeface="Wingdings 2"/>
              <a:buChar char=""/>
              <a:defRPr/>
            </a:pPr>
            <a:r>
              <a:rPr lang="en-US" sz="3600" dirty="0" smtClean="0"/>
              <a:t>use of coercive power(</a:t>
            </a:r>
            <a:r>
              <a:rPr lang="en-US" sz="3600" dirty="0"/>
              <a:t>Defense, </a:t>
            </a:r>
            <a:r>
              <a:rPr lang="en-US" sz="3600" dirty="0" smtClean="0"/>
              <a:t>police) infrastructure, human capital, utilities' provision (electricity, water, internet etc.)</a:t>
            </a:r>
            <a:endParaRPr lang="en-US" sz="3600" dirty="0"/>
          </a:p>
        </p:txBody>
      </p:sp>
      <p:sp>
        <p:nvSpPr>
          <p:cNvPr id="4" name="Footer Placeholder 3"/>
          <p:cNvSpPr>
            <a:spLocks noGrp="1"/>
          </p:cNvSpPr>
          <p:nvPr>
            <p:ph type="ftr" sz="quarter" idx="11"/>
          </p:nvPr>
        </p:nvSpPr>
        <p:spPr/>
        <p:txBody>
          <a:bodyPr/>
          <a:lstStyle/>
          <a:p>
            <a:pPr>
              <a:defRPr/>
            </a:pPr>
            <a:r>
              <a:rPr lang="en-US" dirty="0" smtClean="0"/>
              <a:t>Oyugi Nyanjong'</a:t>
            </a:r>
            <a:endParaRPr lang="en-US" dirty="0"/>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23</a:t>
            </a:fld>
            <a:endParaRPr lang="en-US"/>
          </a:p>
        </p:txBody>
      </p:sp>
    </p:spTree>
    <p:extLst>
      <p:ext uri="{BB962C8B-B14F-4D97-AF65-F5344CB8AC3E}">
        <p14:creationId xmlns:p14="http://schemas.microsoft.com/office/powerpoint/2010/main" val="2019890522"/>
      </p:ext>
    </p:extLst>
  </p:cSld>
  <p:clrMapOvr>
    <a:masterClrMapping/>
  </p:clrMapOvr>
  <p:transition>
    <p:wheel spokes="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classical and mercantilism</a:t>
            </a:r>
            <a:endParaRPr lang="en-US" dirty="0"/>
          </a:p>
        </p:txBody>
      </p:sp>
      <p:sp>
        <p:nvSpPr>
          <p:cNvPr id="3" name="Content Placeholder 2"/>
          <p:cNvSpPr>
            <a:spLocks noGrp="1"/>
          </p:cNvSpPr>
          <p:nvPr>
            <p:ph idx="1"/>
          </p:nvPr>
        </p:nvSpPr>
        <p:spPr>
          <a:xfrm>
            <a:off x="381000" y="2103120"/>
            <a:ext cx="8539662" cy="3931920"/>
          </a:xfrm>
        </p:spPr>
        <p:txBody>
          <a:bodyPr>
            <a:noAutofit/>
          </a:bodyPr>
          <a:lstStyle/>
          <a:p>
            <a:r>
              <a:rPr lang="en-US" sz="2800" dirty="0" smtClean="0"/>
              <a:t>Major departure from mercantilism is the premise that wealth of nations is dependent on the value created by goods and service produced within a given economy, rather than the accumulation of gold, silver…</a:t>
            </a:r>
          </a:p>
          <a:p>
            <a:r>
              <a:rPr lang="en-US" sz="2800" dirty="0" smtClean="0"/>
              <a:t>Other </a:t>
            </a:r>
            <a:r>
              <a:rPr lang="en-US" sz="2800" dirty="0"/>
              <a:t>notable classical economists were </a:t>
            </a:r>
            <a:r>
              <a:rPr lang="en-US" sz="2800" b="1" dirty="0"/>
              <a:t>Thomas Malthus</a:t>
            </a:r>
            <a:r>
              <a:rPr lang="en-US" sz="2800" dirty="0"/>
              <a:t> (Theory of Population And Food Production) and </a:t>
            </a:r>
            <a:r>
              <a:rPr lang="en-US" sz="2800" b="1" dirty="0"/>
              <a:t>David Ricardo </a:t>
            </a:r>
            <a:r>
              <a:rPr lang="en-US" sz="2800" dirty="0"/>
              <a:t>(Theory of Comparative Advantages).</a:t>
            </a:r>
          </a:p>
          <a:p>
            <a:endParaRPr lang="en-US" sz="28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24</a:t>
            </a:fld>
            <a:endParaRPr lang="en-US"/>
          </a:p>
        </p:txBody>
      </p:sp>
    </p:spTree>
    <p:extLst>
      <p:ext uri="{BB962C8B-B14F-4D97-AF65-F5344CB8AC3E}">
        <p14:creationId xmlns:p14="http://schemas.microsoft.com/office/powerpoint/2010/main" val="1966088630"/>
      </p:ext>
    </p:extLst>
  </p:cSld>
  <p:clrMapOvr>
    <a:masterClrMapping/>
  </p:clrMapOvr>
  <p:transition>
    <p:wheel spokes="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smtClean="0"/>
              <a:t>Classical economists</a:t>
            </a:r>
            <a:endParaRPr lang="en-US" dirty="0"/>
          </a:p>
        </p:txBody>
      </p:sp>
      <p:sp>
        <p:nvSpPr>
          <p:cNvPr id="11" name="Text Placeholder 10"/>
          <p:cNvSpPr>
            <a:spLocks noGrp="1"/>
          </p:cNvSpPr>
          <p:nvPr>
            <p:ph type="body" idx="1"/>
          </p:nvPr>
        </p:nvSpPr>
        <p:spPr/>
        <p:txBody>
          <a:bodyPr/>
          <a:lstStyle/>
          <a:p>
            <a:r>
              <a:rPr lang="en-US" dirty="0" smtClean="0"/>
              <a:t>Ricardo, D.</a:t>
            </a:r>
            <a:endParaRPr lang="en-US" dirty="0"/>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14400" y="3074988"/>
            <a:ext cx="2971800" cy="3234372"/>
          </a:xfrm>
        </p:spPr>
      </p:pic>
      <p:sp>
        <p:nvSpPr>
          <p:cNvPr id="12" name="Text Placeholder 11"/>
          <p:cNvSpPr>
            <a:spLocks noGrp="1"/>
          </p:cNvSpPr>
          <p:nvPr>
            <p:ph type="body" sz="quarter" idx="3"/>
          </p:nvPr>
        </p:nvSpPr>
        <p:spPr/>
        <p:txBody>
          <a:bodyPr/>
          <a:lstStyle/>
          <a:p>
            <a:r>
              <a:rPr lang="en-US" dirty="0" smtClean="0"/>
              <a:t>Malthus, T</a:t>
            </a:r>
            <a:endParaRPr lang="en-US" dirty="0"/>
          </a:p>
        </p:txBody>
      </p:sp>
      <p:pic>
        <p:nvPicPr>
          <p:cNvPr id="14" name="Content Placeholder 13"/>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635625" y="3074989"/>
            <a:ext cx="2776855" cy="3173412"/>
          </a:xfrm>
        </p:spPr>
      </p:pic>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25</a:t>
            </a:fld>
            <a:endParaRPr lang="en-US"/>
          </a:p>
        </p:txBody>
      </p:sp>
    </p:spTree>
    <p:extLst>
      <p:ext uri="{BB962C8B-B14F-4D97-AF65-F5344CB8AC3E}">
        <p14:creationId xmlns:p14="http://schemas.microsoft.com/office/powerpoint/2010/main" val="2755259708"/>
      </p:ext>
    </p:extLst>
  </p:cSld>
  <p:clrMapOvr>
    <a:masterClrMapping/>
  </p:clrMapOvr>
  <p:transition>
    <p:wheel spokes="1"/>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226552" cy="758952"/>
          </a:xfrm>
        </p:spPr>
        <p:txBody>
          <a:bodyPr>
            <a:normAutofit/>
          </a:bodyPr>
          <a:lstStyle/>
          <a:p>
            <a:pPr fontAlgn="auto">
              <a:spcAft>
                <a:spcPts val="0"/>
              </a:spcAft>
              <a:defRPr/>
            </a:pPr>
            <a:r>
              <a:rPr lang="en-US" dirty="0" smtClean="0"/>
              <a:t>Keynesian Economics</a:t>
            </a:r>
            <a:endParaRPr lang="en-US" dirty="0"/>
          </a:p>
        </p:txBody>
      </p:sp>
      <p:sp>
        <p:nvSpPr>
          <p:cNvPr id="12291" name="Content Placeholder 2"/>
          <p:cNvSpPr>
            <a:spLocks noGrp="1"/>
          </p:cNvSpPr>
          <p:nvPr>
            <p:ph idx="1"/>
          </p:nvPr>
        </p:nvSpPr>
        <p:spPr>
          <a:xfrm>
            <a:off x="152400" y="987552"/>
            <a:ext cx="8534400" cy="5337048"/>
          </a:xfrm>
        </p:spPr>
        <p:txBody>
          <a:bodyPr>
            <a:noAutofit/>
          </a:bodyPr>
          <a:lstStyle/>
          <a:p>
            <a:r>
              <a:rPr lang="en-US" sz="4000" dirty="0" smtClean="0"/>
              <a:t>brainchild of 20th century influential economist John Maynard Keynes.</a:t>
            </a:r>
          </a:p>
          <a:p>
            <a:r>
              <a:rPr lang="en-US" sz="4000" dirty="0" smtClean="0"/>
              <a:t> In his book “</a:t>
            </a:r>
            <a:r>
              <a:rPr lang="en-US" sz="4000" i="1" dirty="0" smtClean="0"/>
              <a:t>The General Theory of Employment, Interest And Money</a:t>
            </a:r>
            <a:r>
              <a:rPr lang="en-US" sz="4000" dirty="0" smtClean="0"/>
              <a:t>”, Keynes focused on the determinants of national income in the short term when prices are relatively inflexible. </a:t>
            </a:r>
          </a:p>
          <a:p>
            <a:endParaRPr lang="en-US" sz="4000" dirty="0" smtClean="0"/>
          </a:p>
          <a:p>
            <a:endParaRPr lang="en-US" sz="4000"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26</a:t>
            </a:fld>
            <a:endParaRPr lang="en-US"/>
          </a:p>
        </p:txBody>
      </p:sp>
    </p:spTree>
  </p:cSld>
  <p:clrMapOvr>
    <a:masterClrMapping/>
  </p:clrMapOvr>
  <p:transition>
    <p:wheel spokes="1"/>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31520" y="642594"/>
            <a:ext cx="7680960" cy="805206"/>
          </a:xfrm>
        </p:spPr>
        <p:txBody>
          <a:bodyPr>
            <a:normAutofit fontScale="90000"/>
          </a:bodyPr>
          <a:lstStyle/>
          <a:p>
            <a:pPr algn="ctr"/>
            <a:r>
              <a:rPr lang="en-US" dirty="0" smtClean="0"/>
              <a:t>John Maynard Keynes</a:t>
            </a:r>
            <a:br>
              <a:rPr lang="en-US" dirty="0" smtClean="0"/>
            </a:br>
            <a:r>
              <a:rPr lang="en-US" dirty="0" smtClean="0"/>
              <a:t> </a:t>
            </a:r>
            <a:r>
              <a:rPr lang="en-US" sz="2700" dirty="0" smtClean="0"/>
              <a:t>(1883-1946)</a:t>
            </a:r>
            <a:endParaRPr lang="en-US" sz="27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27</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1668780"/>
            <a:ext cx="4795838" cy="4419599"/>
          </a:xfrm>
          <a:prstGeom prst="rect">
            <a:avLst/>
          </a:prstGeom>
        </p:spPr>
      </p:pic>
    </p:spTree>
    <p:extLst>
      <p:ext uri="{BB962C8B-B14F-4D97-AF65-F5344CB8AC3E}">
        <p14:creationId xmlns:p14="http://schemas.microsoft.com/office/powerpoint/2010/main" val="3907342628"/>
      </p:ext>
    </p:extLst>
  </p:cSld>
  <p:clrMapOvr>
    <a:masterClrMapping/>
  </p:clrMapOvr>
  <p:transition>
    <p:wheel spokes="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304800"/>
            <a:ext cx="8229600" cy="685800"/>
          </a:xfrm>
        </p:spPr>
        <p:txBody>
          <a:bodyPr>
            <a:normAutofit/>
          </a:bodyPr>
          <a:lstStyle/>
          <a:p>
            <a:r>
              <a:rPr lang="en-US" b="1" dirty="0" smtClean="0"/>
              <a:t>Keynesian Economics</a:t>
            </a:r>
            <a:endParaRPr lang="en-US" dirty="0" smtClean="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90600"/>
                <a:ext cx="8229600" cy="5334000"/>
              </a:xfrm>
            </p:spPr>
            <p:txBody>
              <a:bodyPr>
                <a:normAutofit lnSpcReduction="10000"/>
              </a:bodyPr>
              <a:lstStyle/>
              <a:p>
                <a:r>
                  <a:rPr lang="en-US" sz="3600" dirty="0" smtClean="0"/>
                  <a:t>He developed the Aggregate Demand-Aggregate Supply Framework(AD-AS).</a:t>
                </a:r>
              </a:p>
              <a:p>
                <a:pPr marL="822960" lvl="3" indent="0">
                  <a:buNone/>
                </a:pPr>
                <a14:m>
                  <m:oMathPara xmlns:m="http://schemas.openxmlformats.org/officeDocument/2006/math">
                    <m:oMathParaPr>
                      <m:jc m:val="centerGroup"/>
                    </m:oMathParaPr>
                    <m:oMath xmlns:m="http://schemas.openxmlformats.org/officeDocument/2006/math">
                      <m:r>
                        <a:rPr lang="en-US" sz="3600" i="1" dirty="0" smtClean="0">
                          <a:latin typeface="Cambria Math" panose="02040503050406030204" pitchFamily="18" charset="0"/>
                        </a:rPr>
                        <m:t>𝐴𝐷</m:t>
                      </m:r>
                      <m:r>
                        <a:rPr lang="en-US" sz="3600" i="1" dirty="0" smtClean="0">
                          <a:latin typeface="Cambria Math" panose="02040503050406030204" pitchFamily="18" charset="0"/>
                        </a:rPr>
                        <m:t>=</m:t>
                      </m:r>
                      <m:r>
                        <a:rPr lang="en-US" sz="3600" i="1" dirty="0" smtClean="0">
                          <a:latin typeface="Cambria Math" panose="02040503050406030204" pitchFamily="18" charset="0"/>
                        </a:rPr>
                        <m:t>𝐶</m:t>
                      </m:r>
                      <m:r>
                        <a:rPr lang="en-US" sz="3600" i="1" dirty="0" smtClean="0">
                          <a:latin typeface="Cambria Math" panose="02040503050406030204" pitchFamily="18" charset="0"/>
                        </a:rPr>
                        <m:t>+</m:t>
                      </m:r>
                      <m:r>
                        <a:rPr lang="en-US" sz="3600" i="1" dirty="0" smtClean="0">
                          <a:latin typeface="Cambria Math" panose="02040503050406030204" pitchFamily="18" charset="0"/>
                        </a:rPr>
                        <m:t>𝐼</m:t>
                      </m:r>
                      <m:r>
                        <a:rPr lang="en-US" sz="3600" i="1" dirty="0" smtClean="0">
                          <a:latin typeface="Cambria Math" panose="02040503050406030204" pitchFamily="18" charset="0"/>
                        </a:rPr>
                        <m:t>+</m:t>
                      </m:r>
                      <m:r>
                        <a:rPr lang="en-US" sz="3600" i="1" dirty="0" smtClean="0">
                          <a:latin typeface="Cambria Math" panose="02040503050406030204" pitchFamily="18" charset="0"/>
                        </a:rPr>
                        <m:t>𝐺</m:t>
                      </m:r>
                      <m:r>
                        <a:rPr lang="en-US" sz="3600" i="1" dirty="0" smtClean="0">
                          <a:latin typeface="Cambria Math" panose="02040503050406030204" pitchFamily="18" charset="0"/>
                        </a:rPr>
                        <m:t>+</m:t>
                      </m:r>
                      <m:r>
                        <a:rPr lang="en-US" sz="3600" i="1" dirty="0" smtClean="0">
                          <a:latin typeface="Cambria Math" panose="02040503050406030204" pitchFamily="18" charset="0"/>
                        </a:rPr>
                        <m:t>𝑋</m:t>
                      </m:r>
                      <m:r>
                        <a:rPr lang="en-US" sz="3600" i="1" dirty="0" smtClean="0">
                          <a:latin typeface="Cambria Math" panose="02040503050406030204" pitchFamily="18" charset="0"/>
                        </a:rPr>
                        <m:t>−</m:t>
                      </m:r>
                      <m:r>
                        <a:rPr lang="en-US" sz="3600" i="1" dirty="0" smtClean="0">
                          <a:latin typeface="Cambria Math" panose="02040503050406030204" pitchFamily="18" charset="0"/>
                        </a:rPr>
                        <m:t>𝑀</m:t>
                      </m:r>
                    </m:oMath>
                  </m:oMathPara>
                </a14:m>
                <a:endParaRPr lang="en-US" sz="3600" dirty="0" smtClean="0"/>
              </a:p>
              <a:p>
                <a:pPr marL="822960" lvl="3" indent="0">
                  <a:buNone/>
                </a:pPr>
                <a14:m>
                  <m:oMathPara xmlns:m="http://schemas.openxmlformats.org/officeDocument/2006/math">
                    <m:oMathParaPr>
                      <m:jc m:val="centerGroup"/>
                    </m:oMathParaPr>
                    <m:oMath xmlns:m="http://schemas.openxmlformats.org/officeDocument/2006/math">
                      <m:r>
                        <a:rPr lang="en-US" sz="3600" i="1" dirty="0" smtClean="0">
                          <a:latin typeface="Cambria Math" panose="02040503050406030204" pitchFamily="18" charset="0"/>
                        </a:rPr>
                        <m:t>𝐴𝑆</m:t>
                      </m:r>
                      <m:r>
                        <a:rPr lang="en-US" sz="3600" i="1" dirty="0" smtClean="0">
                          <a:latin typeface="Cambria Math" panose="02040503050406030204" pitchFamily="18" charset="0"/>
                        </a:rPr>
                        <m:t>=</m:t>
                      </m:r>
                      <m:r>
                        <a:rPr lang="en-US" sz="3600" i="1" dirty="0" smtClean="0">
                          <a:latin typeface="Cambria Math" panose="02040503050406030204" pitchFamily="18" charset="0"/>
                        </a:rPr>
                        <m:t>𝐶</m:t>
                      </m:r>
                      <m:r>
                        <a:rPr lang="en-US" sz="3600" i="1" dirty="0" smtClean="0">
                          <a:latin typeface="Cambria Math" panose="02040503050406030204" pitchFamily="18" charset="0"/>
                        </a:rPr>
                        <m:t>+</m:t>
                      </m:r>
                      <m:r>
                        <a:rPr lang="en-US" sz="3600" i="1" dirty="0" smtClean="0">
                          <a:latin typeface="Cambria Math" panose="02040503050406030204" pitchFamily="18" charset="0"/>
                        </a:rPr>
                        <m:t>𝑆</m:t>
                      </m:r>
                      <m:r>
                        <a:rPr lang="en-US" sz="3600" i="1" dirty="0" smtClean="0">
                          <a:latin typeface="Cambria Math" panose="02040503050406030204" pitchFamily="18" charset="0"/>
                        </a:rPr>
                        <m:t>+</m:t>
                      </m:r>
                      <m:r>
                        <a:rPr lang="en-US" sz="3600" i="1" dirty="0" smtClean="0">
                          <a:latin typeface="Cambria Math" panose="02040503050406030204" pitchFamily="18" charset="0"/>
                        </a:rPr>
                        <m:t>𝑇</m:t>
                      </m:r>
                      <m:r>
                        <a:rPr lang="en-US" sz="3600" i="1" dirty="0" smtClean="0">
                          <a:latin typeface="Cambria Math" panose="02040503050406030204" pitchFamily="18" charset="0"/>
                        </a:rPr>
                        <m:t>+</m:t>
                      </m:r>
                      <m:r>
                        <a:rPr lang="en-US" sz="3600" i="1" dirty="0" smtClean="0">
                          <a:latin typeface="Cambria Math" panose="02040503050406030204" pitchFamily="18" charset="0"/>
                        </a:rPr>
                        <m:t>𝑋</m:t>
                      </m:r>
                      <m:r>
                        <a:rPr lang="en-US" sz="3600" i="1" dirty="0" smtClean="0">
                          <a:latin typeface="Cambria Math" panose="02040503050406030204" pitchFamily="18" charset="0"/>
                        </a:rPr>
                        <m:t>−</m:t>
                      </m:r>
                      <m:r>
                        <a:rPr lang="en-US" sz="3600" i="1" dirty="0" smtClean="0">
                          <a:latin typeface="Cambria Math" panose="02040503050406030204" pitchFamily="18" charset="0"/>
                        </a:rPr>
                        <m:t>𝑀</m:t>
                      </m:r>
                      <m:r>
                        <a:rPr lang="en-US" sz="3600" i="1" dirty="0" smtClean="0">
                          <a:latin typeface="Cambria Math" panose="02040503050406030204" pitchFamily="18" charset="0"/>
                        </a:rPr>
                        <m:t> </m:t>
                      </m:r>
                    </m:oMath>
                  </m:oMathPara>
                </a14:m>
                <a:endParaRPr lang="en-US" sz="3600" dirty="0" smtClean="0"/>
              </a:p>
              <a:p>
                <a:r>
                  <a:rPr lang="en-US" sz="3600" dirty="0" smtClean="0"/>
                  <a:t>He also explains why high labour market unemployment might not be self correcting due to low effective demand. Cause of the Great Depression.</a:t>
                </a:r>
              </a:p>
              <a:p>
                <a:pPr algn="just"/>
                <a:endParaRPr lang="en-US" sz="3600"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90600"/>
                <a:ext cx="8229600" cy="5334000"/>
              </a:xfrm>
              <a:blipFill rotWithShape="0">
                <a:blip r:embed="rId3"/>
                <a:stretch>
                  <a:fillRect l="-2074" t="-2857" b="-2743"/>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28</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84"/>
            <a:ext cx="8030684" cy="990600"/>
          </a:xfrm>
        </p:spPr>
        <p:txBody>
          <a:bodyPr>
            <a:normAutofit/>
          </a:bodyPr>
          <a:lstStyle/>
          <a:p>
            <a:pPr fontAlgn="auto">
              <a:spcAft>
                <a:spcPts val="0"/>
              </a:spcAft>
              <a:defRPr/>
            </a:pPr>
            <a:r>
              <a:rPr lang="en-US" b="1" dirty="0" smtClean="0">
                <a:solidFill>
                  <a:srgbClr val="002060"/>
                </a:solidFill>
              </a:rPr>
              <a:t>Neo Classical Economics</a:t>
            </a:r>
            <a:endParaRPr lang="en-US" dirty="0">
              <a:solidFill>
                <a:srgbClr val="002060"/>
              </a:solidFill>
            </a:endParaRPr>
          </a:p>
        </p:txBody>
      </p:sp>
      <p:sp>
        <p:nvSpPr>
          <p:cNvPr id="10243" name="Content Placeholder 2"/>
          <p:cNvSpPr>
            <a:spLocks noGrp="1"/>
          </p:cNvSpPr>
          <p:nvPr>
            <p:ph idx="1"/>
          </p:nvPr>
        </p:nvSpPr>
        <p:spPr>
          <a:xfrm>
            <a:off x="381000" y="762000"/>
            <a:ext cx="8001000" cy="6096000"/>
          </a:xfrm>
        </p:spPr>
        <p:txBody>
          <a:bodyPr>
            <a:noAutofit/>
          </a:bodyPr>
          <a:lstStyle/>
          <a:p>
            <a:r>
              <a:rPr lang="en-US" sz="3600" dirty="0" smtClean="0"/>
              <a:t>Also known as </a:t>
            </a:r>
            <a:r>
              <a:rPr lang="en-US" sz="3600" b="1" dirty="0" err="1" smtClean="0"/>
              <a:t>Marginalism</a:t>
            </a:r>
            <a:r>
              <a:rPr lang="en-US" sz="3600" b="1" dirty="0" smtClean="0"/>
              <a:t>.</a:t>
            </a:r>
          </a:p>
          <a:p>
            <a:r>
              <a:rPr lang="en-US" sz="3600" dirty="0" smtClean="0"/>
              <a:t>systemized </a:t>
            </a:r>
            <a:r>
              <a:rPr lang="en-US" sz="3600" b="1" dirty="0" smtClean="0"/>
              <a:t>supply </a:t>
            </a:r>
            <a:r>
              <a:rPr lang="en-US" sz="3600" dirty="0" smtClean="0"/>
              <a:t>and</a:t>
            </a:r>
            <a:r>
              <a:rPr lang="en-US" sz="3600" b="1" dirty="0" smtClean="0"/>
              <a:t> demand</a:t>
            </a:r>
            <a:r>
              <a:rPr lang="en-US" sz="3600" dirty="0" smtClean="0"/>
              <a:t> as a joint determinant  of price and quantity in market equilibrium.</a:t>
            </a:r>
          </a:p>
          <a:p>
            <a:r>
              <a:rPr lang="en-US" sz="3600" dirty="0" smtClean="0"/>
              <a:t>Neo-classical Economists represent incentives and costs as playing a fundamental role in shaping economic agents’ decision making.</a:t>
            </a:r>
          </a:p>
        </p:txBody>
      </p:sp>
      <p:sp>
        <p:nvSpPr>
          <p:cNvPr id="6" name="Footer Placeholder 5"/>
          <p:cNvSpPr>
            <a:spLocks noGrp="1"/>
          </p:cNvSpPr>
          <p:nvPr>
            <p:ph type="ftr" sz="quarter" idx="11"/>
          </p:nvPr>
        </p:nvSpPr>
        <p:spPr>
          <a:xfrm>
            <a:off x="2170173" y="6324600"/>
            <a:ext cx="4710623" cy="533400"/>
          </a:xfrm>
        </p:spPr>
        <p:txBody>
          <a:bodyPr/>
          <a:lstStyle/>
          <a:p>
            <a:pPr>
              <a:defRPr/>
            </a:pPr>
            <a:r>
              <a:rPr lang="en-US" dirty="0" smtClean="0"/>
              <a:t>Oyugi Nyanjong'</a:t>
            </a:r>
            <a:endParaRPr lang="en-US" dirty="0"/>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29</a:t>
            </a:fld>
            <a:endParaRPr lang="en-US"/>
          </a:p>
        </p:txBody>
      </p:sp>
    </p:spTree>
  </p:cSld>
  <p:clrMapOvr>
    <a:masterClrMapping/>
  </p:clrMapOvr>
  <p:transition>
    <p:wheel spokes="1"/>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pPr fontAlgn="auto">
              <a:spcAft>
                <a:spcPts val="0"/>
              </a:spcAft>
              <a:defRPr/>
            </a:pPr>
            <a:r>
              <a:rPr lang="en-US" dirty="0" smtClean="0"/>
              <a:t>Demand &amp; supply curves</a:t>
            </a:r>
            <a:endParaRPr lang="en-US"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30</a:t>
            </a:fld>
            <a:endParaRPr lang="en-US"/>
          </a:p>
        </p:txBody>
      </p:sp>
      <p:pic>
        <p:nvPicPr>
          <p:cNvPr id="15363" name="Picture 3" descr="C:\Users\Oyugi\Desktop\EQ.png"/>
          <p:cNvPicPr>
            <a:picLocks noChangeAspect="1" noChangeArrowheads="1"/>
          </p:cNvPicPr>
          <p:nvPr/>
        </p:nvPicPr>
        <p:blipFill>
          <a:blip r:embed="rId3"/>
          <a:srcRect/>
          <a:stretch>
            <a:fillRect/>
          </a:stretch>
        </p:blipFill>
        <p:spPr bwMode="auto">
          <a:xfrm>
            <a:off x="698500" y="990600"/>
            <a:ext cx="7226299" cy="545465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wipe(down)">
                                      <p:cBhvr>
                                        <p:cTn id="7" dur="1450">
                                          <p:stCondLst>
                                            <p:cond delay="0"/>
                                          </p:stCondLst>
                                        </p:cTn>
                                        <p:tgtEl>
                                          <p:spTgt spid="15363"/>
                                        </p:tgtEl>
                                      </p:cBhvr>
                                    </p:animEffect>
                                    <p:anim calcmode="lin" valueType="num">
                                      <p:cBhvr>
                                        <p:cTn id="8" dur="4555" tmFilter="0,0; 0.14,0.36; 0.43,0.73; 0.71,0.91; 1.0,1.0">
                                          <p:stCondLst>
                                            <p:cond delay="0"/>
                                          </p:stCondLst>
                                        </p:cTn>
                                        <p:tgtEl>
                                          <p:spTgt spid="15363"/>
                                        </p:tgtEl>
                                        <p:attrNameLst>
                                          <p:attrName>ppt_x</p:attrName>
                                        </p:attrNameLst>
                                      </p:cBhvr>
                                      <p:tavLst>
                                        <p:tav tm="0">
                                          <p:val>
                                            <p:strVal val="#ppt_x-0.25"/>
                                          </p:val>
                                        </p:tav>
                                        <p:tav tm="100000">
                                          <p:val>
                                            <p:strVal val="#ppt_x"/>
                                          </p:val>
                                        </p:tav>
                                      </p:tavLst>
                                    </p:anim>
                                    <p:anim calcmode="lin" valueType="num">
                                      <p:cBhvr>
                                        <p:cTn id="9" dur="1660" tmFilter="0.0,0.0; 0.25,0.07; 0.50,0.2; 0.75,0.467; 1.0,1.0">
                                          <p:stCondLst>
                                            <p:cond delay="0"/>
                                          </p:stCondLst>
                                        </p:cTn>
                                        <p:tgtEl>
                                          <p:spTgt spid="15363"/>
                                        </p:tgtEl>
                                        <p:attrNameLst>
                                          <p:attrName>ppt_y</p:attrName>
                                        </p:attrNameLst>
                                      </p:cBhvr>
                                      <p:tavLst>
                                        <p:tav tm="0" fmla="#ppt_y-sin(pi*$)/3">
                                          <p:val>
                                            <p:fltVal val="0.5"/>
                                          </p:val>
                                        </p:tav>
                                        <p:tav tm="100000">
                                          <p:val>
                                            <p:fltVal val="1"/>
                                          </p:val>
                                        </p:tav>
                                      </p:tavLst>
                                    </p:anim>
                                    <p:anim calcmode="lin" valueType="num">
                                      <p:cBhvr>
                                        <p:cTn id="10" dur="1660" tmFilter="0, 0; 0.125,0.2665; 0.25,0.4; 0.375,0.465; 0.5,0.5;  0.625,0.535; 0.75,0.6; 0.875,0.7335; 1,1">
                                          <p:stCondLst>
                                            <p:cond delay="1660"/>
                                          </p:stCondLst>
                                        </p:cTn>
                                        <p:tgtEl>
                                          <p:spTgt spid="15363"/>
                                        </p:tgtEl>
                                        <p:attrNameLst>
                                          <p:attrName>ppt_y</p:attrName>
                                        </p:attrNameLst>
                                      </p:cBhvr>
                                      <p:tavLst>
                                        <p:tav tm="0" fmla="#ppt_y-sin(pi*$)/9">
                                          <p:val>
                                            <p:fltVal val="0"/>
                                          </p:val>
                                        </p:tav>
                                        <p:tav tm="100000">
                                          <p:val>
                                            <p:fltVal val="1"/>
                                          </p:val>
                                        </p:tav>
                                      </p:tavLst>
                                    </p:anim>
                                    <p:anim calcmode="lin" valueType="num">
                                      <p:cBhvr>
                                        <p:cTn id="11" dur="830" tmFilter="0, 0; 0.125,0.2665; 0.25,0.4; 0.375,0.465; 0.5,0.5;  0.625,0.535; 0.75,0.6; 0.875,0.7335; 1,1">
                                          <p:stCondLst>
                                            <p:cond delay="3310"/>
                                          </p:stCondLst>
                                        </p:cTn>
                                        <p:tgtEl>
                                          <p:spTgt spid="15363"/>
                                        </p:tgtEl>
                                        <p:attrNameLst>
                                          <p:attrName>ppt_y</p:attrName>
                                        </p:attrNameLst>
                                      </p:cBhvr>
                                      <p:tavLst>
                                        <p:tav tm="0" fmla="#ppt_y-sin(pi*$)/27">
                                          <p:val>
                                            <p:fltVal val="0"/>
                                          </p:val>
                                        </p:tav>
                                        <p:tav tm="100000">
                                          <p:val>
                                            <p:fltVal val="1"/>
                                          </p:val>
                                        </p:tav>
                                      </p:tavLst>
                                    </p:anim>
                                    <p:anim calcmode="lin" valueType="num">
                                      <p:cBhvr>
                                        <p:cTn id="12" dur="410" tmFilter="0, 0; 0.125,0.2665; 0.25,0.4; 0.375,0.465; 0.5,0.5;  0.625,0.535; 0.75,0.6; 0.875,0.7335; 1,1">
                                          <p:stCondLst>
                                            <p:cond delay="4140"/>
                                          </p:stCondLst>
                                        </p:cTn>
                                        <p:tgtEl>
                                          <p:spTgt spid="15363"/>
                                        </p:tgtEl>
                                        <p:attrNameLst>
                                          <p:attrName>ppt_y</p:attrName>
                                        </p:attrNameLst>
                                      </p:cBhvr>
                                      <p:tavLst>
                                        <p:tav tm="0" fmla="#ppt_y-sin(pi*$)/81">
                                          <p:val>
                                            <p:fltVal val="0"/>
                                          </p:val>
                                        </p:tav>
                                        <p:tav tm="100000">
                                          <p:val>
                                            <p:fltVal val="1"/>
                                          </p:val>
                                        </p:tav>
                                      </p:tavLst>
                                    </p:anim>
                                    <p:animScale>
                                      <p:cBhvr>
                                        <p:cTn id="13" dur="65">
                                          <p:stCondLst>
                                            <p:cond delay="1625"/>
                                          </p:stCondLst>
                                        </p:cTn>
                                        <p:tgtEl>
                                          <p:spTgt spid="15363"/>
                                        </p:tgtEl>
                                      </p:cBhvr>
                                      <p:to x="100000" y="60000"/>
                                    </p:animScale>
                                    <p:animScale>
                                      <p:cBhvr>
                                        <p:cTn id="14" dur="415" decel="50000">
                                          <p:stCondLst>
                                            <p:cond delay="1690"/>
                                          </p:stCondLst>
                                        </p:cTn>
                                        <p:tgtEl>
                                          <p:spTgt spid="15363"/>
                                        </p:tgtEl>
                                      </p:cBhvr>
                                      <p:to x="100000" y="100000"/>
                                    </p:animScale>
                                    <p:animScale>
                                      <p:cBhvr>
                                        <p:cTn id="15" dur="65">
                                          <p:stCondLst>
                                            <p:cond delay="3280"/>
                                          </p:stCondLst>
                                        </p:cTn>
                                        <p:tgtEl>
                                          <p:spTgt spid="15363"/>
                                        </p:tgtEl>
                                      </p:cBhvr>
                                      <p:to x="100000" y="80000"/>
                                    </p:animScale>
                                    <p:animScale>
                                      <p:cBhvr>
                                        <p:cTn id="16" dur="415" decel="50000">
                                          <p:stCondLst>
                                            <p:cond delay="3345"/>
                                          </p:stCondLst>
                                        </p:cTn>
                                        <p:tgtEl>
                                          <p:spTgt spid="15363"/>
                                        </p:tgtEl>
                                      </p:cBhvr>
                                      <p:to x="100000" y="100000"/>
                                    </p:animScale>
                                    <p:animScale>
                                      <p:cBhvr>
                                        <p:cTn id="17" dur="65">
                                          <p:stCondLst>
                                            <p:cond delay="4105"/>
                                          </p:stCondLst>
                                        </p:cTn>
                                        <p:tgtEl>
                                          <p:spTgt spid="15363"/>
                                        </p:tgtEl>
                                      </p:cBhvr>
                                      <p:to x="100000" y="90000"/>
                                    </p:animScale>
                                    <p:animScale>
                                      <p:cBhvr>
                                        <p:cTn id="18" dur="415" decel="50000">
                                          <p:stCondLst>
                                            <p:cond delay="4170"/>
                                          </p:stCondLst>
                                        </p:cTn>
                                        <p:tgtEl>
                                          <p:spTgt spid="15363"/>
                                        </p:tgtEl>
                                      </p:cBhvr>
                                      <p:to x="100000" y="100000"/>
                                    </p:animScale>
                                    <p:animScale>
                                      <p:cBhvr>
                                        <p:cTn id="19" dur="65">
                                          <p:stCondLst>
                                            <p:cond delay="4520"/>
                                          </p:stCondLst>
                                        </p:cTn>
                                        <p:tgtEl>
                                          <p:spTgt spid="15363"/>
                                        </p:tgtEl>
                                      </p:cBhvr>
                                      <p:to x="100000" y="95000"/>
                                    </p:animScale>
                                    <p:animScale>
                                      <p:cBhvr>
                                        <p:cTn id="20" dur="415" decel="50000">
                                          <p:stCondLst>
                                            <p:cond delay="4585"/>
                                          </p:stCondLst>
                                        </p:cTn>
                                        <p:tgtEl>
                                          <p:spTgt spid="1536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42594"/>
            <a:ext cx="8107680" cy="805206"/>
          </a:xfrm>
        </p:spPr>
        <p:txBody>
          <a:bodyPr/>
          <a:lstStyle/>
          <a:p>
            <a:r>
              <a:rPr lang="en-US" dirty="0">
                <a:solidFill>
                  <a:srgbClr val="002060"/>
                </a:solidFill>
              </a:rPr>
              <a:t>Neo Classical </a:t>
            </a:r>
            <a:r>
              <a:rPr lang="en-US" dirty="0" smtClean="0">
                <a:solidFill>
                  <a:srgbClr val="002060"/>
                </a:solidFill>
              </a:rPr>
              <a:t>Economics </a:t>
            </a:r>
            <a:r>
              <a:rPr lang="en-US" sz="2400" i="1" dirty="0" smtClean="0">
                <a:solidFill>
                  <a:srgbClr val="002060"/>
                </a:solidFill>
              </a:rPr>
              <a:t>continued</a:t>
            </a:r>
            <a:endParaRPr lang="en-US" sz="2400" i="1" dirty="0"/>
          </a:p>
        </p:txBody>
      </p:sp>
      <p:sp>
        <p:nvSpPr>
          <p:cNvPr id="3" name="Content Placeholder 2"/>
          <p:cNvSpPr>
            <a:spLocks noGrp="1"/>
          </p:cNvSpPr>
          <p:nvPr>
            <p:ph idx="1"/>
          </p:nvPr>
        </p:nvSpPr>
        <p:spPr>
          <a:xfrm>
            <a:off x="304800" y="1600200"/>
            <a:ext cx="8615862" cy="4434840"/>
          </a:xfrm>
        </p:spPr>
        <p:txBody>
          <a:bodyPr>
            <a:noAutofit/>
          </a:bodyPr>
          <a:lstStyle/>
          <a:p>
            <a:r>
              <a:rPr lang="en-US" sz="3200" dirty="0" smtClean="0"/>
              <a:t>Whereas Keynes argued for “more government” involvement in the market, NCE like Milton Friedman argued the opposite (Less Government)</a:t>
            </a:r>
          </a:p>
          <a:p>
            <a:r>
              <a:rPr lang="en-US" sz="3200" dirty="0" smtClean="0"/>
              <a:t>Further, they argued that solutions to economic crises should target monetary policies (money supply, interest rates) rather than fiscal policies (taxes, public expenditure) as argued by Keynes.</a:t>
            </a:r>
            <a:endParaRPr lang="en-US" sz="32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31</a:t>
            </a:fld>
            <a:endParaRPr lang="en-US"/>
          </a:p>
        </p:txBody>
      </p:sp>
    </p:spTree>
    <p:extLst>
      <p:ext uri="{BB962C8B-B14F-4D97-AF65-F5344CB8AC3E}">
        <p14:creationId xmlns:p14="http://schemas.microsoft.com/office/powerpoint/2010/main" val="4152598413"/>
      </p:ext>
    </p:extLst>
  </p:cSld>
  <p:clrMapOvr>
    <a:masterClrMapping/>
  </p:clrMapOvr>
  <p:transition>
    <p:wheel spokes="1"/>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81000"/>
            <a:ext cx="8189142" cy="838200"/>
          </a:xfrm>
        </p:spPr>
        <p:txBody>
          <a:bodyPr>
            <a:normAutofit fontScale="90000"/>
          </a:bodyPr>
          <a:lstStyle/>
          <a:p>
            <a:pPr algn="ctr"/>
            <a:r>
              <a:rPr lang="en-US" dirty="0">
                <a:solidFill>
                  <a:srgbClr val="002060"/>
                </a:solidFill>
              </a:rPr>
              <a:t>Neo Classical </a:t>
            </a:r>
            <a:r>
              <a:rPr lang="en-US" dirty="0" smtClean="0">
                <a:solidFill>
                  <a:srgbClr val="002060"/>
                </a:solidFill>
              </a:rPr>
              <a:t>Economics: </a:t>
            </a:r>
            <a:br>
              <a:rPr lang="en-US" dirty="0" smtClean="0">
                <a:solidFill>
                  <a:srgbClr val="002060"/>
                </a:solidFill>
              </a:rPr>
            </a:br>
            <a:r>
              <a:rPr lang="en-US" sz="2400" i="1" dirty="0" smtClean="0">
                <a:solidFill>
                  <a:srgbClr val="002060"/>
                </a:solidFill>
              </a:rPr>
              <a:t>Notable NCE Economists</a:t>
            </a:r>
            <a:endParaRPr lang="en-US" sz="2400" i="1" dirty="0"/>
          </a:p>
        </p:txBody>
      </p:sp>
      <p:sp>
        <p:nvSpPr>
          <p:cNvPr id="3" name="Content Placeholder 2"/>
          <p:cNvSpPr>
            <a:spLocks noGrp="1"/>
          </p:cNvSpPr>
          <p:nvPr>
            <p:ph idx="1"/>
          </p:nvPr>
        </p:nvSpPr>
        <p:spPr>
          <a:xfrm>
            <a:off x="228600" y="1219200"/>
            <a:ext cx="8610600" cy="4815840"/>
          </a:xfrm>
        </p:spPr>
        <p:txBody>
          <a:bodyPr>
            <a:noAutofit/>
          </a:bodyPr>
          <a:lstStyle/>
          <a:p>
            <a:r>
              <a:rPr lang="en-US" sz="2800" dirty="0" smtClean="0"/>
              <a:t>William Jevons: Introduced the mathematical method in economics (The General Theory of Mathematical Economics, 1862)</a:t>
            </a:r>
          </a:p>
          <a:p>
            <a:r>
              <a:rPr lang="en-US" sz="2800" dirty="0" smtClean="0"/>
              <a:t>Alfred Marshall: Originator of demand, supply curves framework. Modelling…</a:t>
            </a:r>
          </a:p>
          <a:p>
            <a:r>
              <a:rPr lang="en-US" sz="2800" dirty="0" smtClean="0"/>
              <a:t>Carl </a:t>
            </a:r>
            <a:r>
              <a:rPr lang="en-US" sz="2800" dirty="0" err="1" smtClean="0"/>
              <a:t>Menger</a:t>
            </a:r>
            <a:r>
              <a:rPr lang="en-US" sz="2800" dirty="0" smtClean="0"/>
              <a:t>: Founder of Australian School of Economics. (</a:t>
            </a:r>
            <a:r>
              <a:rPr lang="en-US" sz="2800" dirty="0" err="1" smtClean="0"/>
              <a:t>def</a:t>
            </a:r>
            <a:r>
              <a:rPr lang="en-US" sz="2800" dirty="0" smtClean="0"/>
              <a:t>: </a:t>
            </a:r>
            <a:r>
              <a:rPr lang="en-US" sz="2800" dirty="0"/>
              <a:t>social phenomena result exclusively from the motivations and actions of </a:t>
            </a:r>
            <a:r>
              <a:rPr lang="en-US" sz="2800" dirty="0" smtClean="0"/>
              <a:t>individuals)…</a:t>
            </a:r>
          </a:p>
          <a:p>
            <a:r>
              <a:rPr lang="en-US" sz="2800" dirty="0" smtClean="0"/>
              <a:t>Leon Walrus: </a:t>
            </a:r>
            <a:r>
              <a:rPr lang="en-US" sz="2800" smtClean="0"/>
              <a:t>Pioneered marginal </a:t>
            </a:r>
            <a:r>
              <a:rPr lang="en-US" sz="2800" dirty="0" smtClean="0"/>
              <a:t>theory of value and general equilibrium theory.. </a:t>
            </a:r>
            <a:endParaRPr lang="en-US" sz="28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32</a:t>
            </a:fld>
            <a:endParaRPr lang="en-US"/>
          </a:p>
        </p:txBody>
      </p:sp>
    </p:spTree>
    <p:extLst>
      <p:ext uri="{BB962C8B-B14F-4D97-AF65-F5344CB8AC3E}">
        <p14:creationId xmlns:p14="http://schemas.microsoft.com/office/powerpoint/2010/main" val="3326421110"/>
      </p:ext>
    </p:extLst>
  </p:cSld>
  <p:clrMapOvr>
    <a:masterClrMapping/>
  </p:clrMapOvr>
  <p:transition>
    <p:wheel spokes="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458200" cy="1066800"/>
          </a:xfrm>
        </p:spPr>
        <p:txBody>
          <a:bodyPr>
            <a:normAutofit/>
          </a:bodyPr>
          <a:lstStyle/>
          <a:p>
            <a:pPr algn="ctr"/>
            <a:r>
              <a:rPr lang="en-US" dirty="0" smtClean="0"/>
              <a:t>Neo-classical economics: </a:t>
            </a:r>
            <a:br>
              <a:rPr lang="en-US" dirty="0" smtClean="0"/>
            </a:br>
            <a:r>
              <a:rPr lang="en-US" sz="2200" i="1" dirty="0" smtClean="0"/>
              <a:t>2 Main differences with classical economics</a:t>
            </a:r>
            <a:endParaRPr lang="en-US" sz="2200" i="1" dirty="0"/>
          </a:p>
        </p:txBody>
      </p:sp>
      <p:sp>
        <p:nvSpPr>
          <p:cNvPr id="3" name="Content Placeholder 2"/>
          <p:cNvSpPr>
            <a:spLocks noGrp="1"/>
          </p:cNvSpPr>
          <p:nvPr>
            <p:ph idx="1"/>
          </p:nvPr>
        </p:nvSpPr>
        <p:spPr/>
        <p:txBody>
          <a:bodyPr>
            <a:noAutofit/>
          </a:bodyPr>
          <a:lstStyle/>
          <a:p>
            <a:r>
              <a:rPr lang="en-US" sz="3600" dirty="0" smtClean="0"/>
              <a:t>In NCE, the value of a good is derived from consumers' utility, rather than costs, as in classical economics…</a:t>
            </a:r>
          </a:p>
          <a:p>
            <a:r>
              <a:rPr lang="en-US" sz="3600" dirty="0" smtClean="0"/>
              <a:t>Focus shift from supply side economics to demand side economics.</a:t>
            </a:r>
            <a:endParaRPr lang="en-US" sz="36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33</a:t>
            </a:fld>
            <a:endParaRPr lang="en-US"/>
          </a:p>
        </p:txBody>
      </p:sp>
    </p:spTree>
    <p:extLst>
      <p:ext uri="{BB962C8B-B14F-4D97-AF65-F5344CB8AC3E}">
        <p14:creationId xmlns:p14="http://schemas.microsoft.com/office/powerpoint/2010/main" val="3897722401"/>
      </p:ext>
    </p:extLst>
  </p:cSld>
  <p:clrMapOvr>
    <a:masterClrMapping/>
  </p:clrMapOvr>
  <p:transition>
    <p:wheel spokes="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228600"/>
            <a:ext cx="7680960" cy="1143000"/>
          </a:xfrm>
        </p:spPr>
        <p:txBody>
          <a:bodyPr/>
          <a:lstStyle/>
          <a:p>
            <a:r>
              <a:rPr lang="en-US" dirty="0" smtClean="0"/>
              <a:t>Key NCE assumptions</a:t>
            </a:r>
            <a:endParaRPr lang="en-US" dirty="0"/>
          </a:p>
        </p:txBody>
      </p:sp>
      <p:sp>
        <p:nvSpPr>
          <p:cNvPr id="3" name="Content Placeholder 2"/>
          <p:cNvSpPr>
            <a:spLocks noGrp="1"/>
          </p:cNvSpPr>
          <p:nvPr>
            <p:ph idx="1"/>
          </p:nvPr>
        </p:nvSpPr>
        <p:spPr>
          <a:xfrm>
            <a:off x="381000" y="1371600"/>
            <a:ext cx="8031480" cy="4937760"/>
          </a:xfrm>
        </p:spPr>
        <p:txBody>
          <a:bodyPr>
            <a:normAutofit/>
          </a:bodyPr>
          <a:lstStyle/>
          <a:p>
            <a:pPr marL="514350" indent="-514350">
              <a:buFont typeface="+mj-lt"/>
              <a:buAutoNum type="arabicPeriod"/>
            </a:pPr>
            <a:r>
              <a:rPr lang="en-US" sz="3200" dirty="0" smtClean="0"/>
              <a:t>Rational expectations: </a:t>
            </a:r>
            <a:r>
              <a:rPr lang="en-US" sz="3200" dirty="0"/>
              <a:t>People </a:t>
            </a:r>
            <a:r>
              <a:rPr lang="en-US" sz="3200" dirty="0" smtClean="0"/>
              <a:t>have </a:t>
            </a:r>
            <a:r>
              <a:rPr lang="en-US" sz="3200" dirty="0" smtClean="0">
                <a:solidFill>
                  <a:srgbClr val="FF0000"/>
                </a:solidFill>
              </a:rPr>
              <a:t>rational preferences</a:t>
            </a:r>
            <a:r>
              <a:rPr lang="en-US" sz="3200" dirty="0"/>
              <a:t> between outcomes that can be identified and associated with values.</a:t>
            </a:r>
          </a:p>
          <a:p>
            <a:pPr marL="514350" indent="-514350">
              <a:buFont typeface="+mj-lt"/>
              <a:buAutoNum type="arabicPeriod"/>
            </a:pPr>
            <a:r>
              <a:rPr lang="en-US" sz="3200" smtClean="0"/>
              <a:t>Economic agents' objects: </a:t>
            </a:r>
            <a:r>
              <a:rPr lang="en-US" sz="3200" dirty="0" smtClean="0">
                <a:solidFill>
                  <a:srgbClr val="FF0000"/>
                </a:solidFill>
              </a:rPr>
              <a:t>Profits</a:t>
            </a:r>
            <a:r>
              <a:rPr lang="en-US" sz="3200" dirty="0" smtClean="0"/>
              <a:t> and </a:t>
            </a:r>
            <a:r>
              <a:rPr lang="en-US" sz="3200" dirty="0" smtClean="0">
                <a:solidFill>
                  <a:srgbClr val="FF0000"/>
                </a:solidFill>
              </a:rPr>
              <a:t>utility</a:t>
            </a:r>
            <a:r>
              <a:rPr lang="en-US" sz="3200" dirty="0" smtClean="0"/>
              <a:t> maximization.</a:t>
            </a:r>
          </a:p>
          <a:p>
            <a:pPr marL="514350" indent="-514350">
              <a:buFont typeface="+mj-lt"/>
              <a:buAutoNum type="arabicPeriod"/>
            </a:pPr>
            <a:r>
              <a:rPr lang="en-US" sz="3200" dirty="0" smtClean="0"/>
              <a:t>Perfect information: </a:t>
            </a:r>
            <a:r>
              <a:rPr lang="en-US" sz="3200" dirty="0"/>
              <a:t>People act independently on the basis of </a:t>
            </a:r>
            <a:r>
              <a:rPr lang="en-US" sz="3200" dirty="0" smtClean="0">
                <a:solidFill>
                  <a:srgbClr val="FF0000"/>
                </a:solidFill>
              </a:rPr>
              <a:t>full and relevant information.</a:t>
            </a:r>
            <a:endParaRPr lang="en-US" sz="3200" dirty="0">
              <a:solidFill>
                <a:srgbClr val="FF0000"/>
              </a:solidFill>
            </a:endParaRPr>
          </a:p>
          <a:p>
            <a:pPr marL="514350" indent="-514350">
              <a:buFont typeface="+mj-lt"/>
              <a:buAutoNum type="arabicPeriod"/>
            </a:pPr>
            <a:endParaRPr lang="en-US" sz="32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34</a:t>
            </a:fld>
            <a:endParaRPr lang="en-US"/>
          </a:p>
        </p:txBody>
      </p:sp>
    </p:spTree>
    <p:extLst>
      <p:ext uri="{BB962C8B-B14F-4D97-AF65-F5344CB8AC3E}">
        <p14:creationId xmlns:p14="http://schemas.microsoft.com/office/powerpoint/2010/main" val="52927355"/>
      </p:ext>
    </p:extLst>
  </p:cSld>
  <p:clrMapOvr>
    <a:masterClrMapping/>
  </p:clrMapOvr>
  <p:transition>
    <p:wheel spokes="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304800"/>
            <a:ext cx="7734300" cy="990600"/>
          </a:xfrm>
        </p:spPr>
        <p:txBody>
          <a:bodyPr>
            <a:normAutofit/>
          </a:bodyPr>
          <a:lstStyle/>
          <a:p>
            <a:r>
              <a:rPr lang="en-US" dirty="0" smtClean="0">
                <a:solidFill>
                  <a:srgbClr val="002060"/>
                </a:solidFill>
              </a:rPr>
              <a:t>The Art of Economic analysis</a:t>
            </a:r>
            <a:endParaRPr lang="en-US" dirty="0">
              <a:solidFill>
                <a:srgbClr val="002060"/>
              </a:solidFill>
            </a:endParaRPr>
          </a:p>
        </p:txBody>
      </p:sp>
      <p:sp>
        <p:nvSpPr>
          <p:cNvPr id="3" name="Content Placeholder 2"/>
          <p:cNvSpPr>
            <a:spLocks noGrp="1"/>
          </p:cNvSpPr>
          <p:nvPr>
            <p:ph idx="1"/>
          </p:nvPr>
        </p:nvSpPr>
        <p:spPr>
          <a:xfrm>
            <a:off x="381000" y="1295400"/>
            <a:ext cx="8077200" cy="4572000"/>
          </a:xfrm>
        </p:spPr>
        <p:txBody>
          <a:bodyPr>
            <a:normAutofit/>
          </a:bodyPr>
          <a:lstStyle/>
          <a:p>
            <a:r>
              <a:rPr lang="en-US" sz="5400" dirty="0" smtClean="0"/>
              <a:t>Assumption of Rationality</a:t>
            </a:r>
          </a:p>
          <a:p>
            <a:r>
              <a:rPr lang="en-US" sz="5400" i="1" dirty="0" smtClean="0"/>
              <a:t>Ceteris paribus </a:t>
            </a:r>
            <a:r>
              <a:rPr lang="en-US" sz="5400" dirty="0" smtClean="0"/>
              <a:t>Assumption</a:t>
            </a:r>
          </a:p>
          <a:p>
            <a:r>
              <a:rPr lang="en-US" sz="5400" dirty="0" smtClean="0"/>
              <a:t>Marginal Analysis</a:t>
            </a:r>
          </a:p>
          <a:p>
            <a:endParaRPr lang="en-US" sz="5400"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35</a:t>
            </a:fld>
            <a:endParaRPr lang="en-US"/>
          </a:p>
        </p:txBody>
      </p:sp>
    </p:spTree>
  </p:cSld>
  <p:clrMapOvr>
    <a:masterClrMapping/>
  </p:clrMapOvr>
  <p:transition>
    <p:wheel spokes="1"/>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153400" cy="990600"/>
          </a:xfrm>
        </p:spPr>
        <p:txBody>
          <a:bodyPr>
            <a:noAutofit/>
          </a:bodyPr>
          <a:lstStyle/>
          <a:p>
            <a:r>
              <a:rPr lang="en-US" sz="4800" dirty="0" smtClean="0"/>
              <a:t>Assumption of Rationality</a:t>
            </a:r>
            <a:br>
              <a:rPr lang="en-US" sz="4800" dirty="0" smtClean="0"/>
            </a:br>
            <a:endParaRPr lang="en-US" sz="4800" dirty="0"/>
          </a:p>
        </p:txBody>
      </p:sp>
      <p:sp>
        <p:nvSpPr>
          <p:cNvPr id="3" name="Content Placeholder 2"/>
          <p:cNvSpPr>
            <a:spLocks noGrp="1"/>
          </p:cNvSpPr>
          <p:nvPr>
            <p:ph idx="1"/>
          </p:nvPr>
        </p:nvSpPr>
        <p:spPr>
          <a:xfrm>
            <a:off x="152400" y="762000"/>
            <a:ext cx="8839200" cy="5407152"/>
          </a:xfrm>
        </p:spPr>
        <p:txBody>
          <a:bodyPr>
            <a:noAutofit/>
          </a:bodyPr>
          <a:lstStyle/>
          <a:p>
            <a:r>
              <a:rPr lang="en-US" sz="4000" dirty="0" smtClean="0">
                <a:solidFill>
                  <a:srgbClr val="002060"/>
                </a:solidFill>
              </a:rPr>
              <a:t>Economic agents are assumed to be </a:t>
            </a:r>
            <a:r>
              <a:rPr lang="en-US" sz="4000" b="1" dirty="0" smtClean="0">
                <a:solidFill>
                  <a:srgbClr val="FF0000"/>
                </a:solidFill>
              </a:rPr>
              <a:t>rational</a:t>
            </a:r>
            <a:r>
              <a:rPr lang="en-US" sz="4000" dirty="0" smtClean="0">
                <a:solidFill>
                  <a:srgbClr val="002060"/>
                </a:solidFill>
              </a:rPr>
              <a:t>, i.e. behave in a manner consistent with a set of rules governing preferences. </a:t>
            </a:r>
          </a:p>
          <a:p>
            <a:r>
              <a:rPr lang="en-US" sz="4000" dirty="0" smtClean="0">
                <a:solidFill>
                  <a:srgbClr val="002060"/>
                </a:solidFill>
              </a:rPr>
              <a:t>objective is for economic agent  to optimize or maximize their respective economic interests. </a:t>
            </a:r>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36</a:t>
            </a:fld>
            <a:endParaRPr lang="en-US"/>
          </a:p>
        </p:txBody>
      </p:sp>
    </p:spTree>
  </p:cSld>
  <p:clrMapOvr>
    <a:masterClrMapping/>
  </p:clrMapOvr>
  <p:transition>
    <p:wheel spokes="1"/>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dirty="0" smtClean="0"/>
              <a:t>Assumption of Rationality </a:t>
            </a:r>
            <a:r>
              <a:rPr lang="en-US" sz="2400" i="1" dirty="0" smtClean="0"/>
              <a:t>continued</a:t>
            </a:r>
            <a:endParaRPr lang="en-US" sz="2400" i="1" dirty="0"/>
          </a:p>
        </p:txBody>
      </p:sp>
      <p:sp>
        <p:nvSpPr>
          <p:cNvPr id="3" name="Content Placeholder 2"/>
          <p:cNvSpPr>
            <a:spLocks noGrp="1"/>
          </p:cNvSpPr>
          <p:nvPr>
            <p:ph idx="1"/>
          </p:nvPr>
        </p:nvSpPr>
        <p:spPr>
          <a:xfrm>
            <a:off x="152400" y="1295400"/>
            <a:ext cx="8991600" cy="5181600"/>
          </a:xfrm>
        </p:spPr>
        <p:txBody>
          <a:bodyPr>
            <a:normAutofit fontScale="92500" lnSpcReduction="10000"/>
          </a:bodyPr>
          <a:lstStyle/>
          <a:p>
            <a:r>
              <a:rPr lang="en-US" sz="5200" dirty="0" smtClean="0"/>
              <a:t>consumers maximize their utility </a:t>
            </a:r>
            <a:r>
              <a:rPr lang="en-US" sz="5200" dirty="0" err="1" smtClean="0"/>
              <a:t>s.t.</a:t>
            </a:r>
            <a:r>
              <a:rPr lang="en-US" sz="5200" dirty="0" smtClean="0"/>
              <a:t> a budget constraint.</a:t>
            </a:r>
          </a:p>
          <a:p>
            <a:r>
              <a:rPr lang="en-US" sz="5200" dirty="0" smtClean="0"/>
              <a:t> producer’s  maximize profits </a:t>
            </a:r>
            <a:r>
              <a:rPr lang="en-US" sz="5200" dirty="0" err="1" smtClean="0"/>
              <a:t>s.t</a:t>
            </a:r>
            <a:r>
              <a:rPr lang="en-US" sz="5200" dirty="0" smtClean="0"/>
              <a:t>. factors such as the level of technology used and available factors.</a:t>
            </a:r>
          </a:p>
          <a:p>
            <a:endParaRPr lang="en-US" sz="4800"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37</a:t>
            </a:fld>
            <a:endParaRPr lang="en-US"/>
          </a:p>
        </p:txBody>
      </p:sp>
    </p:spTree>
  </p:cSld>
  <p:clrMapOvr>
    <a:masterClrMapping/>
  </p:clrMapOvr>
  <p:transition>
    <p:wheel spokes="1"/>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r>
              <a:rPr lang="en-US" i="1" dirty="0" smtClean="0">
                <a:solidFill>
                  <a:srgbClr val="002060"/>
                </a:solidFill>
              </a:rPr>
              <a:t>Ceteris Paribus </a:t>
            </a:r>
            <a:r>
              <a:rPr lang="en-US" dirty="0" smtClean="0">
                <a:solidFill>
                  <a:srgbClr val="002060"/>
                </a:solidFill>
              </a:rPr>
              <a:t>assumption</a:t>
            </a:r>
            <a:endParaRPr lang="en-US" dirty="0">
              <a:solidFill>
                <a:srgbClr val="002060"/>
              </a:solidFill>
            </a:endParaRPr>
          </a:p>
        </p:txBody>
      </p:sp>
      <p:sp>
        <p:nvSpPr>
          <p:cNvPr id="3" name="Content Placeholder 2"/>
          <p:cNvSpPr>
            <a:spLocks noGrp="1"/>
          </p:cNvSpPr>
          <p:nvPr>
            <p:ph idx="1"/>
          </p:nvPr>
        </p:nvSpPr>
        <p:spPr>
          <a:xfrm>
            <a:off x="228600" y="1143000"/>
            <a:ext cx="8305800" cy="5330952"/>
          </a:xfrm>
        </p:spPr>
        <p:txBody>
          <a:bodyPr>
            <a:normAutofit fontScale="92500" lnSpcReduction="10000"/>
          </a:bodyPr>
          <a:lstStyle/>
          <a:p>
            <a:r>
              <a:rPr lang="en-US" sz="4000" dirty="0" smtClean="0"/>
              <a:t>The economist’s laboratory is the real, complex world. In order to </a:t>
            </a:r>
            <a:r>
              <a:rPr lang="en-US" sz="4000" dirty="0" err="1" smtClean="0"/>
              <a:t>analyse</a:t>
            </a:r>
            <a:r>
              <a:rPr lang="en-US" sz="4000" dirty="0" smtClean="0"/>
              <a:t>, for example the effect of price changes on the demand of a commodity, the other determinant of demand necessarily are assumed not to change. This is so as to validate the magnitude, if any, of the change in price on demand. </a:t>
            </a:r>
          </a:p>
          <a:p>
            <a:pPr algn="just"/>
            <a:endParaRPr lang="en-US" sz="4000"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38</a:t>
            </a:fld>
            <a:endParaRPr lang="en-US"/>
          </a:p>
        </p:txBody>
      </p:sp>
    </p:spTree>
  </p:cSld>
  <p:clrMapOvr>
    <a:masterClrMapping/>
  </p:clrMapOvr>
  <p:transition>
    <p:wheel spokes="1"/>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65238"/>
          </a:xfrm>
        </p:spPr>
        <p:txBody>
          <a:bodyPr>
            <a:noAutofit/>
          </a:bodyPr>
          <a:lstStyle/>
          <a:p>
            <a:r>
              <a:rPr lang="en-US" dirty="0" smtClean="0">
                <a:solidFill>
                  <a:srgbClr val="002060"/>
                </a:solidFill>
              </a:rPr>
              <a:t>Ceteris Paribus assumption </a:t>
            </a:r>
            <a:r>
              <a:rPr lang="en-US" sz="2400" i="1" dirty="0" smtClean="0">
                <a:solidFill>
                  <a:srgbClr val="002060"/>
                </a:solidFill>
              </a:rPr>
              <a:t>continued</a:t>
            </a:r>
            <a:endParaRPr lang="en-US" sz="2400" i="1" dirty="0">
              <a:solidFill>
                <a:srgbClr val="002060"/>
              </a:solidFill>
            </a:endParaRPr>
          </a:p>
        </p:txBody>
      </p:sp>
      <p:sp>
        <p:nvSpPr>
          <p:cNvPr id="3" name="Content Placeholder 2"/>
          <p:cNvSpPr>
            <a:spLocks noGrp="1"/>
          </p:cNvSpPr>
          <p:nvPr>
            <p:ph idx="1"/>
          </p:nvPr>
        </p:nvSpPr>
        <p:spPr>
          <a:xfrm>
            <a:off x="228600" y="1219200"/>
            <a:ext cx="8458200" cy="5257800"/>
          </a:xfrm>
        </p:spPr>
        <p:txBody>
          <a:bodyPr>
            <a:noAutofit/>
          </a:bodyPr>
          <a:lstStyle/>
          <a:p>
            <a:r>
              <a:rPr lang="en-US" sz="4800" dirty="0" smtClean="0"/>
              <a:t>The assumption of “</a:t>
            </a:r>
            <a:r>
              <a:rPr lang="en-US" sz="4800" dirty="0" smtClean="0">
                <a:solidFill>
                  <a:srgbClr val="FF0000"/>
                </a:solidFill>
              </a:rPr>
              <a:t>keeping all other factors constant</a:t>
            </a:r>
            <a:r>
              <a:rPr lang="en-US" sz="4800" dirty="0" smtClean="0"/>
              <a:t>” is known as the </a:t>
            </a:r>
            <a:r>
              <a:rPr lang="en-US" sz="4800" i="1" dirty="0" smtClean="0"/>
              <a:t>Ceteris paribus </a:t>
            </a:r>
            <a:r>
              <a:rPr lang="en-US" sz="4800" dirty="0" smtClean="0"/>
              <a:t>assumption, and is a key plank in the analysis of most economic phenomena.</a:t>
            </a:r>
            <a:endParaRPr lang="en-US" sz="4800"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39</a:t>
            </a:fld>
            <a:endParaRPr lang="en-US"/>
          </a:p>
        </p:txBody>
      </p:sp>
    </p:spTree>
  </p:cSld>
  <p:clrMapOvr>
    <a:masterClrMapping/>
  </p:clrMapOvr>
  <p:transition>
    <p:wheel spokes="1"/>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lstStyle/>
          <a:p>
            <a:r>
              <a:rPr lang="en-US" dirty="0" smtClean="0"/>
              <a:t>Marginal analysis</a:t>
            </a:r>
            <a:endParaRPr lang="en-US" dirty="0"/>
          </a:p>
        </p:txBody>
      </p:sp>
      <p:sp>
        <p:nvSpPr>
          <p:cNvPr id="3" name="Content Placeholder 2"/>
          <p:cNvSpPr>
            <a:spLocks noGrp="1"/>
          </p:cNvSpPr>
          <p:nvPr>
            <p:ph idx="1"/>
          </p:nvPr>
        </p:nvSpPr>
        <p:spPr>
          <a:xfrm>
            <a:off x="228600" y="1219200"/>
            <a:ext cx="8692062" cy="5257800"/>
          </a:xfrm>
        </p:spPr>
        <p:txBody>
          <a:bodyPr>
            <a:normAutofit fontScale="92500" lnSpcReduction="20000"/>
          </a:bodyPr>
          <a:lstStyle/>
          <a:p>
            <a:r>
              <a:rPr lang="en-US" sz="3200" dirty="0" smtClean="0"/>
              <a:t>Key plank in economic analysis/economic methodology/decision making.</a:t>
            </a:r>
          </a:p>
          <a:p>
            <a:r>
              <a:rPr lang="en-US" sz="3200" dirty="0" smtClean="0"/>
              <a:t>Given two economic variables, say x and y, marginal analysis attempts to measure the effect a unit change in one variable (x, say) has on the other variable, y. </a:t>
            </a:r>
          </a:p>
          <a:p>
            <a:r>
              <a:rPr lang="en-US" sz="3200" dirty="0" smtClean="0"/>
              <a:t>When analyzed in terms of proportional changes, such marginal effects are referred to as elasticities</a:t>
            </a:r>
          </a:p>
          <a:p>
            <a:r>
              <a:rPr lang="en-US" sz="3200" dirty="0" smtClean="0"/>
              <a:t>Converse argument also true.</a:t>
            </a:r>
          </a:p>
          <a:p>
            <a:r>
              <a:rPr lang="en-US" sz="3200" dirty="0" smtClean="0"/>
              <a:t>A rational decision maker will take the choice only when MB&gt;MC</a:t>
            </a:r>
            <a:endParaRPr lang="en-US" sz="32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40</a:t>
            </a:fld>
            <a:endParaRPr lang="en-US"/>
          </a:p>
        </p:txBody>
      </p:sp>
    </p:spTree>
    <p:extLst>
      <p:ext uri="{BB962C8B-B14F-4D97-AF65-F5344CB8AC3E}">
        <p14:creationId xmlns:p14="http://schemas.microsoft.com/office/powerpoint/2010/main" val="234714499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heel(1)">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heel(1)">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228600"/>
            <a:ext cx="7200900" cy="1066800"/>
          </a:xfrm>
        </p:spPr>
        <p:txBody>
          <a:bodyPr>
            <a:normAutofit fontScale="90000"/>
          </a:bodyPr>
          <a:lstStyle/>
          <a:p>
            <a:r>
              <a:rPr lang="en-US" dirty="0" smtClean="0">
                <a:solidFill>
                  <a:srgbClr val="002060"/>
                </a:solidFill>
              </a:rPr>
              <a:t>Science of Economic Analysis</a:t>
            </a:r>
            <a:endParaRPr lang="en-US" dirty="0">
              <a:solidFill>
                <a:srgbClr val="002060"/>
              </a:solidFill>
            </a:endParaRPr>
          </a:p>
        </p:txBody>
      </p:sp>
      <p:sp>
        <p:nvSpPr>
          <p:cNvPr id="3" name="Content Placeholder 2"/>
          <p:cNvSpPr>
            <a:spLocks noGrp="1"/>
          </p:cNvSpPr>
          <p:nvPr>
            <p:ph idx="1"/>
          </p:nvPr>
        </p:nvSpPr>
        <p:spPr>
          <a:xfrm>
            <a:off x="1028700" y="1143000"/>
            <a:ext cx="7962900" cy="4724400"/>
          </a:xfrm>
        </p:spPr>
        <p:txBody>
          <a:bodyPr>
            <a:normAutofit lnSpcReduction="10000"/>
          </a:bodyPr>
          <a:lstStyle/>
          <a:p>
            <a:r>
              <a:rPr lang="en-US" sz="6000" dirty="0" smtClean="0"/>
              <a:t>Theories</a:t>
            </a:r>
          </a:p>
          <a:p>
            <a:r>
              <a:rPr lang="en-US" sz="6000" dirty="0" smtClean="0"/>
              <a:t>Economic Models</a:t>
            </a:r>
          </a:p>
          <a:p>
            <a:r>
              <a:rPr lang="en-US" sz="6000" dirty="0" smtClean="0"/>
              <a:t>Economic Predictions</a:t>
            </a:r>
          </a:p>
          <a:p>
            <a:r>
              <a:rPr lang="en-US" sz="6000" dirty="0" smtClean="0"/>
              <a:t>Economic Forecasts</a:t>
            </a:r>
          </a:p>
          <a:p>
            <a:endParaRPr lang="en-US"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41</a:t>
            </a:fld>
            <a:endParaRPr lang="en-US"/>
          </a:p>
        </p:txBody>
      </p:sp>
    </p:spTree>
    <p:extLst>
      <p:ext uri="{BB962C8B-B14F-4D97-AF65-F5344CB8AC3E}">
        <p14:creationId xmlns:p14="http://schemas.microsoft.com/office/powerpoint/2010/main" val="2864923731"/>
      </p:ext>
    </p:extLst>
  </p:cSld>
  <p:clrMapOvr>
    <a:masterClrMapping/>
  </p:clrMapOvr>
  <p:transition>
    <p:wheel spokes="1"/>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228600"/>
            <a:ext cx="7200900" cy="1066800"/>
          </a:xfrm>
        </p:spPr>
        <p:txBody>
          <a:bodyPr>
            <a:normAutofit fontScale="90000"/>
          </a:bodyPr>
          <a:lstStyle/>
          <a:p>
            <a:r>
              <a:rPr lang="en-US" dirty="0" smtClean="0">
                <a:solidFill>
                  <a:srgbClr val="FF0000"/>
                </a:solidFill>
              </a:rPr>
              <a:t>Economic Research/Analysis</a:t>
            </a:r>
            <a:endParaRPr lang="en-US" dirty="0">
              <a:solidFill>
                <a:srgbClr val="FF0000"/>
              </a:solidFill>
            </a:endParaRPr>
          </a:p>
        </p:txBody>
      </p:sp>
      <p:sp>
        <p:nvSpPr>
          <p:cNvPr id="3" name="Content Placeholder 2"/>
          <p:cNvSpPr>
            <a:spLocks noGrp="1"/>
          </p:cNvSpPr>
          <p:nvPr>
            <p:ph idx="1"/>
          </p:nvPr>
        </p:nvSpPr>
        <p:spPr>
          <a:xfrm>
            <a:off x="457200" y="990600"/>
            <a:ext cx="8686800" cy="4876800"/>
          </a:xfrm>
        </p:spPr>
        <p:txBody>
          <a:bodyPr>
            <a:normAutofit lnSpcReduction="10000"/>
          </a:bodyPr>
          <a:lstStyle/>
          <a:p>
            <a:r>
              <a:rPr lang="en-US" sz="8000" dirty="0" smtClean="0"/>
              <a:t>Positive Economics</a:t>
            </a:r>
          </a:p>
          <a:p>
            <a:r>
              <a:rPr lang="en-US" sz="8000" dirty="0" smtClean="0"/>
              <a:t>Normative Economics</a:t>
            </a:r>
            <a:endParaRPr lang="en-US" sz="8000"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42</a:t>
            </a:fld>
            <a:endParaRPr lang="en-US"/>
          </a:p>
        </p:txBody>
      </p:sp>
    </p:spTree>
  </p:cSld>
  <p:clrMapOvr>
    <a:masterClrMapping/>
  </p:clrMapOvr>
  <p:transition>
    <p:wheel spokes="1"/>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0"/>
            <a:ext cx="8229600" cy="990600"/>
          </a:xfrm>
        </p:spPr>
        <p:txBody>
          <a:bodyPr/>
          <a:lstStyle/>
          <a:p>
            <a:r>
              <a:rPr lang="en-US" b="1" dirty="0" smtClean="0">
                <a:solidFill>
                  <a:srgbClr val="002060"/>
                </a:solidFill>
              </a:rPr>
              <a:t>Positive Economics</a:t>
            </a:r>
            <a:endParaRPr lang="en-US" dirty="0" smtClean="0">
              <a:solidFill>
                <a:srgbClr val="002060"/>
              </a:solidFill>
            </a:endParaRPr>
          </a:p>
        </p:txBody>
      </p:sp>
      <p:sp>
        <p:nvSpPr>
          <p:cNvPr id="14339" name="Content Placeholder 2"/>
          <p:cNvSpPr>
            <a:spLocks noGrp="1"/>
          </p:cNvSpPr>
          <p:nvPr>
            <p:ph idx="1"/>
          </p:nvPr>
        </p:nvSpPr>
        <p:spPr>
          <a:xfrm>
            <a:off x="304800" y="990600"/>
            <a:ext cx="8382000" cy="5486400"/>
          </a:xfrm>
        </p:spPr>
        <p:txBody>
          <a:bodyPr>
            <a:normAutofit fontScale="92500"/>
          </a:bodyPr>
          <a:lstStyle/>
          <a:p>
            <a:r>
              <a:rPr lang="en-US" sz="4000" dirty="0" smtClean="0"/>
              <a:t>Attempts to understand economics </a:t>
            </a:r>
            <a:r>
              <a:rPr lang="en-US" sz="4000" dirty="0" err="1" smtClean="0"/>
              <a:t>behaviour</a:t>
            </a:r>
            <a:r>
              <a:rPr lang="en-US" sz="4000" dirty="0" smtClean="0"/>
              <a:t> and the operation of economic systems,  </a:t>
            </a:r>
            <a:r>
              <a:rPr lang="en-US" sz="4000" b="1" dirty="0" smtClean="0"/>
              <a:t>without </a:t>
            </a:r>
            <a:r>
              <a:rPr lang="en-US" sz="4000" dirty="0" smtClean="0"/>
              <a:t>ascribing </a:t>
            </a:r>
            <a:r>
              <a:rPr lang="en-US" sz="4000" b="1" dirty="0" smtClean="0"/>
              <a:t>value judgment</a:t>
            </a:r>
            <a:r>
              <a:rPr lang="en-US" sz="4000" dirty="0" smtClean="0"/>
              <a:t>.</a:t>
            </a:r>
          </a:p>
          <a:p>
            <a:r>
              <a:rPr lang="en-US" sz="4000" dirty="0" smtClean="0"/>
              <a:t>Asks the “What is” questions.</a:t>
            </a:r>
          </a:p>
          <a:p>
            <a:r>
              <a:rPr lang="en-US" sz="4000" dirty="0" smtClean="0"/>
              <a:t> It attempts to describe economic phenomena as they are,  what exists and how they work.</a:t>
            </a:r>
          </a:p>
          <a:p>
            <a:endParaRPr lang="en-US" dirty="0" smtClean="0"/>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43</a:t>
            </a:fld>
            <a:endParaRPr lang="en-US"/>
          </a:p>
        </p:txBody>
      </p:sp>
    </p:spTree>
  </p:cSld>
  <p:clrMapOvr>
    <a:masterClrMapping/>
  </p:clrMapOvr>
  <p:transition>
    <p:wheel spokes="1"/>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152400"/>
            <a:ext cx="8229600" cy="1524000"/>
          </a:xfrm>
        </p:spPr>
        <p:txBody>
          <a:bodyPr/>
          <a:lstStyle/>
          <a:p>
            <a:r>
              <a:rPr lang="en-US" b="1" dirty="0" smtClean="0"/>
              <a:t>Positive Economics</a:t>
            </a:r>
            <a:endParaRPr lang="en-US" dirty="0" smtClean="0"/>
          </a:p>
        </p:txBody>
      </p:sp>
      <p:sp>
        <p:nvSpPr>
          <p:cNvPr id="15363" name="Content Placeholder 2"/>
          <p:cNvSpPr>
            <a:spLocks noGrp="1"/>
          </p:cNvSpPr>
          <p:nvPr>
            <p:ph idx="1"/>
          </p:nvPr>
        </p:nvSpPr>
        <p:spPr>
          <a:xfrm>
            <a:off x="76200" y="1066800"/>
            <a:ext cx="8610600" cy="5410200"/>
          </a:xfrm>
        </p:spPr>
        <p:txBody>
          <a:bodyPr>
            <a:normAutofit fontScale="85000" lnSpcReduction="20000"/>
          </a:bodyPr>
          <a:lstStyle/>
          <a:p>
            <a:r>
              <a:rPr lang="en-US" sz="4300" dirty="0" smtClean="0"/>
              <a:t>Examples of Positivistic Questions</a:t>
            </a:r>
            <a:r>
              <a:rPr lang="en-US" sz="3600" dirty="0" smtClean="0"/>
              <a:t>: </a:t>
            </a:r>
          </a:p>
          <a:p>
            <a:pPr lvl="1"/>
            <a:r>
              <a:rPr lang="en-US" sz="4000" dirty="0" smtClean="0"/>
              <a:t>What is Kenya’s GDP, GNP?</a:t>
            </a:r>
          </a:p>
          <a:p>
            <a:pPr lvl="1"/>
            <a:r>
              <a:rPr lang="en-US" sz="4000" dirty="0" smtClean="0"/>
              <a:t>What is the average income level in Kenya?</a:t>
            </a:r>
          </a:p>
          <a:p>
            <a:pPr lvl="1"/>
            <a:r>
              <a:rPr lang="en-US" sz="4000" dirty="0" smtClean="0"/>
              <a:t>What would happen if income tax was abolished?</a:t>
            </a:r>
          </a:p>
          <a:p>
            <a:pPr lvl="1"/>
            <a:r>
              <a:rPr lang="en-US" sz="4000" dirty="0" smtClean="0"/>
              <a:t>What is KK economic policy?</a:t>
            </a:r>
          </a:p>
          <a:p>
            <a:pPr lvl="4"/>
            <a:r>
              <a:rPr lang="en-US" sz="3000" dirty="0" smtClean="0"/>
              <a:t>Bottom up, Hustler fund, etc.</a:t>
            </a:r>
          </a:p>
          <a:p>
            <a:pPr lvl="1"/>
            <a:r>
              <a:rPr lang="en-US" sz="4000" dirty="0" smtClean="0"/>
              <a:t>Is Kenya food secure?</a:t>
            </a:r>
          </a:p>
          <a:p>
            <a:pPr lvl="3"/>
            <a:r>
              <a:rPr lang="en-US" sz="3800" dirty="0" smtClean="0"/>
              <a:t>4 dimensions (accessibility, affordability, acceptability, stability, utility).</a:t>
            </a:r>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44</a:t>
            </a:fld>
            <a:endParaRPr lang="en-US"/>
          </a:p>
        </p:txBody>
      </p:sp>
    </p:spTree>
  </p:cSld>
  <p:clrMapOvr>
    <a:masterClrMapping/>
  </p:clrMapOvr>
  <p:transition>
    <p:wheel spokes="1"/>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pPr fontAlgn="auto">
              <a:spcAft>
                <a:spcPts val="0"/>
              </a:spcAft>
              <a:defRPr/>
            </a:pPr>
            <a:r>
              <a:rPr lang="en-US" b="1" dirty="0" smtClean="0">
                <a:solidFill>
                  <a:srgbClr val="002060"/>
                </a:solidFill>
              </a:rPr>
              <a:t>Normative Economics </a:t>
            </a:r>
            <a:endParaRPr lang="en-US" dirty="0">
              <a:solidFill>
                <a:srgbClr val="002060"/>
              </a:solidFill>
            </a:endParaRPr>
          </a:p>
        </p:txBody>
      </p:sp>
      <p:sp>
        <p:nvSpPr>
          <p:cNvPr id="16387" name="Content Placeholder 2"/>
          <p:cNvSpPr>
            <a:spLocks noGrp="1"/>
          </p:cNvSpPr>
          <p:nvPr>
            <p:ph idx="1"/>
          </p:nvPr>
        </p:nvSpPr>
        <p:spPr>
          <a:xfrm>
            <a:off x="538662" y="838200"/>
            <a:ext cx="8382000" cy="5181600"/>
          </a:xfrm>
        </p:spPr>
        <p:txBody>
          <a:bodyPr>
            <a:noAutofit/>
          </a:bodyPr>
          <a:lstStyle/>
          <a:p>
            <a:r>
              <a:rPr lang="en-US" sz="3600" dirty="0" smtClean="0"/>
              <a:t>Looks at the outcomes of economic </a:t>
            </a:r>
            <a:r>
              <a:rPr lang="en-US" sz="3600" dirty="0" err="1" smtClean="0"/>
              <a:t>behaviour,and</a:t>
            </a:r>
            <a:r>
              <a:rPr lang="en-US" sz="3600" dirty="0" smtClean="0"/>
              <a:t> asks whether the outcomes are good or bad and whether they can be bettered i.e. it asks the “what ought to be” question.</a:t>
            </a:r>
          </a:p>
          <a:p>
            <a:r>
              <a:rPr lang="en-US" sz="3600" dirty="0" smtClean="0"/>
              <a:t>Also known as “Policy Economics”</a:t>
            </a:r>
          </a:p>
          <a:p>
            <a:r>
              <a:rPr lang="en-US" sz="3600" dirty="0" smtClean="0"/>
              <a:t>involves attaching </a:t>
            </a:r>
            <a:r>
              <a:rPr lang="en-US" sz="3600" b="1" dirty="0" smtClean="0"/>
              <a:t>value judgments </a:t>
            </a:r>
            <a:r>
              <a:rPr lang="en-US" sz="3600" dirty="0" smtClean="0"/>
              <a:t>and</a:t>
            </a:r>
            <a:r>
              <a:rPr lang="en-US" sz="3600" b="1" dirty="0" smtClean="0"/>
              <a:t> prescriptions for courses of action.</a:t>
            </a:r>
          </a:p>
          <a:p>
            <a:endParaRPr lang="en-US" sz="4000"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45</a:t>
            </a:fld>
            <a:endParaRPr lang="en-US"/>
          </a:p>
        </p:txBody>
      </p:sp>
    </p:spTree>
  </p:cSld>
  <p:clrMapOvr>
    <a:masterClrMapping/>
  </p:clrMapOvr>
  <p:transition>
    <p:wheel spokes="1"/>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rmAutofit fontScale="90000"/>
          </a:bodyPr>
          <a:lstStyle/>
          <a:p>
            <a:pPr fontAlgn="auto">
              <a:spcAft>
                <a:spcPts val="0"/>
              </a:spcAft>
              <a:defRPr/>
            </a:pPr>
            <a:r>
              <a:rPr lang="en-US" b="1" dirty="0" smtClean="0"/>
              <a:t>Normative Economics </a:t>
            </a:r>
            <a:r>
              <a:rPr lang="en-US" sz="2700" i="1" dirty="0"/>
              <a:t>continued</a:t>
            </a:r>
            <a:endParaRPr lang="en-US" sz="2700" dirty="0"/>
          </a:p>
        </p:txBody>
      </p:sp>
      <p:sp>
        <p:nvSpPr>
          <p:cNvPr id="17411" name="Content Placeholder 2"/>
          <p:cNvSpPr>
            <a:spLocks noGrp="1"/>
          </p:cNvSpPr>
          <p:nvPr>
            <p:ph idx="1"/>
          </p:nvPr>
        </p:nvSpPr>
        <p:spPr>
          <a:xfrm>
            <a:off x="228600" y="1066800"/>
            <a:ext cx="8458200" cy="5257800"/>
          </a:xfrm>
        </p:spPr>
        <p:txBody>
          <a:bodyPr>
            <a:normAutofit fontScale="92500" lnSpcReduction="20000"/>
          </a:bodyPr>
          <a:lstStyle/>
          <a:p>
            <a:r>
              <a:rPr lang="en-US" sz="4300" dirty="0" smtClean="0"/>
              <a:t>Examples of Normative questions:</a:t>
            </a:r>
          </a:p>
          <a:p>
            <a:pPr lvl="1"/>
            <a:r>
              <a:rPr lang="en-US" sz="3600" dirty="0" smtClean="0"/>
              <a:t>What policies should the </a:t>
            </a:r>
            <a:r>
              <a:rPr lang="en-US" sz="3600" dirty="0" err="1" smtClean="0"/>
              <a:t>govt</a:t>
            </a:r>
            <a:r>
              <a:rPr lang="en-US" sz="3600" dirty="0" smtClean="0"/>
              <a:t> employ to guarantee optimal GDP, GNP?</a:t>
            </a:r>
          </a:p>
          <a:p>
            <a:pPr lvl="1"/>
            <a:r>
              <a:rPr lang="en-US" sz="3600" dirty="0" smtClean="0"/>
              <a:t>Should the </a:t>
            </a:r>
            <a:r>
              <a:rPr lang="en-US" sz="3600" dirty="0" err="1" smtClean="0"/>
              <a:t>govt</a:t>
            </a:r>
            <a:r>
              <a:rPr lang="en-US" sz="3600" dirty="0" smtClean="0"/>
              <a:t> concentrate on policies targeted at higher income levels?</a:t>
            </a:r>
          </a:p>
          <a:p>
            <a:pPr lvl="1"/>
            <a:r>
              <a:rPr lang="en-US" sz="3600" dirty="0" smtClean="0"/>
              <a:t>Should MPs pay taxes?</a:t>
            </a:r>
          </a:p>
          <a:p>
            <a:pPr lvl="1"/>
            <a:r>
              <a:rPr lang="en-US" sz="3600" dirty="0" smtClean="0"/>
              <a:t>How can Kenya guarantee food security?</a:t>
            </a:r>
          </a:p>
          <a:p>
            <a:pPr lvl="1"/>
            <a:r>
              <a:rPr lang="en-US" sz="3600" dirty="0" smtClean="0"/>
              <a:t>Is 500/= enough for Hustler Fund?</a:t>
            </a:r>
          </a:p>
          <a:p>
            <a:endParaRPr lang="en-US" sz="3200"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46</a:t>
            </a:fld>
            <a:endParaRPr lang="en-US"/>
          </a:p>
        </p:txBody>
      </p:sp>
    </p:spTree>
  </p:cSld>
  <p:clrMapOvr>
    <a:masterClrMapping/>
  </p:clrMapOvr>
  <p:transition>
    <p:wheel spokes="1"/>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a:bodyPr>
          <a:lstStyle/>
          <a:p>
            <a:pPr fontAlgn="auto">
              <a:spcAft>
                <a:spcPts val="0"/>
              </a:spcAft>
              <a:defRPr/>
            </a:pPr>
            <a:r>
              <a:rPr lang="en-US" b="1" dirty="0" smtClean="0"/>
              <a:t>Normative Economics </a:t>
            </a:r>
            <a:r>
              <a:rPr lang="en-US" sz="2400" i="1" dirty="0"/>
              <a:t>continued</a:t>
            </a:r>
            <a:endParaRPr lang="en-US" sz="2400" dirty="0"/>
          </a:p>
        </p:txBody>
      </p:sp>
      <p:sp>
        <p:nvSpPr>
          <p:cNvPr id="3" name="Content Placeholder 2"/>
          <p:cNvSpPr>
            <a:spLocks noGrp="1"/>
          </p:cNvSpPr>
          <p:nvPr>
            <p:ph idx="1"/>
          </p:nvPr>
        </p:nvSpPr>
        <p:spPr>
          <a:xfrm>
            <a:off x="0" y="990600"/>
            <a:ext cx="8686800" cy="5486400"/>
          </a:xfrm>
        </p:spPr>
        <p:txBody>
          <a:bodyPr>
            <a:normAutofit lnSpcReduction="10000"/>
          </a:bodyPr>
          <a:lstStyle/>
          <a:p>
            <a:pPr marL="274320" indent="-274320" fontAlgn="auto">
              <a:spcAft>
                <a:spcPts val="0"/>
              </a:spcAft>
              <a:buClr>
                <a:schemeClr val="accent3"/>
              </a:buClr>
              <a:buFont typeface="Wingdings 2"/>
              <a:buChar char=""/>
              <a:defRPr/>
            </a:pPr>
            <a:r>
              <a:rPr lang="en-US" sz="4200" dirty="0" smtClean="0"/>
              <a:t>Most normative questions involve positivistic questions e.g. The question on whether MPs should pay taxes, necessarily involves economists asking  positivistic questions concerning  the benefits and costs of undertaking such decisions. </a:t>
            </a:r>
          </a:p>
          <a:p>
            <a:pPr marL="274320" indent="-274320" fontAlgn="auto">
              <a:spcAft>
                <a:spcPts val="0"/>
              </a:spcAft>
              <a:buClr>
                <a:schemeClr val="accent3"/>
              </a:buClr>
              <a:buFont typeface="Wingdings 2"/>
              <a:buChar char=""/>
              <a:defRPr/>
            </a:pPr>
            <a:endParaRPr lang="en-US" sz="4000" dirty="0" smtClean="0"/>
          </a:p>
          <a:p>
            <a:pPr marL="274320" indent="-274320" fontAlgn="auto">
              <a:spcAft>
                <a:spcPts val="0"/>
              </a:spcAft>
              <a:buClr>
                <a:schemeClr val="accent3"/>
              </a:buClr>
              <a:buFont typeface="Wingdings 2"/>
              <a:buChar char=""/>
              <a:defRPr/>
            </a:pPr>
            <a:endParaRPr lang="en-US"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47</a:t>
            </a:fld>
            <a:endParaRPr lang="en-US"/>
          </a:p>
        </p:txBody>
      </p:sp>
    </p:spTree>
  </p:cSld>
  <p:clrMapOvr>
    <a:masterClrMapping/>
  </p:clrMapOvr>
  <p:transition>
    <p:wheel spokes="1"/>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0"/>
            <a:ext cx="8689848" cy="1143000"/>
          </a:xfrm>
        </p:spPr>
        <p:txBody>
          <a:bodyPr>
            <a:normAutofit fontScale="90000"/>
          </a:bodyPr>
          <a:lstStyle/>
          <a:p>
            <a:pPr fontAlgn="auto">
              <a:spcAft>
                <a:spcPts val="0"/>
              </a:spcAft>
              <a:defRPr/>
            </a:pPr>
            <a:r>
              <a:rPr lang="en-US" b="1" dirty="0" smtClean="0">
                <a:solidFill>
                  <a:srgbClr val="002060"/>
                </a:solidFill>
              </a:rPr>
              <a:t/>
            </a:r>
            <a:br>
              <a:rPr lang="en-US" b="1" dirty="0" smtClean="0">
                <a:solidFill>
                  <a:srgbClr val="002060"/>
                </a:solidFill>
              </a:rPr>
            </a:br>
            <a:r>
              <a:rPr lang="en-US" b="1" dirty="0" smtClean="0">
                <a:solidFill>
                  <a:srgbClr val="002060"/>
                </a:solidFill>
              </a:rPr>
              <a:t> Central Economic Problem: </a:t>
            </a:r>
            <a:r>
              <a:rPr lang="en-US" sz="2700" i="1" dirty="0" smtClean="0">
                <a:solidFill>
                  <a:srgbClr val="002060"/>
                </a:solidFill>
              </a:rPr>
              <a:t>Scarcity, choice</a:t>
            </a:r>
            <a:endParaRPr lang="en-US" sz="2700" i="1" dirty="0">
              <a:solidFill>
                <a:srgbClr val="002060"/>
              </a:solidFill>
            </a:endParaRPr>
          </a:p>
        </p:txBody>
      </p:sp>
      <p:sp>
        <p:nvSpPr>
          <p:cNvPr id="3" name="Content Placeholder 2"/>
          <p:cNvSpPr>
            <a:spLocks noGrp="1"/>
          </p:cNvSpPr>
          <p:nvPr>
            <p:ph idx="1"/>
          </p:nvPr>
        </p:nvSpPr>
        <p:spPr>
          <a:xfrm>
            <a:off x="457200" y="1143000"/>
            <a:ext cx="8229600" cy="5334000"/>
          </a:xfrm>
        </p:spPr>
        <p:txBody>
          <a:bodyPr>
            <a:normAutofit/>
          </a:bodyPr>
          <a:lstStyle/>
          <a:p>
            <a:r>
              <a:rPr lang="en-US" sz="4800" dirty="0" smtClean="0"/>
              <a:t>The 3 basic questions facing  economic systems are:</a:t>
            </a:r>
          </a:p>
          <a:p>
            <a:r>
              <a:rPr lang="en-US" sz="4800" dirty="0" smtClean="0"/>
              <a:t>What gets produced?</a:t>
            </a:r>
          </a:p>
          <a:p>
            <a:r>
              <a:rPr lang="en-US" sz="4800" dirty="0" smtClean="0"/>
              <a:t>Who produces it?</a:t>
            </a:r>
          </a:p>
          <a:p>
            <a:r>
              <a:rPr lang="en-US" sz="4800" dirty="0" smtClean="0"/>
              <a:t>Who gets it</a:t>
            </a:r>
            <a:r>
              <a:rPr lang="en-US" sz="4800" dirty="0" smtClean="0"/>
              <a:t>?</a:t>
            </a:r>
            <a:endParaRPr lang="en-US" sz="3600" dirty="0" smtClean="0"/>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48</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fontScale="90000"/>
          </a:bodyPr>
          <a:lstStyle/>
          <a:p>
            <a:pPr fontAlgn="auto">
              <a:spcAft>
                <a:spcPts val="0"/>
              </a:spcAft>
              <a:defRPr/>
            </a:pPr>
            <a:r>
              <a:rPr lang="en-US" dirty="0" smtClean="0">
                <a:solidFill>
                  <a:srgbClr val="002060"/>
                </a:solidFill>
              </a:rPr>
              <a:t/>
            </a:r>
            <a:br>
              <a:rPr lang="en-US" dirty="0" smtClean="0">
                <a:solidFill>
                  <a:srgbClr val="002060"/>
                </a:solidFill>
              </a:rPr>
            </a:br>
            <a:r>
              <a:rPr lang="en-US" b="1" dirty="0" smtClean="0">
                <a:solidFill>
                  <a:srgbClr val="002060"/>
                </a:solidFill>
              </a:rPr>
              <a:t> Central Economic Problem: </a:t>
            </a:r>
            <a:r>
              <a:rPr lang="en-US" sz="2700" b="1" dirty="0" smtClean="0">
                <a:solidFill>
                  <a:srgbClr val="002060"/>
                </a:solidFill>
              </a:rPr>
              <a:t>Scarcity</a:t>
            </a:r>
            <a:endParaRPr lang="en-US" sz="2700" dirty="0">
              <a:solidFill>
                <a:srgbClr val="002060"/>
              </a:solidFill>
            </a:endParaRPr>
          </a:p>
        </p:txBody>
      </p:sp>
      <p:sp>
        <p:nvSpPr>
          <p:cNvPr id="3" name="Content Placeholder 2"/>
          <p:cNvSpPr>
            <a:spLocks noGrp="1"/>
          </p:cNvSpPr>
          <p:nvPr>
            <p:ph idx="1"/>
          </p:nvPr>
        </p:nvSpPr>
        <p:spPr>
          <a:xfrm>
            <a:off x="152400" y="1371600"/>
            <a:ext cx="8686800" cy="5229726"/>
          </a:xfrm>
        </p:spPr>
        <p:txBody>
          <a:bodyPr>
            <a:normAutofit lnSpcReduction="10000"/>
          </a:bodyPr>
          <a:lstStyle/>
          <a:p>
            <a:r>
              <a:rPr lang="en-US" sz="4000" b="1" dirty="0" smtClean="0"/>
              <a:t>Scarcity</a:t>
            </a:r>
            <a:r>
              <a:rPr lang="en-US" sz="4000" dirty="0" smtClean="0"/>
              <a:t> results from the fact that while human wants are unlimited, resources are finite, limited.</a:t>
            </a:r>
          </a:p>
          <a:p>
            <a:r>
              <a:rPr lang="en-US" sz="4000" dirty="0" smtClean="0"/>
              <a:t> Scarce resources force societies and individuals to choose among </a:t>
            </a:r>
            <a:r>
              <a:rPr lang="en-US" sz="4000" b="1" dirty="0" smtClean="0"/>
              <a:t>competing uses </a:t>
            </a:r>
            <a:r>
              <a:rPr lang="en-US" sz="4000" dirty="0" smtClean="0"/>
              <a:t>of resources and among </a:t>
            </a:r>
            <a:r>
              <a:rPr lang="en-US" sz="4000" b="1" dirty="0" smtClean="0"/>
              <a:t>alternative</a:t>
            </a:r>
            <a:r>
              <a:rPr lang="en-US" sz="4000" dirty="0" smtClean="0"/>
              <a:t> final distribution of what is produced amongst economic agents. </a:t>
            </a:r>
          </a:p>
          <a:p>
            <a:endParaRPr lang="en-US" sz="3200"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49</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868362"/>
          </a:xfrm>
        </p:spPr>
        <p:txBody>
          <a:bodyPr>
            <a:normAutofit/>
          </a:bodyPr>
          <a:lstStyle/>
          <a:p>
            <a:pPr fontAlgn="auto">
              <a:spcAft>
                <a:spcPts val="0"/>
              </a:spcAft>
              <a:defRPr/>
            </a:pPr>
            <a:r>
              <a:rPr lang="en-US" b="1" dirty="0" smtClean="0">
                <a:solidFill>
                  <a:srgbClr val="002060"/>
                </a:solidFill>
              </a:rPr>
              <a:t>Central Economic Problem : </a:t>
            </a:r>
            <a:r>
              <a:rPr lang="en-US" sz="2700" b="1" i="1" dirty="0" smtClean="0">
                <a:solidFill>
                  <a:srgbClr val="002060"/>
                </a:solidFill>
              </a:rPr>
              <a:t>choice</a:t>
            </a:r>
            <a:endParaRPr lang="en-US" sz="2700" i="1" dirty="0">
              <a:solidFill>
                <a:srgbClr val="002060"/>
              </a:solidFill>
            </a:endParaRPr>
          </a:p>
        </p:txBody>
      </p:sp>
      <p:sp>
        <p:nvSpPr>
          <p:cNvPr id="3" name="Content Placeholder 2"/>
          <p:cNvSpPr>
            <a:spLocks noGrp="1"/>
          </p:cNvSpPr>
          <p:nvPr>
            <p:ph idx="1"/>
          </p:nvPr>
        </p:nvSpPr>
        <p:spPr>
          <a:xfrm>
            <a:off x="152400" y="1219200"/>
            <a:ext cx="8915400" cy="5254752"/>
          </a:xfrm>
        </p:spPr>
        <p:txBody>
          <a:bodyPr>
            <a:noAutofit/>
          </a:bodyPr>
          <a:lstStyle/>
          <a:p>
            <a:pPr marL="274320" indent="-274320" fontAlgn="auto">
              <a:spcAft>
                <a:spcPts val="0"/>
              </a:spcAft>
              <a:buClr>
                <a:schemeClr val="accent3"/>
              </a:buClr>
              <a:buFont typeface="Wingdings 2"/>
              <a:buChar char=""/>
              <a:defRPr/>
            </a:pPr>
            <a:r>
              <a:rPr lang="en-US" sz="4000" dirty="0" smtClean="0"/>
              <a:t>Scarce </a:t>
            </a:r>
            <a:r>
              <a:rPr lang="en-US" sz="4000" dirty="0"/>
              <a:t>resources leads to </a:t>
            </a:r>
            <a:r>
              <a:rPr lang="en-US" sz="4000" b="1" dirty="0"/>
              <a:t>trade-offs</a:t>
            </a:r>
            <a:r>
              <a:rPr lang="en-US" sz="4000" dirty="0"/>
              <a:t> between 2 or more competing resources uses. Trade-offs imply that, given two competing </a:t>
            </a:r>
            <a:r>
              <a:rPr lang="en-US" sz="4000" dirty="0" smtClean="0"/>
              <a:t>goods, say X</a:t>
            </a:r>
            <a:r>
              <a:rPr lang="en-US" sz="4000" baseline="-25000" dirty="0" smtClean="0"/>
              <a:t>1</a:t>
            </a:r>
            <a:r>
              <a:rPr lang="en-US" sz="4000" dirty="0" smtClean="0"/>
              <a:t> </a:t>
            </a:r>
            <a:r>
              <a:rPr lang="en-US" sz="4000" dirty="0"/>
              <a:t>and </a:t>
            </a:r>
            <a:r>
              <a:rPr lang="en-US" sz="4000" dirty="0" smtClean="0"/>
              <a:t>X</a:t>
            </a:r>
            <a:r>
              <a:rPr lang="en-US" sz="4000" baseline="-25000" dirty="0" smtClean="0"/>
              <a:t>2</a:t>
            </a:r>
            <a:r>
              <a:rPr lang="en-US" sz="4000" dirty="0" smtClean="0"/>
              <a:t>, an </a:t>
            </a:r>
            <a:r>
              <a:rPr lang="en-US" sz="4000" dirty="0"/>
              <a:t>economic agent will only have more of good </a:t>
            </a:r>
            <a:r>
              <a:rPr lang="en-US" sz="4000" dirty="0" smtClean="0"/>
              <a:t>X</a:t>
            </a:r>
            <a:r>
              <a:rPr lang="en-US" sz="4000" baseline="-25000" dirty="0" smtClean="0"/>
              <a:t>1</a:t>
            </a:r>
            <a:r>
              <a:rPr lang="en-US" sz="4000" dirty="0" smtClean="0"/>
              <a:t> if </a:t>
            </a:r>
            <a:r>
              <a:rPr lang="en-US" sz="4000" dirty="0"/>
              <a:t>they are prepare to give up a certain amount of Good X</a:t>
            </a:r>
            <a:r>
              <a:rPr lang="en-US" sz="4000" baseline="-25000" dirty="0"/>
              <a:t>2</a:t>
            </a:r>
            <a:r>
              <a:rPr lang="en-US" sz="4000" dirty="0"/>
              <a:t>.</a:t>
            </a:r>
          </a:p>
          <a:p>
            <a:pPr marL="274320" indent="-274320" algn="just" fontAlgn="auto">
              <a:spcAft>
                <a:spcPts val="0"/>
              </a:spcAft>
              <a:buClr>
                <a:schemeClr val="accent3"/>
              </a:buClr>
              <a:buFont typeface="Wingdings 2"/>
              <a:buChar char=""/>
              <a:defRPr/>
            </a:pPr>
            <a:endParaRPr lang="en-US" sz="4000"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50</a:t>
            </a:fld>
            <a:endParaRPr lang="en-US"/>
          </a:p>
        </p:txBody>
      </p:sp>
    </p:spTree>
  </p:cSld>
  <p:clrMapOvr>
    <a:masterClrMapping/>
  </p:clrMapOvr>
  <p:transition>
    <p:wheel spokes="1"/>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8077200" cy="990600"/>
          </a:xfrm>
        </p:spPr>
        <p:txBody>
          <a:bodyPr>
            <a:normAutofit fontScale="90000"/>
          </a:bodyPr>
          <a:lstStyle/>
          <a:p>
            <a:pPr fontAlgn="auto">
              <a:spcAft>
                <a:spcPts val="0"/>
              </a:spcAft>
              <a:defRPr/>
            </a:pPr>
            <a:r>
              <a:rPr lang="en-US" b="1" dirty="0" smtClean="0">
                <a:solidFill>
                  <a:srgbClr val="002060"/>
                </a:solidFill>
              </a:rPr>
              <a:t>Central Economic Problem: </a:t>
            </a:r>
            <a:r>
              <a:rPr lang="en-US" sz="2700" b="1" i="1" dirty="0" smtClean="0">
                <a:solidFill>
                  <a:srgbClr val="002060"/>
                </a:solidFill>
              </a:rPr>
              <a:t>Opportunity Cost</a:t>
            </a:r>
            <a:endParaRPr lang="en-US" sz="2700" i="1" dirty="0">
              <a:solidFill>
                <a:srgbClr val="002060"/>
              </a:solidFill>
            </a:endParaRPr>
          </a:p>
        </p:txBody>
      </p:sp>
      <p:sp>
        <p:nvSpPr>
          <p:cNvPr id="3" name="Content Placeholder 2"/>
          <p:cNvSpPr>
            <a:spLocks noGrp="1"/>
          </p:cNvSpPr>
          <p:nvPr>
            <p:ph idx="1"/>
          </p:nvPr>
        </p:nvSpPr>
        <p:spPr>
          <a:xfrm>
            <a:off x="609600" y="1066800"/>
            <a:ext cx="8686800" cy="5257800"/>
          </a:xfrm>
        </p:spPr>
        <p:txBody>
          <a:bodyPr>
            <a:normAutofit fontScale="92500" lnSpcReduction="10000"/>
          </a:bodyPr>
          <a:lstStyle/>
          <a:p>
            <a:pPr marL="274320" indent="-274320" fontAlgn="auto">
              <a:spcAft>
                <a:spcPts val="0"/>
              </a:spcAft>
              <a:buClr>
                <a:schemeClr val="accent3"/>
              </a:buClr>
              <a:buFont typeface="Wingdings 2"/>
              <a:buChar char=""/>
              <a:defRPr/>
            </a:pPr>
            <a:r>
              <a:rPr lang="en-US" sz="3600" dirty="0"/>
              <a:t>The concepts of constrained choice and scarcity are central to the disciplines of economics. These concepts are best captured by the </a:t>
            </a:r>
            <a:r>
              <a:rPr lang="en-US" sz="3600" dirty="0" smtClean="0"/>
              <a:t>concept of </a:t>
            </a:r>
            <a:r>
              <a:rPr lang="en-US" sz="3600" b="1" i="1" dirty="0"/>
              <a:t>opportunity cost</a:t>
            </a:r>
            <a:r>
              <a:rPr lang="en-US" sz="3600" b="1" i="1" dirty="0" smtClean="0"/>
              <a:t>.</a:t>
            </a:r>
          </a:p>
          <a:p>
            <a:pPr marL="274320" indent="-274320" fontAlgn="auto">
              <a:spcAft>
                <a:spcPts val="0"/>
              </a:spcAft>
              <a:buClr>
                <a:schemeClr val="accent3"/>
              </a:buClr>
              <a:buFont typeface="Wingdings 2"/>
              <a:buChar char=""/>
              <a:defRPr/>
            </a:pPr>
            <a:r>
              <a:rPr lang="en-US" sz="3600" b="1" dirty="0"/>
              <a:t>Opportunity cost</a:t>
            </a:r>
            <a:r>
              <a:rPr lang="en-US" sz="3600" dirty="0"/>
              <a:t> - means the </a:t>
            </a:r>
            <a:r>
              <a:rPr lang="en-US" sz="3600" b="1" dirty="0"/>
              <a:t>next best alternative foregone</a:t>
            </a:r>
            <a:r>
              <a:rPr lang="en-US" sz="3600" dirty="0"/>
              <a:t>. For example, time is a scarce resource, as there are so many </a:t>
            </a:r>
            <a:r>
              <a:rPr lang="en-US" sz="3600" dirty="0" smtClean="0"/>
              <a:t>hours </a:t>
            </a:r>
            <a:r>
              <a:rPr lang="en-US" sz="3600" dirty="0"/>
              <a:t>in a day. The chosen to study implies time given up for leisure activities. </a:t>
            </a:r>
          </a:p>
          <a:p>
            <a:pPr marL="274320" indent="-274320" fontAlgn="auto">
              <a:spcAft>
                <a:spcPts val="0"/>
              </a:spcAft>
              <a:buClr>
                <a:schemeClr val="accent3"/>
              </a:buClr>
              <a:buFont typeface="Wingdings 2"/>
              <a:buChar char=""/>
              <a:defRPr/>
            </a:pPr>
            <a:endParaRPr lang="en-US" sz="3200" b="1" i="1" dirty="0"/>
          </a:p>
          <a:p>
            <a:pPr marL="274320" indent="-274320" fontAlgn="auto">
              <a:spcAft>
                <a:spcPts val="0"/>
              </a:spcAft>
              <a:buClr>
                <a:schemeClr val="accent3"/>
              </a:buClr>
              <a:buFont typeface="Wingdings 2"/>
              <a:buChar char=""/>
              <a:defRPr/>
            </a:pPr>
            <a:endParaRPr lang="en-US"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51</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304800"/>
            <a:ext cx="8229600" cy="838200"/>
          </a:xfrm>
        </p:spPr>
        <p:txBody>
          <a:bodyPr/>
          <a:lstStyle/>
          <a:p>
            <a:r>
              <a:rPr lang="en-US" dirty="0" smtClean="0"/>
              <a:t>Opportunity cost(OC) </a:t>
            </a:r>
            <a:r>
              <a:rPr lang="en-US" sz="2400" i="1" dirty="0"/>
              <a:t>continued</a:t>
            </a:r>
            <a:endParaRPr lang="en-US" sz="2400" dirty="0" smtClean="0"/>
          </a:p>
        </p:txBody>
      </p:sp>
      <p:sp>
        <p:nvSpPr>
          <p:cNvPr id="3" name="Content Placeholder 2"/>
          <p:cNvSpPr>
            <a:spLocks noGrp="1"/>
          </p:cNvSpPr>
          <p:nvPr>
            <p:ph idx="1"/>
          </p:nvPr>
        </p:nvSpPr>
        <p:spPr>
          <a:xfrm>
            <a:off x="457200" y="1143000"/>
            <a:ext cx="8458200" cy="5334000"/>
          </a:xfrm>
        </p:spPr>
        <p:txBody>
          <a:bodyPr>
            <a:normAutofit fontScale="92500" lnSpcReduction="10000"/>
          </a:bodyPr>
          <a:lstStyle/>
          <a:p>
            <a:r>
              <a:rPr lang="en-US" sz="4000" dirty="0" smtClean="0"/>
              <a:t>Example 1: time is a scarce resource, as there are so many hours in a day. Time chosen for study implies time given up for leisure activities.</a:t>
            </a:r>
          </a:p>
          <a:p>
            <a:r>
              <a:rPr lang="en-US" sz="4000" dirty="0" smtClean="0"/>
              <a:t>Example 2: time spent pursuing university education implies time given up for employment or pursuing money – generating activities.</a:t>
            </a:r>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52</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028700" y="228600"/>
            <a:ext cx="7200900" cy="685800"/>
          </a:xfrm>
        </p:spPr>
        <p:txBody>
          <a:bodyPr>
            <a:normAutofit/>
          </a:bodyPr>
          <a:lstStyle/>
          <a:p>
            <a:r>
              <a:rPr lang="en-US" dirty="0" smtClean="0"/>
              <a:t>Opportunity cost </a:t>
            </a:r>
            <a:r>
              <a:rPr lang="en-US" sz="2400" i="1" dirty="0"/>
              <a:t>continued</a:t>
            </a:r>
            <a:endParaRPr lang="en-US" sz="2400" dirty="0" smtClean="0"/>
          </a:p>
        </p:txBody>
      </p:sp>
      <p:sp>
        <p:nvSpPr>
          <p:cNvPr id="24579" name="Content Placeholder 2"/>
          <p:cNvSpPr>
            <a:spLocks noGrp="1"/>
          </p:cNvSpPr>
          <p:nvPr>
            <p:ph idx="1"/>
          </p:nvPr>
        </p:nvSpPr>
        <p:spPr>
          <a:xfrm>
            <a:off x="609600" y="762000"/>
            <a:ext cx="8382000" cy="5486400"/>
          </a:xfrm>
        </p:spPr>
        <p:txBody>
          <a:bodyPr>
            <a:noAutofit/>
          </a:bodyPr>
          <a:lstStyle/>
          <a:p>
            <a:r>
              <a:rPr lang="en-US" sz="4400" dirty="0" smtClean="0"/>
              <a:t>Example 3: The opportunity cost for shillings allocated for defense is the next best alternative use of the same shillings which could have been allocated to build more schools or construct more dams in the Arid and Semi Arid Lands.</a:t>
            </a:r>
          </a:p>
          <a:p>
            <a:endParaRPr lang="en-US" sz="4400"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53</a:t>
            </a:fld>
            <a:endParaRPr lang="en-US"/>
          </a:p>
        </p:txBody>
      </p:sp>
    </p:spTree>
  </p:cSld>
  <p:clrMapOvr>
    <a:masterClrMapping/>
  </p:clrMapOvr>
  <p:transition>
    <p:wheel spokes="1"/>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228600"/>
            <a:ext cx="7200900" cy="1143000"/>
          </a:xfrm>
        </p:spPr>
        <p:txBody>
          <a:bodyPr>
            <a:normAutofit/>
          </a:bodyPr>
          <a:lstStyle/>
          <a:p>
            <a:r>
              <a:rPr lang="en-US" dirty="0" smtClean="0"/>
              <a:t>Opportunity cost </a:t>
            </a:r>
            <a:r>
              <a:rPr lang="en-US" sz="2400" i="1" dirty="0" smtClean="0"/>
              <a:t>continued</a:t>
            </a:r>
            <a:endParaRPr lang="en-US" sz="2400" i="1" dirty="0"/>
          </a:p>
        </p:txBody>
      </p:sp>
      <p:sp>
        <p:nvSpPr>
          <p:cNvPr id="3" name="Content Placeholder 2"/>
          <p:cNvSpPr>
            <a:spLocks noGrp="1"/>
          </p:cNvSpPr>
          <p:nvPr>
            <p:ph idx="1"/>
          </p:nvPr>
        </p:nvSpPr>
        <p:spPr>
          <a:xfrm>
            <a:off x="685800" y="1066800"/>
            <a:ext cx="8534400" cy="5486400"/>
          </a:xfrm>
        </p:spPr>
        <p:txBody>
          <a:bodyPr>
            <a:noAutofit/>
          </a:bodyPr>
          <a:lstStyle/>
          <a:p>
            <a:r>
              <a:rPr lang="en-US" sz="4400" dirty="0" smtClean="0"/>
              <a:t>Consider the table below, showing the choices available to an ECON 111/BECO 101 student, and the rewards associated with each choice, of spending the next 4 years pursuing university education.</a:t>
            </a:r>
            <a:endParaRPr lang="en-US" sz="4400"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54</a:t>
            </a:fld>
            <a:endParaRPr lang="en-US"/>
          </a:p>
        </p:txBody>
      </p:sp>
    </p:spTree>
    <p:extLst>
      <p:ext uri="{BB962C8B-B14F-4D97-AF65-F5344CB8AC3E}">
        <p14:creationId xmlns:p14="http://schemas.microsoft.com/office/powerpoint/2010/main" val="3288243547"/>
      </p:ext>
    </p:extLst>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0" end="0"/>
                                            </p:txEl>
                                          </p:spTgt>
                                        </p:tgtEl>
                                        <p:attrNameLst>
                                          <p:attrName>style.color</p:attrName>
                                        </p:attrNameLst>
                                      </p:cBhvr>
                                      <p:to>
                                        <p:clrVal>
                                          <a:schemeClr val="accent2"/>
                                        </p:clrVal>
                                      </p:to>
                                    </p:set>
                                    <p:set>
                                      <p:cBhvr>
                                        <p:cTn id="7" dur="500" fill="hold"/>
                                        <p:tgtEl>
                                          <p:spTgt spid="3">
                                            <p:txEl>
                                              <p:pRg st="0" end="0"/>
                                            </p:txEl>
                                          </p:spTgt>
                                        </p:tgtEl>
                                        <p:attrNameLst>
                                          <p:attrName>fillcolor</p:attrName>
                                        </p:attrNameLst>
                                      </p:cBhvr>
                                      <p:to>
                                        <p:clrVal>
                                          <a:schemeClr val="accent2"/>
                                        </p:clrVal>
                                      </p:to>
                                    </p:set>
                                    <p:set>
                                      <p:cBhvr>
                                        <p:cTn id="8" dur="500" fill="hold"/>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228600"/>
            <a:ext cx="7200900" cy="990600"/>
          </a:xfrm>
        </p:spPr>
        <p:txBody>
          <a:bodyPr/>
          <a:lstStyle/>
          <a:p>
            <a:r>
              <a:rPr lang="en-US" dirty="0"/>
              <a:t>Opportunity cost </a:t>
            </a:r>
            <a:r>
              <a:rPr lang="en-US" sz="2400" i="1" dirty="0"/>
              <a:t>continued</a:t>
            </a:r>
            <a:endParaRPr lang="en-US"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55</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883490066"/>
              </p:ext>
            </p:extLst>
          </p:nvPr>
        </p:nvGraphicFramePr>
        <p:xfrm>
          <a:off x="1295401" y="1219198"/>
          <a:ext cx="7086600" cy="4876800"/>
        </p:xfrm>
        <a:graphic>
          <a:graphicData uri="http://schemas.openxmlformats.org/drawingml/2006/table">
            <a:tbl>
              <a:tblPr>
                <a:tableStyleId>{5C22544A-7EE6-4342-B048-85BDC9FD1C3A}</a:tableStyleId>
              </a:tblPr>
              <a:tblGrid>
                <a:gridCol w="2985418">
                  <a:extLst>
                    <a:ext uri="{9D8B030D-6E8A-4147-A177-3AD203B41FA5}">
                      <a16:colId xmlns:a16="http://schemas.microsoft.com/office/drawing/2014/main" xmlns="" val="20000"/>
                    </a:ext>
                  </a:extLst>
                </a:gridCol>
                <a:gridCol w="4101182">
                  <a:extLst>
                    <a:ext uri="{9D8B030D-6E8A-4147-A177-3AD203B41FA5}">
                      <a16:colId xmlns:a16="http://schemas.microsoft.com/office/drawing/2014/main" xmlns="" val="20001"/>
                    </a:ext>
                  </a:extLst>
                </a:gridCol>
              </a:tblGrid>
              <a:tr h="975360">
                <a:tc>
                  <a:txBody>
                    <a:bodyPr/>
                    <a:lstStyle/>
                    <a:p>
                      <a:pPr algn="ctr" fontAlgn="b"/>
                      <a:r>
                        <a:rPr lang="en-US" sz="4000" u="sng" strike="noStrike" dirty="0">
                          <a:solidFill>
                            <a:srgbClr val="FF0000"/>
                          </a:solidFill>
                          <a:effectLst/>
                        </a:rPr>
                        <a:t>Choice </a:t>
                      </a:r>
                      <a:endParaRPr lang="en-US" sz="4000" b="1" i="0" u="sng" strike="noStrike" dirty="0">
                        <a:solidFill>
                          <a:srgbClr val="FF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4000" u="sng" strike="noStrike" dirty="0">
                          <a:solidFill>
                            <a:srgbClr val="FF0000"/>
                          </a:solidFill>
                          <a:effectLst/>
                        </a:rPr>
                        <a:t>Reward</a:t>
                      </a:r>
                      <a:endParaRPr lang="en-US" sz="4000" b="1" i="0" u="sng" strike="noStrike" dirty="0">
                        <a:solidFill>
                          <a:srgbClr val="FF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975360">
                <a:tc>
                  <a:txBody>
                    <a:bodyPr/>
                    <a:lstStyle/>
                    <a:p>
                      <a:pPr algn="ctr" fontAlgn="b"/>
                      <a:r>
                        <a:rPr lang="en-US" sz="4000" u="none" strike="noStrike" dirty="0">
                          <a:effectLst/>
                        </a:rPr>
                        <a:t>University</a:t>
                      </a:r>
                      <a:endParaRPr lang="en-US" sz="4000" b="0" i="0" u="none" strike="noStrike" dirty="0">
                        <a:solidFill>
                          <a:srgbClr val="00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4000" u="none" strike="noStrike" dirty="0">
                          <a:effectLst/>
                        </a:rPr>
                        <a:t> 2,262,962.00 </a:t>
                      </a:r>
                      <a:endParaRPr lang="en-US" sz="4000" b="0" i="0" u="none" strike="noStrike" dirty="0">
                        <a:solidFill>
                          <a:srgbClr val="00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975360">
                <a:tc>
                  <a:txBody>
                    <a:bodyPr/>
                    <a:lstStyle/>
                    <a:p>
                      <a:pPr algn="ctr" fontAlgn="b"/>
                      <a:r>
                        <a:rPr lang="en-US" sz="4000" u="none" strike="noStrike" dirty="0">
                          <a:effectLst/>
                        </a:rPr>
                        <a:t>Home</a:t>
                      </a:r>
                      <a:endParaRPr lang="en-US" sz="4000" b="0" i="0" u="none" strike="noStrike" dirty="0">
                        <a:solidFill>
                          <a:srgbClr val="00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4000" u="none" strike="noStrike" dirty="0">
                          <a:effectLst/>
                        </a:rPr>
                        <a:t> 1,070,835.00 </a:t>
                      </a:r>
                      <a:endParaRPr lang="en-US" sz="4000" b="0" i="0" u="none" strike="noStrike" dirty="0">
                        <a:solidFill>
                          <a:srgbClr val="00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975360">
                <a:tc>
                  <a:txBody>
                    <a:bodyPr/>
                    <a:lstStyle/>
                    <a:p>
                      <a:pPr algn="ctr" fontAlgn="b"/>
                      <a:r>
                        <a:rPr lang="en-US" sz="4000" u="none" strike="noStrike" dirty="0">
                          <a:effectLst/>
                        </a:rPr>
                        <a:t>Business</a:t>
                      </a:r>
                      <a:endParaRPr lang="en-US" sz="4000" b="0" i="0" u="none" strike="noStrike" dirty="0">
                        <a:solidFill>
                          <a:srgbClr val="00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4000" u="none" strike="noStrike" dirty="0">
                          <a:effectLst/>
                        </a:rPr>
                        <a:t> 2,712,560.00 </a:t>
                      </a:r>
                      <a:endParaRPr lang="en-US" sz="4000" b="0" i="0" u="none" strike="noStrike" dirty="0">
                        <a:solidFill>
                          <a:srgbClr val="00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975360">
                <a:tc>
                  <a:txBody>
                    <a:bodyPr/>
                    <a:lstStyle/>
                    <a:p>
                      <a:pPr algn="ctr" fontAlgn="b"/>
                      <a:r>
                        <a:rPr lang="en-US" sz="4000" u="none" strike="noStrike">
                          <a:effectLst/>
                        </a:rPr>
                        <a:t>Nothing</a:t>
                      </a:r>
                      <a:endParaRPr lang="en-US" sz="4000" b="0" i="0" u="none" strike="noStrike">
                        <a:solidFill>
                          <a:srgbClr val="00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4000" u="none" strike="noStrike" dirty="0">
                          <a:effectLst/>
                        </a:rPr>
                        <a:t> 2,242,811.00 </a:t>
                      </a:r>
                      <a:endParaRPr lang="en-US" sz="4000" b="0" i="0" u="none" strike="noStrike" dirty="0">
                        <a:solidFill>
                          <a:srgbClr val="00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047820274"/>
      </p:ext>
    </p:extLst>
  </p:cSld>
  <p:clrMapOvr>
    <a:masterClrMapping/>
  </p:clrMapOvr>
  <p:transition>
    <p:wheel spokes="1"/>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228600"/>
            <a:ext cx="7200900" cy="914400"/>
          </a:xfrm>
        </p:spPr>
        <p:txBody>
          <a:bodyPr/>
          <a:lstStyle/>
          <a:p>
            <a:r>
              <a:rPr lang="en-US" dirty="0"/>
              <a:t>Opportunity cost </a:t>
            </a:r>
            <a:r>
              <a:rPr lang="en-US" sz="2400" i="1" dirty="0"/>
              <a:t>continued</a:t>
            </a:r>
            <a:endParaRPr lang="en-US"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56</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437957106"/>
              </p:ext>
            </p:extLst>
          </p:nvPr>
        </p:nvGraphicFramePr>
        <p:xfrm>
          <a:off x="1371598" y="1142998"/>
          <a:ext cx="7162801" cy="5310390"/>
        </p:xfrm>
        <a:graphic>
          <a:graphicData uri="http://schemas.openxmlformats.org/drawingml/2006/table">
            <a:tbl>
              <a:tblPr>
                <a:tableStyleId>{5C22544A-7EE6-4342-B048-85BDC9FD1C3A}</a:tableStyleId>
              </a:tblPr>
              <a:tblGrid>
                <a:gridCol w="1676401">
                  <a:extLst>
                    <a:ext uri="{9D8B030D-6E8A-4147-A177-3AD203B41FA5}">
                      <a16:colId xmlns:a16="http://schemas.microsoft.com/office/drawing/2014/main" xmlns="" val="20000"/>
                    </a:ext>
                  </a:extLst>
                </a:gridCol>
                <a:gridCol w="1828800">
                  <a:extLst>
                    <a:ext uri="{9D8B030D-6E8A-4147-A177-3AD203B41FA5}">
                      <a16:colId xmlns:a16="http://schemas.microsoft.com/office/drawing/2014/main" xmlns="" val="20001"/>
                    </a:ext>
                  </a:extLst>
                </a:gridCol>
                <a:gridCol w="1828800">
                  <a:extLst>
                    <a:ext uri="{9D8B030D-6E8A-4147-A177-3AD203B41FA5}">
                      <a16:colId xmlns:a16="http://schemas.microsoft.com/office/drawing/2014/main" xmlns="" val="20002"/>
                    </a:ext>
                  </a:extLst>
                </a:gridCol>
                <a:gridCol w="1828800">
                  <a:extLst>
                    <a:ext uri="{9D8B030D-6E8A-4147-A177-3AD203B41FA5}">
                      <a16:colId xmlns:a16="http://schemas.microsoft.com/office/drawing/2014/main" xmlns="" val="20003"/>
                    </a:ext>
                  </a:extLst>
                </a:gridCol>
              </a:tblGrid>
              <a:tr h="1062078">
                <a:tc>
                  <a:txBody>
                    <a:bodyPr/>
                    <a:lstStyle/>
                    <a:p>
                      <a:pPr algn="ctr" fontAlgn="b"/>
                      <a:r>
                        <a:rPr lang="en-US" sz="2800" b="1" u="none" strike="noStrike" dirty="0">
                          <a:solidFill>
                            <a:srgbClr val="FF0000"/>
                          </a:solidFill>
                          <a:effectLst/>
                        </a:rPr>
                        <a:t>Choice </a:t>
                      </a:r>
                      <a:endParaRPr lang="en-US" sz="2800" b="1" i="0" u="none" strike="noStrike" dirty="0">
                        <a:solidFill>
                          <a:srgbClr val="FF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solidFill>
                            <a:srgbClr val="FF0000"/>
                          </a:solidFill>
                          <a:effectLst/>
                        </a:rPr>
                        <a:t>Reward</a:t>
                      </a:r>
                      <a:endParaRPr lang="en-US" sz="2800" b="1" i="0" u="none" strike="noStrike" dirty="0">
                        <a:solidFill>
                          <a:srgbClr val="FF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solidFill>
                            <a:srgbClr val="FF0000"/>
                          </a:solidFill>
                          <a:effectLst/>
                        </a:rPr>
                        <a:t>OC</a:t>
                      </a:r>
                      <a:endParaRPr lang="en-US" sz="2800" b="1" i="0" u="none" strike="noStrike" dirty="0">
                        <a:solidFill>
                          <a:srgbClr val="FF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solidFill>
                            <a:srgbClr val="FF0000"/>
                          </a:solidFill>
                          <a:effectLst/>
                        </a:rPr>
                        <a:t>Real OC</a:t>
                      </a:r>
                      <a:endParaRPr lang="en-US" sz="2800" b="1" i="0" u="none" strike="noStrike" dirty="0">
                        <a:solidFill>
                          <a:srgbClr val="FF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1062078">
                <a:tc>
                  <a:txBody>
                    <a:bodyPr/>
                    <a:lstStyle/>
                    <a:p>
                      <a:pPr algn="ctr" fontAlgn="b"/>
                      <a:r>
                        <a:rPr lang="en-US" sz="2800" b="1" u="none" strike="noStrike" dirty="0">
                          <a:effectLst/>
                        </a:rPr>
                        <a:t>University</a:t>
                      </a:r>
                      <a:endParaRPr lang="en-US" sz="2800" b="1" i="0" u="none" strike="noStrike" dirty="0">
                        <a:solidFill>
                          <a:srgbClr val="00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2,262,962 </a:t>
                      </a:r>
                      <a:endParaRPr lang="en-US" sz="2800" b="1" i="0" u="none" strike="noStrike" dirty="0">
                        <a:solidFill>
                          <a:srgbClr val="00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2,712,560 </a:t>
                      </a:r>
                      <a:endParaRPr lang="en-US" sz="2800" b="1" i="0" u="none" strike="noStrike" dirty="0">
                        <a:solidFill>
                          <a:srgbClr val="00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449,598 </a:t>
                      </a:r>
                      <a:endParaRPr lang="en-US" sz="2800" b="1" i="0" u="none" strike="noStrike" dirty="0">
                        <a:solidFill>
                          <a:srgbClr val="00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062078">
                <a:tc>
                  <a:txBody>
                    <a:bodyPr/>
                    <a:lstStyle/>
                    <a:p>
                      <a:pPr algn="ctr" fontAlgn="b"/>
                      <a:r>
                        <a:rPr lang="en-US" sz="2800" b="1" u="none" strike="noStrike" dirty="0">
                          <a:effectLst/>
                        </a:rPr>
                        <a:t>Home</a:t>
                      </a:r>
                      <a:endParaRPr lang="en-US" sz="2800" b="1" i="0" u="none" strike="noStrike" dirty="0">
                        <a:solidFill>
                          <a:srgbClr val="00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1,070,835 </a:t>
                      </a:r>
                      <a:endParaRPr lang="en-US" sz="2800" b="1" i="0" u="none" strike="noStrike" dirty="0">
                        <a:solidFill>
                          <a:srgbClr val="00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2,712,560 </a:t>
                      </a:r>
                      <a:endParaRPr lang="en-US" sz="2800" b="1" i="0" u="none" strike="noStrike" dirty="0">
                        <a:solidFill>
                          <a:srgbClr val="00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1,641,725 </a:t>
                      </a:r>
                      <a:endParaRPr lang="en-US" sz="2800" b="1" i="0" u="none" strike="noStrike" dirty="0">
                        <a:solidFill>
                          <a:srgbClr val="00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1062078">
                <a:tc>
                  <a:txBody>
                    <a:bodyPr/>
                    <a:lstStyle/>
                    <a:p>
                      <a:pPr algn="ctr" fontAlgn="b"/>
                      <a:r>
                        <a:rPr lang="en-US" sz="2800" b="1" u="none" strike="noStrike" dirty="0">
                          <a:effectLst/>
                        </a:rPr>
                        <a:t>Business</a:t>
                      </a:r>
                      <a:endParaRPr lang="en-US" sz="2800" b="1" i="0" u="none" strike="noStrike" dirty="0">
                        <a:solidFill>
                          <a:srgbClr val="00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2,712,560 </a:t>
                      </a:r>
                      <a:endParaRPr lang="en-US" sz="2800" b="1" i="0" u="none" strike="noStrike" dirty="0">
                        <a:solidFill>
                          <a:srgbClr val="00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2,262,962 </a:t>
                      </a:r>
                      <a:endParaRPr lang="en-US" sz="2800" b="1" i="0" u="none" strike="noStrike" dirty="0">
                        <a:solidFill>
                          <a:srgbClr val="00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(449,598)</a:t>
                      </a:r>
                      <a:endParaRPr lang="en-US" sz="2800" b="1" i="0" u="none" strike="noStrike" dirty="0">
                        <a:solidFill>
                          <a:srgbClr val="00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1062078">
                <a:tc>
                  <a:txBody>
                    <a:bodyPr/>
                    <a:lstStyle/>
                    <a:p>
                      <a:pPr algn="ctr" fontAlgn="b"/>
                      <a:r>
                        <a:rPr lang="en-US" sz="2800" b="1" u="none" strike="noStrike">
                          <a:effectLst/>
                        </a:rPr>
                        <a:t>Nothing</a:t>
                      </a:r>
                      <a:endParaRPr lang="en-US" sz="2800" b="1" i="0" u="none" strike="noStrike">
                        <a:solidFill>
                          <a:srgbClr val="000000"/>
                        </a:solidFill>
                        <a:effectLst/>
                        <a:latin typeface="Consolas" panose="020B0609020204030204" pitchFamily="49"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a:effectLst/>
                        </a:rPr>
                        <a:t> 2,242,811 </a:t>
                      </a:r>
                      <a:endParaRPr lang="en-US" sz="2800" b="1" i="0" u="none" strike="noStrike">
                        <a:solidFill>
                          <a:srgbClr val="00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2,712,560 </a:t>
                      </a:r>
                      <a:endParaRPr lang="en-US" sz="2800" b="1" i="0" u="none" strike="noStrike" dirty="0">
                        <a:solidFill>
                          <a:srgbClr val="000000"/>
                        </a:solidFill>
                        <a:effectLst/>
                        <a:latin typeface="Consolas" panose="020B0609020204030204" pitchFamily="49"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u="none" strike="noStrike" dirty="0">
                          <a:effectLst/>
                        </a:rPr>
                        <a:t>   469,749 </a:t>
                      </a:r>
                      <a:endParaRPr lang="en-US" sz="2800" b="1" i="0" u="none" strike="noStrike" dirty="0">
                        <a:solidFill>
                          <a:srgbClr val="000000"/>
                        </a:solidFill>
                        <a:effectLst/>
                        <a:latin typeface="Consolas" panose="020B0609020204030204" pitchFamily="49"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1573345064"/>
      </p:ext>
    </p:extLst>
  </p:cSld>
  <p:clrMapOvr>
    <a:masterClrMapping/>
  </p:clrMapOvr>
  <p:transition>
    <p:wheel spokes="1"/>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381000"/>
            <a:ext cx="8229600" cy="762000"/>
          </a:xfrm>
        </p:spPr>
        <p:txBody>
          <a:bodyPr>
            <a:normAutofit/>
          </a:bodyPr>
          <a:lstStyle/>
          <a:p>
            <a:r>
              <a:rPr lang="en-US" dirty="0" smtClean="0"/>
              <a:t>Opportunity cost(OC) </a:t>
            </a:r>
            <a:r>
              <a:rPr lang="en-US" sz="2400" i="1" dirty="0"/>
              <a:t>continued</a:t>
            </a:r>
            <a:endParaRPr lang="en-US" sz="2400" b="1" dirty="0" smtClean="0"/>
          </a:p>
        </p:txBody>
      </p:sp>
      <p:sp>
        <p:nvSpPr>
          <p:cNvPr id="25603" name="Content Placeholder 2"/>
          <p:cNvSpPr>
            <a:spLocks noGrp="1"/>
          </p:cNvSpPr>
          <p:nvPr>
            <p:ph idx="1"/>
          </p:nvPr>
        </p:nvSpPr>
        <p:spPr>
          <a:xfrm>
            <a:off x="457200" y="1143000"/>
            <a:ext cx="8458200" cy="5410200"/>
          </a:xfrm>
        </p:spPr>
        <p:txBody>
          <a:bodyPr>
            <a:normAutofit fontScale="92500"/>
          </a:bodyPr>
          <a:lstStyle/>
          <a:p>
            <a:r>
              <a:rPr lang="en-US" sz="4000" dirty="0" smtClean="0"/>
              <a:t>Diagrammatically, the concept of OC is best captured by </a:t>
            </a:r>
            <a:r>
              <a:rPr lang="en-US" sz="4000" b="1" dirty="0" smtClean="0"/>
              <a:t>Production Possibility Frontiers(PPF).</a:t>
            </a:r>
          </a:p>
          <a:p>
            <a:r>
              <a:rPr lang="en-US" sz="4000" dirty="0" smtClean="0"/>
              <a:t>The PPF is a </a:t>
            </a:r>
            <a:r>
              <a:rPr lang="en-US" sz="4000" b="1" dirty="0" smtClean="0"/>
              <a:t>graph</a:t>
            </a:r>
            <a:r>
              <a:rPr lang="en-US" sz="4000" dirty="0" smtClean="0"/>
              <a:t> showing all the combinations of good and services that can be produced from a </a:t>
            </a:r>
            <a:r>
              <a:rPr lang="en-US" sz="4000" b="1" dirty="0" smtClean="0"/>
              <a:t>fixed amount of resources </a:t>
            </a:r>
            <a:r>
              <a:rPr lang="en-US" sz="4000" dirty="0" smtClean="0"/>
              <a:t>and</a:t>
            </a:r>
            <a:r>
              <a:rPr lang="en-US" sz="4000" b="1" dirty="0" smtClean="0"/>
              <a:t> existing technology</a:t>
            </a:r>
            <a:r>
              <a:rPr lang="en-US" sz="4000" dirty="0" smtClean="0"/>
              <a:t>.</a:t>
            </a:r>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57</a:t>
            </a:fld>
            <a:endParaRPr lang="en-US"/>
          </a:p>
        </p:txBody>
      </p:sp>
    </p:spTree>
  </p:cSld>
  <p:clrMapOvr>
    <a:masterClrMapping/>
  </p:clrMapOvr>
  <p:transition>
    <p:wheel spokes="1"/>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title"/>
          </p:nvPr>
        </p:nvSpPr>
        <p:spPr>
          <a:xfrm>
            <a:off x="731520" y="304800"/>
            <a:ext cx="7680960" cy="935354"/>
          </a:xfrm>
        </p:spPr>
        <p:txBody>
          <a:bodyPr>
            <a:normAutofit/>
          </a:bodyPr>
          <a:lstStyle/>
          <a:p>
            <a:pPr algn="l" fontAlgn="auto">
              <a:spcAft>
                <a:spcPts val="0"/>
              </a:spcAft>
              <a:defRPr/>
            </a:pPr>
            <a:r>
              <a:rPr lang="en-US" sz="4000" dirty="0" smtClean="0">
                <a:solidFill>
                  <a:srgbClr val="002060"/>
                </a:solidFill>
              </a:rPr>
              <a:t>Production Possibility Frontier</a:t>
            </a:r>
            <a:endParaRPr lang="en-US" sz="4000" dirty="0">
              <a:solidFill>
                <a:srgbClr val="002060"/>
              </a:solidFill>
            </a:endParaRPr>
          </a:p>
        </p:txBody>
      </p:sp>
      <p:sp>
        <p:nvSpPr>
          <p:cNvPr id="2" name="Content Placeholder 1"/>
          <p:cNvSpPr>
            <a:spLocks noGrp="1"/>
          </p:cNvSpPr>
          <p:nvPr>
            <p:ph idx="1"/>
          </p:nvPr>
        </p:nvSpPr>
        <p:spPr/>
        <p:txBody>
          <a:bodyPr/>
          <a:lstStyle/>
          <a:p>
            <a:endParaRPr lang="en-US"/>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1EFD98CC-8E8C-4376-A4D4-A0F15EB79D52}" type="slidenum">
              <a:rPr lang="en-US" smtClean="0"/>
              <a:pPr>
                <a:defRPr/>
              </a:pPr>
              <a:t>58</a:t>
            </a:fld>
            <a:endParaRPr lang="en-US"/>
          </a:p>
        </p:txBody>
      </p:sp>
      <p:pic>
        <p:nvPicPr>
          <p:cNvPr id="26655" name="Picture 31" descr="C:\Users\Oyugis\Desktop\PPF 2.png"/>
          <p:cNvPicPr>
            <a:picLocks noChangeAspect="1" noChangeArrowheads="1"/>
          </p:cNvPicPr>
          <p:nvPr/>
        </p:nvPicPr>
        <p:blipFill>
          <a:blip r:embed="rId3" cstate="print"/>
          <a:srcRect/>
          <a:stretch>
            <a:fillRect/>
          </a:stretch>
        </p:blipFill>
        <p:spPr bwMode="auto">
          <a:xfrm>
            <a:off x="228600" y="1240154"/>
            <a:ext cx="8458199" cy="611516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wheel spokes="1"/>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1"/>
            <a:ext cx="8153400" cy="1066799"/>
          </a:xfrm>
        </p:spPr>
        <p:txBody>
          <a:bodyPr>
            <a:normAutofit/>
          </a:bodyPr>
          <a:lstStyle/>
          <a:p>
            <a:pPr fontAlgn="auto">
              <a:spcAft>
                <a:spcPts val="0"/>
              </a:spcAft>
              <a:defRPr/>
            </a:pPr>
            <a:r>
              <a:rPr lang="en-US" dirty="0" smtClean="0"/>
              <a:t>Production Possibility Frontier </a:t>
            </a:r>
            <a:r>
              <a:rPr lang="en-US" sz="2400" i="1" dirty="0"/>
              <a:t>continued</a:t>
            </a:r>
            <a:endParaRPr lang="en-US" sz="2400" dirty="0"/>
          </a:p>
        </p:txBody>
      </p:sp>
      <p:sp>
        <p:nvSpPr>
          <p:cNvPr id="3" name="Content Placeholder 2"/>
          <p:cNvSpPr>
            <a:spLocks noGrp="1"/>
          </p:cNvSpPr>
          <p:nvPr>
            <p:ph idx="1"/>
          </p:nvPr>
        </p:nvSpPr>
        <p:spPr>
          <a:xfrm>
            <a:off x="609600" y="1371600"/>
            <a:ext cx="8153400" cy="5181600"/>
          </a:xfrm>
        </p:spPr>
        <p:txBody>
          <a:bodyPr>
            <a:normAutofit fontScale="92500" lnSpcReduction="10000"/>
          </a:bodyPr>
          <a:lstStyle/>
          <a:p>
            <a:r>
              <a:rPr lang="en-US" sz="3600" u="sng" dirty="0" smtClean="0"/>
              <a:t>Point A</a:t>
            </a:r>
            <a:r>
              <a:rPr lang="en-US" sz="3600" dirty="0" smtClean="0"/>
              <a:t>: implies that the economy is using all its resources to produce only clothes.</a:t>
            </a:r>
          </a:p>
          <a:p>
            <a:r>
              <a:rPr lang="en-US" sz="3600" u="sng" dirty="0" smtClean="0"/>
              <a:t>Point E</a:t>
            </a:r>
            <a:r>
              <a:rPr lang="en-US" sz="3600" dirty="0" smtClean="0"/>
              <a:t>: implies that the economy is using all its resources, to produce only butter.</a:t>
            </a:r>
          </a:p>
          <a:p>
            <a:r>
              <a:rPr lang="en-US" sz="3600" u="sng" dirty="0" err="1" smtClean="0"/>
              <a:t>PointB</a:t>
            </a:r>
            <a:r>
              <a:rPr lang="en-US" sz="3600" u="sng" dirty="0" smtClean="0"/>
              <a:t>,  C and D</a:t>
            </a:r>
            <a:r>
              <a:rPr lang="en-US" sz="3600" dirty="0" smtClean="0"/>
              <a:t>: the economy is using its resources to produce different combinations of clothes and butter.</a:t>
            </a:r>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59</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458200" cy="838200"/>
          </a:xfrm>
        </p:spPr>
        <p:txBody>
          <a:bodyPr>
            <a:normAutofit fontScale="90000"/>
          </a:bodyPr>
          <a:lstStyle/>
          <a:p>
            <a:pPr fontAlgn="auto">
              <a:spcAft>
                <a:spcPts val="0"/>
              </a:spcAft>
              <a:defRPr/>
            </a:pPr>
            <a:r>
              <a:rPr lang="en-US" dirty="0" smtClean="0"/>
              <a:t>Production Possibility Frontier </a:t>
            </a:r>
            <a:r>
              <a:rPr lang="en-US" sz="2700" i="1" dirty="0"/>
              <a:t>continued</a:t>
            </a:r>
            <a:endParaRPr lang="en-US" sz="2700" dirty="0"/>
          </a:p>
        </p:txBody>
      </p:sp>
      <p:sp>
        <p:nvSpPr>
          <p:cNvPr id="3" name="Content Placeholder 2"/>
          <p:cNvSpPr>
            <a:spLocks noGrp="1"/>
          </p:cNvSpPr>
          <p:nvPr>
            <p:ph idx="1"/>
          </p:nvPr>
        </p:nvSpPr>
        <p:spPr>
          <a:xfrm>
            <a:off x="457200" y="1371600"/>
            <a:ext cx="8229600" cy="5105400"/>
          </a:xfrm>
        </p:spPr>
        <p:txBody>
          <a:bodyPr>
            <a:noAutofit/>
          </a:bodyPr>
          <a:lstStyle/>
          <a:p>
            <a:r>
              <a:rPr lang="en-US" sz="3200" u="sng" dirty="0"/>
              <a:t>Point B</a:t>
            </a:r>
            <a:r>
              <a:rPr lang="en-US" sz="3200" dirty="0"/>
              <a:t>: more clothes than butter  are being produced while at D more butter than clothes are produced. </a:t>
            </a:r>
            <a:endParaRPr lang="en-US" sz="3200" dirty="0" smtClean="0"/>
          </a:p>
          <a:p>
            <a:r>
              <a:rPr lang="en-US" sz="3200" dirty="0" smtClean="0"/>
              <a:t>At points to the left e.g. F,  production is attainable, but is inefficient. These points represent either </a:t>
            </a:r>
            <a:r>
              <a:rPr lang="en-US" sz="3200" b="1" dirty="0" smtClean="0"/>
              <a:t>unemployment of resources</a:t>
            </a:r>
            <a:r>
              <a:rPr lang="en-US" sz="3200" dirty="0" smtClean="0"/>
              <a:t> or </a:t>
            </a:r>
            <a:r>
              <a:rPr lang="en-US" sz="3200" b="1" dirty="0" smtClean="0"/>
              <a:t>production inefficiency.</a:t>
            </a:r>
          </a:p>
          <a:p>
            <a:r>
              <a:rPr lang="en-US" sz="3200" dirty="0" smtClean="0"/>
              <a:t>Points that are actually on the PPF represent full employment of resources and production efficiency.</a:t>
            </a:r>
          </a:p>
          <a:p>
            <a:pPr algn="just"/>
            <a:endParaRPr lang="en-US" sz="3200"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60</a:t>
            </a:fld>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304800"/>
            <a:ext cx="8229600" cy="914400"/>
          </a:xfrm>
        </p:spPr>
        <p:txBody>
          <a:bodyPr/>
          <a:lstStyle/>
          <a:p>
            <a:r>
              <a:rPr lang="en-US" b="1" dirty="0" smtClean="0">
                <a:solidFill>
                  <a:srgbClr val="002060"/>
                </a:solidFill>
              </a:rPr>
              <a:t>PPF &amp;  Opportunity Cost</a:t>
            </a:r>
            <a:endParaRPr lang="en-US" dirty="0" smtClean="0">
              <a:solidFill>
                <a:srgbClr val="002060"/>
              </a:solidFill>
            </a:endParaRPr>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61</a:t>
            </a:fld>
            <a:endParaRPr lang="en-US"/>
          </a:p>
        </p:txBody>
      </p:sp>
      <p:pic>
        <p:nvPicPr>
          <p:cNvPr id="15362" name="Picture 2" descr="C:\Users\Oyugis\Desktop\PPF 3.png"/>
          <p:cNvPicPr>
            <a:picLocks noChangeAspect="1" noChangeArrowheads="1"/>
          </p:cNvPicPr>
          <p:nvPr/>
        </p:nvPicPr>
        <p:blipFill>
          <a:blip r:embed="rId3" cstate="print"/>
          <a:srcRect/>
          <a:stretch>
            <a:fillRect/>
          </a:stretch>
        </p:blipFill>
        <p:spPr bwMode="auto">
          <a:xfrm>
            <a:off x="609600" y="1147763"/>
            <a:ext cx="8153399" cy="5100637"/>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wheel spokes="1"/>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fontScale="90000"/>
          </a:bodyPr>
          <a:lstStyle/>
          <a:p>
            <a:pPr fontAlgn="auto">
              <a:spcAft>
                <a:spcPts val="0"/>
              </a:spcAft>
              <a:defRPr/>
            </a:pPr>
            <a:r>
              <a:rPr lang="en-US" b="1" dirty="0" smtClean="0"/>
              <a:t>PPF And Opportunity Cost </a:t>
            </a:r>
            <a:r>
              <a:rPr lang="en-US" dirty="0"/>
              <a:t/>
            </a:r>
            <a:br>
              <a:rPr lang="en-US" dirty="0"/>
            </a:br>
            <a:endParaRPr lang="en-US" b="1" dirty="0"/>
          </a:p>
        </p:txBody>
      </p:sp>
      <p:sp>
        <p:nvSpPr>
          <p:cNvPr id="31747" name="Content Placeholder 2"/>
          <p:cNvSpPr>
            <a:spLocks noGrp="1"/>
          </p:cNvSpPr>
          <p:nvPr>
            <p:ph idx="1"/>
          </p:nvPr>
        </p:nvSpPr>
        <p:spPr>
          <a:xfrm>
            <a:off x="457200" y="1219200"/>
            <a:ext cx="8229600" cy="4906963"/>
          </a:xfrm>
        </p:spPr>
        <p:txBody>
          <a:bodyPr>
            <a:noAutofit/>
          </a:bodyPr>
          <a:lstStyle/>
          <a:p>
            <a:r>
              <a:rPr lang="en-US" sz="3600" dirty="0" smtClean="0"/>
              <a:t>Imagine an economy producing both capital and consumer goods. Its PPF would be as above.</a:t>
            </a:r>
          </a:p>
          <a:p>
            <a:r>
              <a:rPr lang="en-US" sz="3600" dirty="0" smtClean="0"/>
              <a:t>in moving from point E to F on the PPF about production of capital goods increases from 550 to 800 units. At the same time,  the production of consumer goods decrease from 1300 to 1100 units. </a:t>
            </a:r>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62</a:t>
            </a:fld>
            <a:endParaRPr lang="en-US"/>
          </a:p>
        </p:txBody>
      </p:sp>
    </p:spTree>
  </p:cSld>
  <p:clrMapOvr>
    <a:masterClrMapping/>
  </p:clrMapOvr>
  <p:transition>
    <p:wheel spokes="1"/>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382000" cy="762000"/>
          </a:xfrm>
        </p:spPr>
        <p:txBody>
          <a:bodyPr>
            <a:normAutofit/>
          </a:bodyPr>
          <a:lstStyle/>
          <a:p>
            <a:pPr fontAlgn="auto">
              <a:spcAft>
                <a:spcPts val="0"/>
              </a:spcAft>
              <a:defRPr/>
            </a:pPr>
            <a:r>
              <a:rPr lang="en-US" b="1" dirty="0"/>
              <a:t>PPF And Opportunity Cost </a:t>
            </a:r>
            <a:r>
              <a:rPr lang="en-US" sz="2700" i="1" dirty="0"/>
              <a:t>continued</a:t>
            </a:r>
            <a:r>
              <a:rPr lang="en-US" b="1" dirty="0" smtClean="0"/>
              <a:t> </a:t>
            </a:r>
            <a:endParaRPr lang="en-US" sz="2700" dirty="0"/>
          </a:p>
        </p:txBody>
      </p:sp>
      <p:sp>
        <p:nvSpPr>
          <p:cNvPr id="32771" name="Content Placeholder 2"/>
          <p:cNvSpPr>
            <a:spLocks noGrp="1"/>
          </p:cNvSpPr>
          <p:nvPr>
            <p:ph idx="1"/>
          </p:nvPr>
        </p:nvSpPr>
        <p:spPr>
          <a:xfrm>
            <a:off x="457200" y="914400"/>
            <a:ext cx="8534400" cy="5943599"/>
          </a:xfrm>
        </p:spPr>
        <p:txBody>
          <a:bodyPr>
            <a:normAutofit lnSpcReduction="10000"/>
          </a:bodyPr>
          <a:lstStyle/>
          <a:p>
            <a:r>
              <a:rPr lang="en-US" sz="3600" dirty="0" smtClean="0"/>
              <a:t>It can therefore be concluded that the opportunity cost of increasing the units of capital goods from 550 to 800 units is the 200units of consumer goods foregone. (i.e. 1,300-1,100) </a:t>
            </a:r>
          </a:p>
          <a:p>
            <a:r>
              <a:rPr lang="en-US" sz="3600" dirty="0" smtClean="0"/>
              <a:t>The slope of the PPF denotes the ratio of change in capital to the change in consumer goods. It is always negative and is known as the </a:t>
            </a:r>
            <a:r>
              <a:rPr lang="en-US" sz="3600" b="1" dirty="0" smtClean="0"/>
              <a:t>Marginal Rate Of Transformation</a:t>
            </a:r>
            <a:r>
              <a:rPr lang="en-US" sz="3600" dirty="0" smtClean="0"/>
              <a:t>.</a:t>
            </a:r>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63</a:t>
            </a:fld>
            <a:endParaRPr lang="en-US"/>
          </a:p>
        </p:txBody>
      </p:sp>
    </p:spTree>
  </p:cSld>
  <p:clrMapOvr>
    <a:masterClrMapping/>
  </p:clrMapOvr>
  <p:transition>
    <p:wheel spokes="1"/>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Slope of PPF</a:t>
            </a:r>
            <a:endParaRPr lang="en-US" dirty="0"/>
          </a:p>
        </p:txBody>
      </p:sp>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330" y="1709928"/>
            <a:ext cx="6673339" cy="481748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56046474"/>
      </p:ext>
    </p:extLst>
  </p:cSld>
  <p:clrMapOvr>
    <a:masterClrMapping/>
  </p:clrMapOvr>
  <p:transition>
    <p:wheel spokes="1"/>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US" dirty="0" smtClean="0"/>
              <a:t>Shifts in </a:t>
            </a:r>
            <a:r>
              <a:rPr lang="en-US" dirty="0" err="1" smtClean="0"/>
              <a:t>ppf</a:t>
            </a:r>
            <a:endParaRPr lang="en-US" dirty="0"/>
          </a:p>
        </p:txBody>
      </p:sp>
      <p:sp>
        <p:nvSpPr>
          <p:cNvPr id="3" name="Content Placeholder 2"/>
          <p:cNvSpPr>
            <a:spLocks noGrp="1"/>
          </p:cNvSpPr>
          <p:nvPr>
            <p:ph idx="1"/>
          </p:nvPr>
        </p:nvSpPr>
        <p:spPr>
          <a:xfrm>
            <a:off x="457200" y="1143000"/>
            <a:ext cx="8229600" cy="5330952"/>
          </a:xfrm>
        </p:spPr>
        <p:txBody>
          <a:bodyPr>
            <a:normAutofit lnSpcReduction="10000"/>
          </a:bodyPr>
          <a:lstStyle/>
          <a:p>
            <a:r>
              <a:rPr lang="en-US" sz="2800" dirty="0" smtClean="0"/>
              <a:t>Caused by:</a:t>
            </a:r>
          </a:p>
          <a:p>
            <a:pPr lvl="1"/>
            <a:r>
              <a:rPr lang="en-US" sz="2800" dirty="0" smtClean="0"/>
              <a:t>Changes in resource availability:</a:t>
            </a:r>
          </a:p>
          <a:p>
            <a:pPr lvl="2"/>
            <a:r>
              <a:rPr lang="en-US" sz="2800" dirty="0" smtClean="0"/>
              <a:t>Turkana oil, water discovery</a:t>
            </a:r>
          </a:p>
          <a:p>
            <a:pPr lvl="2"/>
            <a:r>
              <a:rPr lang="en-US" sz="2800" dirty="0" smtClean="0"/>
              <a:t>24hr economy</a:t>
            </a:r>
          </a:p>
          <a:p>
            <a:pPr lvl="2"/>
            <a:r>
              <a:rPr lang="en-US" sz="2800" dirty="0" smtClean="0"/>
              <a:t>Change in </a:t>
            </a:r>
            <a:r>
              <a:rPr lang="en-US" sz="2800" dirty="0" err="1" smtClean="0"/>
              <a:t>labour</a:t>
            </a:r>
            <a:r>
              <a:rPr lang="en-US" sz="2800" dirty="0" smtClean="0"/>
              <a:t> force size</a:t>
            </a:r>
          </a:p>
          <a:p>
            <a:pPr lvl="2"/>
            <a:r>
              <a:rPr lang="en-US" sz="2800" dirty="0" smtClean="0"/>
              <a:t>Changes in economy </a:t>
            </a:r>
            <a:r>
              <a:rPr lang="en-US" sz="2800" dirty="0" err="1" smtClean="0"/>
              <a:t>labour</a:t>
            </a:r>
            <a:r>
              <a:rPr lang="en-US" sz="2800" dirty="0" smtClean="0"/>
              <a:t> skills set</a:t>
            </a:r>
            <a:endParaRPr lang="en-US" sz="2800" dirty="0"/>
          </a:p>
          <a:p>
            <a:r>
              <a:rPr lang="en-US" sz="2800" dirty="0" smtClean="0"/>
              <a:t>Technological changes</a:t>
            </a:r>
          </a:p>
          <a:p>
            <a:pPr lvl="2"/>
            <a:r>
              <a:rPr lang="en-US" sz="2800" dirty="0" smtClean="0"/>
              <a:t>Mobile telephony:&lt;20,000 in 2000, more than 38m in 2016</a:t>
            </a:r>
          </a:p>
          <a:p>
            <a:pPr lvl="2"/>
            <a:r>
              <a:rPr lang="en-US" sz="2800" dirty="0" smtClean="0"/>
              <a:t>Smart phones</a:t>
            </a:r>
          </a:p>
          <a:p>
            <a:pPr lvl="2"/>
            <a:r>
              <a:rPr lang="en-US" sz="2800" dirty="0" smtClean="0"/>
              <a:t>More efficient production methods</a:t>
            </a:r>
          </a:p>
          <a:p>
            <a:pPr lvl="2"/>
            <a:endParaRPr lang="en-US" dirty="0"/>
          </a:p>
        </p:txBody>
      </p:sp>
      <p:sp>
        <p:nvSpPr>
          <p:cNvPr id="5" name="Footer Placeholder 4"/>
          <p:cNvSpPr>
            <a:spLocks noGrp="1"/>
          </p:cNvSpPr>
          <p:nvPr>
            <p:ph type="ftr" sz="quarter" idx="11"/>
          </p:nvPr>
        </p:nvSpPr>
        <p:spPr/>
        <p:txBody>
          <a:bodyPr/>
          <a:lstStyle/>
          <a:p>
            <a:pPr>
              <a:defRPr/>
            </a:pPr>
            <a:r>
              <a:rPr lang="en-US" smtClean="0"/>
              <a:t>Oyugi Nyanjong'</a:t>
            </a:r>
            <a:endParaRPr lang="en-US"/>
          </a:p>
        </p:txBody>
      </p:sp>
      <p:sp>
        <p:nvSpPr>
          <p:cNvPr id="4" name="Slide Number Placeholder 3"/>
          <p:cNvSpPr>
            <a:spLocks noGrp="1"/>
          </p:cNvSpPr>
          <p:nvPr>
            <p:ph type="sldNum" sz="quarter" idx="12"/>
          </p:nvPr>
        </p:nvSpPr>
        <p:spPr/>
        <p:txBody>
          <a:bodyPr/>
          <a:lstStyle/>
          <a:p>
            <a:pPr>
              <a:defRPr/>
            </a:pPr>
            <a:fld id="{BE36189F-8EA4-4393-831F-E9BB08DDB1F4}" type="slidenum">
              <a:rPr lang="en-US" smtClean="0"/>
              <a:pPr>
                <a:defRPr/>
              </a:pPr>
              <a:t>65</a:t>
            </a:fld>
            <a:endParaRPr lang="en-US"/>
          </a:p>
        </p:txBody>
      </p:sp>
    </p:spTree>
    <p:extLst>
      <p:ext uri="{BB962C8B-B14F-4D97-AF65-F5344CB8AC3E}">
        <p14:creationId xmlns:p14="http://schemas.microsoft.com/office/powerpoint/2010/main" val="1120405345"/>
      </p:ext>
    </p:extLst>
  </p:cSld>
  <p:clrMapOvr>
    <a:masterClrMapping/>
  </p:clrMapOvr>
  <p:transition>
    <p:wheel spokes="1"/>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US" sz="4000" dirty="0" smtClean="0"/>
              <a:t>Shifts in </a:t>
            </a:r>
            <a:r>
              <a:rPr lang="en-US" sz="4000" dirty="0" err="1" smtClean="0"/>
              <a:t>ppf</a:t>
            </a:r>
            <a:r>
              <a:rPr lang="en-US" sz="4000" dirty="0" smtClean="0"/>
              <a:t> </a:t>
            </a:r>
            <a:r>
              <a:rPr lang="en-US" dirty="0" smtClean="0"/>
              <a:t>‘</a:t>
            </a:r>
            <a:r>
              <a:rPr lang="en-US" sz="2400" dirty="0" smtClean="0"/>
              <a:t>continued</a:t>
            </a:r>
            <a:endParaRPr lang="en-US" sz="2400" dirty="0"/>
          </a:p>
        </p:txBody>
      </p:sp>
      <p:sp>
        <p:nvSpPr>
          <p:cNvPr id="5" name="Footer Placeholder 4"/>
          <p:cNvSpPr>
            <a:spLocks noGrp="1"/>
          </p:cNvSpPr>
          <p:nvPr>
            <p:ph type="ftr" sz="quarter" idx="11"/>
          </p:nvPr>
        </p:nvSpPr>
        <p:spPr/>
        <p:txBody>
          <a:bodyPr/>
          <a:lstStyle/>
          <a:p>
            <a:pPr>
              <a:defRPr/>
            </a:pPr>
            <a:r>
              <a:rPr lang="en-US" smtClean="0"/>
              <a:t>Oyugi Nyanjong'</a:t>
            </a:r>
            <a:endParaRPr lang="en-US"/>
          </a:p>
        </p:txBody>
      </p:sp>
      <p:sp>
        <p:nvSpPr>
          <p:cNvPr id="4" name="Slide Number Placeholder 3"/>
          <p:cNvSpPr>
            <a:spLocks noGrp="1"/>
          </p:cNvSpPr>
          <p:nvPr>
            <p:ph type="sldNum" sz="quarter" idx="12"/>
          </p:nvPr>
        </p:nvSpPr>
        <p:spPr/>
        <p:txBody>
          <a:bodyPr/>
          <a:lstStyle/>
          <a:p>
            <a:pPr>
              <a:defRPr/>
            </a:pPr>
            <a:fld id="{BE36189F-8EA4-4393-831F-E9BB08DDB1F4}" type="slidenum">
              <a:rPr lang="en-US" smtClean="0"/>
              <a:pPr>
                <a:defRPr/>
              </a:pPr>
              <a:t>66</a:t>
            </a:fld>
            <a:endParaRPr lang="en-US"/>
          </a:p>
        </p:txBody>
      </p:sp>
      <p:pic>
        <p:nvPicPr>
          <p:cNvPr id="2050" name="Picture 2" descr="C:\Users\Oyugi\Desktop\PP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155700"/>
            <a:ext cx="6278563" cy="53276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7832790"/>
      </p:ext>
    </p:extLst>
  </p:cSld>
  <p:clrMapOvr>
    <a:masterClrMapping/>
  </p:clrMapOvr>
  <p:transition>
    <p:wheel spokes="1"/>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301752" y="228600"/>
            <a:ext cx="8534400" cy="914400"/>
          </a:xfrm>
        </p:spPr>
        <p:txBody>
          <a:bodyPr>
            <a:noAutofit/>
          </a:bodyPr>
          <a:lstStyle/>
          <a:p>
            <a:r>
              <a:rPr lang="en-US" sz="4000" dirty="0" smtClean="0">
                <a:solidFill>
                  <a:srgbClr val="002060"/>
                </a:solidFill>
              </a:rPr>
              <a:t/>
            </a:r>
            <a:br>
              <a:rPr lang="en-US" sz="4000" dirty="0" smtClean="0">
                <a:solidFill>
                  <a:srgbClr val="002060"/>
                </a:solidFill>
              </a:rPr>
            </a:br>
            <a:r>
              <a:rPr lang="en-US" sz="4000" b="1" dirty="0" smtClean="0">
                <a:solidFill>
                  <a:srgbClr val="002060"/>
                </a:solidFill>
              </a:rPr>
              <a:t> ELEMENTS OF ECONOMIC ACTIVITIES </a:t>
            </a:r>
            <a:endParaRPr lang="en-US" sz="4000" dirty="0" smtClean="0">
              <a:solidFill>
                <a:srgbClr val="002060"/>
              </a:solidFill>
            </a:endParaRPr>
          </a:p>
        </p:txBody>
      </p:sp>
      <p:sp>
        <p:nvSpPr>
          <p:cNvPr id="33795" name="Content Placeholder 2"/>
          <p:cNvSpPr>
            <a:spLocks noGrp="1"/>
          </p:cNvSpPr>
          <p:nvPr>
            <p:ph idx="1"/>
          </p:nvPr>
        </p:nvSpPr>
        <p:spPr>
          <a:xfrm>
            <a:off x="609600" y="1371600"/>
            <a:ext cx="8382000" cy="5257800"/>
          </a:xfrm>
        </p:spPr>
        <p:txBody>
          <a:bodyPr>
            <a:normAutofit/>
          </a:bodyPr>
          <a:lstStyle/>
          <a:p>
            <a:r>
              <a:rPr lang="en-US" sz="4000" b="1" dirty="0" smtClean="0"/>
              <a:t>Market</a:t>
            </a:r>
            <a:r>
              <a:rPr lang="en-US" sz="4000" dirty="0" smtClean="0"/>
              <a:t> –an institution or arena where goods and services are exchanged. </a:t>
            </a:r>
          </a:p>
          <a:p>
            <a:r>
              <a:rPr lang="en-US" sz="4000" dirty="0" smtClean="0"/>
              <a:t>Households and firms interact in two basic types of market. </a:t>
            </a:r>
          </a:p>
          <a:p>
            <a:pPr lvl="1"/>
            <a:r>
              <a:rPr lang="en-US" sz="4000" b="1" dirty="0" smtClean="0"/>
              <a:t>Product/Output market</a:t>
            </a:r>
          </a:p>
          <a:p>
            <a:pPr lvl="1"/>
            <a:r>
              <a:rPr lang="en-US" sz="4000" b="1" dirty="0" smtClean="0"/>
              <a:t>Factor/Input market</a:t>
            </a:r>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67</a:t>
            </a:fld>
            <a:endParaRPr lang="en-US"/>
          </a:p>
        </p:txBody>
      </p:sp>
    </p:spTree>
  </p:cSld>
  <p:clrMapOvr>
    <a:masterClrMapping/>
  </p:clrMapOvr>
  <p:transition>
    <p:wheel spokes="1"/>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0"/>
            <a:ext cx="8077200" cy="1371600"/>
          </a:xfrm>
        </p:spPr>
        <p:txBody>
          <a:bodyPr>
            <a:normAutofit fontScale="90000"/>
          </a:bodyPr>
          <a:lstStyle/>
          <a:p>
            <a:pPr fontAlgn="auto">
              <a:spcAft>
                <a:spcPts val="0"/>
              </a:spcAft>
              <a:defRPr/>
            </a:pPr>
            <a:r>
              <a:rPr lang="en-US" sz="3200" dirty="0" smtClean="0"/>
              <a:t/>
            </a:r>
            <a:br>
              <a:rPr lang="en-US" sz="3200" dirty="0" smtClean="0"/>
            </a:br>
            <a:r>
              <a:rPr lang="en-US" sz="3200" b="1" dirty="0" smtClean="0"/>
              <a:t> ELEMENTS OF ECONOMIC ACTIVITIES </a:t>
            </a:r>
            <a:r>
              <a:rPr lang="en-US" sz="3200" b="1" dirty="0"/>
              <a:t>PPF And Opportunity Cost </a:t>
            </a:r>
            <a:r>
              <a:rPr lang="en-US" sz="2700" i="1" dirty="0"/>
              <a:t>continued</a:t>
            </a:r>
            <a:endParaRPr lang="en-US" sz="2700" dirty="0"/>
          </a:p>
        </p:txBody>
      </p:sp>
      <p:sp>
        <p:nvSpPr>
          <p:cNvPr id="34819" name="Content Placeholder 2"/>
          <p:cNvSpPr>
            <a:spLocks noGrp="1"/>
          </p:cNvSpPr>
          <p:nvPr>
            <p:ph idx="1"/>
          </p:nvPr>
        </p:nvSpPr>
        <p:spPr>
          <a:xfrm>
            <a:off x="304800" y="1371600"/>
            <a:ext cx="8534400" cy="5181600"/>
          </a:xfrm>
        </p:spPr>
        <p:txBody>
          <a:bodyPr>
            <a:normAutofit lnSpcReduction="10000"/>
          </a:bodyPr>
          <a:lstStyle/>
          <a:p>
            <a:r>
              <a:rPr lang="en-US" sz="3600" b="1" dirty="0" smtClean="0"/>
              <a:t>Product/Output market</a:t>
            </a:r>
            <a:r>
              <a:rPr lang="en-US" sz="3600" dirty="0" smtClean="0"/>
              <a:t> – goods and services intended for use by households are exchanged in this market-firms supply , households demand. </a:t>
            </a:r>
          </a:p>
          <a:p>
            <a:r>
              <a:rPr lang="en-US" sz="3600" dirty="0" smtClean="0">
                <a:solidFill>
                  <a:srgbClr val="FF0000"/>
                </a:solidFill>
              </a:rPr>
              <a:t>In the Circular Flow of Income diagram, the flow of economic activity is reflected by the direction through which goods and services flow.</a:t>
            </a:r>
          </a:p>
          <a:p>
            <a:endParaRPr lang="en-US" dirty="0" smtClean="0">
              <a:solidFill>
                <a:srgbClr val="FF0000"/>
              </a:solidFill>
            </a:endParaRPr>
          </a:p>
          <a:p>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68</a:t>
            </a:fld>
            <a:endParaRPr lang="en-US"/>
          </a:p>
        </p:txBody>
      </p:sp>
    </p:spTree>
  </p:cSld>
  <p:clrMapOvr>
    <a:masterClrMapping/>
  </p:clrMapOvr>
  <p:transition>
    <p:wheel spokes="1"/>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Circular Flow of Income </a:t>
            </a:r>
            <a:r>
              <a:rPr lang="en-US" sz="2400" i="1" dirty="0" smtClean="0"/>
              <a:t>continued</a:t>
            </a:r>
            <a:endParaRPr lang="en-US" sz="2400" i="1" dirty="0"/>
          </a:p>
        </p:txBody>
      </p:sp>
      <p:sp>
        <p:nvSpPr>
          <p:cNvPr id="2" name="Content Placeholder 1"/>
          <p:cNvSpPr>
            <a:spLocks noGrp="1"/>
          </p:cNvSpPr>
          <p:nvPr>
            <p:ph idx="1"/>
          </p:nvPr>
        </p:nvSpPr>
        <p:spPr>
          <a:xfrm>
            <a:off x="1028700" y="1524000"/>
            <a:ext cx="7581900" cy="5181600"/>
          </a:xfrm>
        </p:spPr>
        <p:txBody>
          <a:bodyPr>
            <a:normAutofit fontScale="92500" lnSpcReduction="10000"/>
          </a:bodyPr>
          <a:lstStyle/>
          <a:p>
            <a:r>
              <a:rPr lang="en-US" sz="4000" dirty="0" smtClean="0"/>
              <a:t>Injections-</a:t>
            </a:r>
            <a:r>
              <a:rPr lang="en-US" sz="4000" dirty="0" err="1" smtClean="0"/>
              <a:t>e.g</a:t>
            </a:r>
            <a:r>
              <a:rPr lang="en-US" sz="4000" dirty="0" smtClean="0"/>
              <a:t> borrowings(loans), accumulated wealth.</a:t>
            </a:r>
          </a:p>
          <a:p>
            <a:r>
              <a:rPr lang="en-US" sz="4000" dirty="0" smtClean="0"/>
              <a:t>Leakages-e.g. savings</a:t>
            </a:r>
          </a:p>
          <a:p>
            <a:r>
              <a:rPr lang="en-US" sz="4000" dirty="0" smtClean="0"/>
              <a:t>When leakages&gt;injections, recession results.</a:t>
            </a:r>
          </a:p>
          <a:p>
            <a:r>
              <a:rPr lang="en-US" sz="4000" dirty="0" smtClean="0"/>
              <a:t>When leakages&lt;injections, boom(economic prosperity) results.</a:t>
            </a:r>
          </a:p>
          <a:p>
            <a:endParaRPr lang="en-US" dirty="0" smtClean="0"/>
          </a:p>
          <a:p>
            <a:endParaRPr lang="en-US" dirty="0" smtClean="0"/>
          </a:p>
          <a:p>
            <a:endParaRPr lang="en-US"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69</a:t>
            </a:fld>
            <a:endParaRPr lang="en-US"/>
          </a:p>
        </p:txBody>
      </p:sp>
    </p:spTree>
  </p:cSld>
  <p:clrMapOvr>
    <a:masterClrMapping/>
  </p:clrMapOvr>
  <p:transition>
    <p:wheel spokes="1"/>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96315"/>
            <a:ext cx="8229600" cy="970485"/>
          </a:xfrm>
        </p:spPr>
        <p:txBody>
          <a:bodyPr>
            <a:normAutofit fontScale="90000"/>
          </a:bodyPr>
          <a:lstStyle/>
          <a:p>
            <a:r>
              <a:rPr lang="en-US" sz="4000" b="1" dirty="0" smtClean="0">
                <a:solidFill>
                  <a:srgbClr val="FF0000"/>
                </a:solidFill>
              </a:rPr>
              <a:t>Circular Flow of Income(2-sector</a:t>
            </a:r>
            <a:r>
              <a:rPr lang="en-US" sz="4000" b="1" dirty="0" smtClean="0"/>
              <a:t>)</a:t>
            </a:r>
            <a:endParaRPr lang="en-US" sz="4000" dirty="0" smtClean="0"/>
          </a:p>
        </p:txBody>
      </p:sp>
      <p:sp>
        <p:nvSpPr>
          <p:cNvPr id="29" name="Footer Placeholder 28"/>
          <p:cNvSpPr>
            <a:spLocks noGrp="1"/>
          </p:cNvSpPr>
          <p:nvPr>
            <p:ph type="ftr" sz="quarter" idx="11"/>
          </p:nvPr>
        </p:nvSpPr>
        <p:spPr/>
        <p:txBody>
          <a:bodyPr/>
          <a:lstStyle/>
          <a:p>
            <a:pPr>
              <a:defRPr/>
            </a:pPr>
            <a:r>
              <a:rPr lang="en-US" smtClean="0"/>
              <a:t>Oyugi Nyanjong'</a:t>
            </a:r>
            <a:endParaRPr lang="en-US"/>
          </a:p>
        </p:txBody>
      </p:sp>
      <p:sp>
        <p:nvSpPr>
          <p:cNvPr id="28" name="Slide Number Placeholder 27"/>
          <p:cNvSpPr>
            <a:spLocks noGrp="1"/>
          </p:cNvSpPr>
          <p:nvPr>
            <p:ph type="sldNum" sz="quarter" idx="12"/>
          </p:nvPr>
        </p:nvSpPr>
        <p:spPr/>
        <p:txBody>
          <a:bodyPr/>
          <a:lstStyle/>
          <a:p>
            <a:pPr>
              <a:defRPr/>
            </a:pPr>
            <a:fld id="{BE36189F-8EA4-4393-831F-E9BB08DDB1F4}" type="slidenum">
              <a:rPr lang="en-US" smtClean="0"/>
              <a:pPr>
                <a:defRPr/>
              </a:pPr>
              <a:t>70</a:t>
            </a:fld>
            <a:endParaRPr lang="en-US"/>
          </a:p>
        </p:txBody>
      </p:sp>
      <p:sp>
        <p:nvSpPr>
          <p:cNvPr id="35843" name="Rectangle 23"/>
          <p:cNvSpPr>
            <a:spLocks noChangeArrowheads="1"/>
          </p:cNvSpPr>
          <p:nvPr/>
        </p:nvSpPr>
        <p:spPr bwMode="auto">
          <a:xfrm>
            <a:off x="0" y="0"/>
            <a:ext cx="184150" cy="369888"/>
          </a:xfrm>
          <a:prstGeom prst="rect">
            <a:avLst/>
          </a:prstGeom>
          <a:noFill/>
          <a:ln w="9525">
            <a:noFill/>
            <a:miter lim="800000"/>
            <a:headEnd/>
            <a:tailEnd/>
          </a:ln>
        </p:spPr>
        <p:txBody>
          <a:bodyPr wrap="none" anchor="ctr">
            <a:spAutoFit/>
          </a:bodyPr>
          <a:lstStyle/>
          <a:p>
            <a:endParaRPr lang="en-US">
              <a:latin typeface="Rockwell" pitchFamily="18" charset="0"/>
            </a:endParaRPr>
          </a:p>
        </p:txBody>
      </p:sp>
      <p:grpSp>
        <p:nvGrpSpPr>
          <p:cNvPr id="3" name="Group 1"/>
          <p:cNvGrpSpPr>
            <a:grpSpLocks/>
          </p:cNvGrpSpPr>
          <p:nvPr/>
        </p:nvGrpSpPr>
        <p:grpSpPr bwMode="auto">
          <a:xfrm>
            <a:off x="762000" y="1219200"/>
            <a:ext cx="7924800" cy="5028884"/>
            <a:chOff x="1155" y="2023"/>
            <a:chExt cx="8781" cy="4904"/>
          </a:xfrm>
        </p:grpSpPr>
        <p:grpSp>
          <p:nvGrpSpPr>
            <p:cNvPr id="35847" name="Group 3"/>
            <p:cNvGrpSpPr>
              <a:grpSpLocks/>
            </p:cNvGrpSpPr>
            <p:nvPr/>
          </p:nvGrpSpPr>
          <p:grpSpPr bwMode="auto">
            <a:xfrm>
              <a:off x="1155" y="2023"/>
              <a:ext cx="8781" cy="4904"/>
              <a:chOff x="1155" y="2287"/>
              <a:chExt cx="8781" cy="4904"/>
            </a:xfrm>
          </p:grpSpPr>
          <p:sp>
            <p:nvSpPr>
              <p:cNvPr id="6166" name="Rectangle 22"/>
              <p:cNvSpPr>
                <a:spLocks noChangeArrowheads="1"/>
              </p:cNvSpPr>
              <p:nvPr/>
            </p:nvSpPr>
            <p:spPr bwMode="auto">
              <a:xfrm>
                <a:off x="4545" y="2287"/>
                <a:ext cx="2565" cy="1021"/>
              </a:xfrm>
              <a:prstGeom prst="rect">
                <a:avLst/>
              </a:prstGeom>
              <a:solidFill>
                <a:srgbClr val="FFC000"/>
              </a:solidFill>
              <a:ln w="57150">
                <a:noFill/>
                <a:headEnd/>
                <a:tailEnd/>
              </a:ln>
              <a:effectLst>
                <a:glow rad="101600">
                  <a:schemeClr val="accent1">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lstStyle/>
              <a:p>
                <a:pPr>
                  <a:defRPr/>
                </a:pPr>
                <a:r>
                  <a:rPr lang="en-US" b="1" dirty="0">
                    <a:ln>
                      <a:solidFill>
                        <a:schemeClr val="tx2"/>
                      </a:solidFill>
                    </a:ln>
                    <a:solidFill>
                      <a:schemeClr val="tx1"/>
                    </a:solidFill>
                    <a:latin typeface="Calibri" pitchFamily="34" charset="0"/>
                    <a:ea typeface="Times New Roman" pitchFamily="18" charset="0"/>
                    <a:cs typeface="Times New Roman" pitchFamily="18" charset="0"/>
                  </a:rPr>
                  <a:t>PRODUCT MARKETS (OUTPUT)</a:t>
                </a:r>
                <a:endParaRPr lang="en-US" b="1" dirty="0">
                  <a:ln>
                    <a:solidFill>
                      <a:schemeClr val="tx2"/>
                    </a:solidFill>
                  </a:ln>
                  <a:solidFill>
                    <a:schemeClr val="tx1"/>
                  </a:solidFill>
                  <a:latin typeface="Arial" pitchFamily="34" charset="0"/>
                </a:endParaRPr>
              </a:p>
              <a:p>
                <a:pPr eaLnBrk="0" hangingPunct="0">
                  <a:defRPr/>
                </a:pPr>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ea typeface="Times New Roman" pitchFamily="18" charset="0"/>
                    <a:cs typeface="Times New Roman" pitchFamily="18" charset="0"/>
                  </a:rPr>
                  <a:t>Goods and </a:t>
                </a:r>
                <a:r>
                  <a:rPr lang="en-US"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ea typeface="Times New Roman" pitchFamily="18" charset="0"/>
                    <a:cs typeface="Times New Roman" pitchFamily="18" charset="0"/>
                  </a:rPr>
                  <a:t>Servicces</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itchFamily="34" charset="0"/>
                </a:endParaRPr>
              </a:p>
            </p:txBody>
          </p:sp>
          <p:sp>
            <p:nvSpPr>
              <p:cNvPr id="6165" name="Rectangle 21"/>
              <p:cNvSpPr>
                <a:spLocks noChangeArrowheads="1"/>
              </p:cNvSpPr>
              <p:nvPr/>
            </p:nvSpPr>
            <p:spPr bwMode="auto">
              <a:xfrm>
                <a:off x="4463" y="6096"/>
                <a:ext cx="2664" cy="1095"/>
              </a:xfrm>
              <a:prstGeom prst="rect">
                <a:avLst/>
              </a:prstGeom>
              <a:solidFill>
                <a:srgbClr val="FFC000"/>
              </a:solidFill>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lnRef>
              <a:fillRef idx="1">
                <a:schemeClr val="lt1"/>
              </a:fillRef>
              <a:effectRef idx="0">
                <a:schemeClr val="accent2"/>
              </a:effectRef>
              <a:fontRef idx="minor">
                <a:schemeClr val="dk1"/>
              </a:fontRef>
            </p:style>
            <p:txBody>
              <a:bodyPr/>
              <a:lstStyle/>
              <a:p>
                <a:pPr>
                  <a:defRPr/>
                </a:pPr>
                <a:r>
                  <a:rPr lang="en-US" b="1" dirty="0">
                    <a:ln>
                      <a:solidFill>
                        <a:schemeClr val="tx2"/>
                      </a:solidFill>
                    </a:ln>
                    <a:solidFill>
                      <a:schemeClr val="tx1"/>
                    </a:solidFill>
                    <a:latin typeface="Calibri" pitchFamily="34" charset="0"/>
                    <a:ea typeface="Times New Roman" pitchFamily="18" charset="0"/>
                    <a:cs typeface="Times New Roman" pitchFamily="18" charset="0"/>
                  </a:rPr>
                  <a:t>INPUT </a:t>
                </a:r>
                <a:r>
                  <a:rPr lang="en-US" b="1" dirty="0" smtClean="0">
                    <a:ln>
                      <a:solidFill>
                        <a:schemeClr val="tx2"/>
                      </a:solidFill>
                    </a:ln>
                    <a:solidFill>
                      <a:schemeClr val="tx1"/>
                    </a:solidFill>
                    <a:latin typeface="Calibri" pitchFamily="34" charset="0"/>
                    <a:ea typeface="Times New Roman" pitchFamily="18" charset="0"/>
                    <a:cs typeface="Times New Roman" pitchFamily="18" charset="0"/>
                  </a:rPr>
                  <a:t>MARKETS</a:t>
                </a:r>
              </a:p>
              <a:p>
                <a:pPr>
                  <a:defRPr/>
                </a:pPr>
                <a:r>
                  <a:rPr lang="en-US" b="1" dirty="0" smtClean="0">
                    <a:ln>
                      <a:solidFill>
                        <a:schemeClr val="tx2"/>
                      </a:solidFill>
                    </a:ln>
                    <a:solidFill>
                      <a:schemeClr val="tx1"/>
                    </a:solidFill>
                    <a:latin typeface="Calibri" pitchFamily="34" charset="0"/>
                    <a:ea typeface="Times New Roman" pitchFamily="18" charset="0"/>
                    <a:cs typeface="Times New Roman" pitchFamily="18" charset="0"/>
                  </a:rPr>
                  <a:t>(FACTOR) </a:t>
                </a:r>
                <a:endParaRPr lang="en-US" b="1" dirty="0">
                  <a:ln>
                    <a:solidFill>
                      <a:schemeClr val="tx2"/>
                    </a:solidFill>
                  </a:ln>
                  <a:solidFill>
                    <a:schemeClr val="tx1"/>
                  </a:solidFill>
                  <a:latin typeface="Arial" pitchFamily="34" charset="0"/>
                </a:endParaRPr>
              </a:p>
              <a:p>
                <a:pPr eaLnBrk="0" hangingPunct="0">
                  <a:defRPr/>
                </a:pPr>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ea typeface="Times New Roman" pitchFamily="18" charset="0"/>
                    <a:cs typeface="Times New Roman" pitchFamily="18" charset="0"/>
                  </a:rPr>
                  <a:t>Land, labour and capital </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itchFamily="34" charset="0"/>
                </a:endParaRPr>
              </a:p>
            </p:txBody>
          </p:sp>
          <p:sp>
            <p:nvSpPr>
              <p:cNvPr id="35851" name="Rectangle 20"/>
              <p:cNvSpPr>
                <a:spLocks noChangeArrowheads="1"/>
              </p:cNvSpPr>
              <p:nvPr/>
            </p:nvSpPr>
            <p:spPr bwMode="auto">
              <a:xfrm>
                <a:off x="8046" y="4043"/>
                <a:ext cx="1890" cy="704"/>
              </a:xfrm>
              <a:prstGeom prst="rect">
                <a:avLst/>
              </a:prstGeom>
              <a:solidFill>
                <a:srgbClr val="FF0000"/>
              </a:solidFill>
              <a:ln w="9525">
                <a:noFill/>
                <a:miter lim="800000"/>
                <a:headEnd/>
                <a:tailEnd/>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a:lstStyle/>
              <a:p>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Times New Roman" pitchFamily="18" charset="0"/>
                  </a:rPr>
                  <a:t>HOUSEHOLDS </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5852" name="Rectangle 19"/>
              <p:cNvSpPr>
                <a:spLocks noChangeArrowheads="1"/>
              </p:cNvSpPr>
              <p:nvPr/>
            </p:nvSpPr>
            <p:spPr bwMode="auto">
              <a:xfrm>
                <a:off x="1155" y="4027"/>
                <a:ext cx="1455" cy="653"/>
              </a:xfrm>
              <a:prstGeom prst="rect">
                <a:avLst/>
              </a:prstGeom>
              <a:solidFill>
                <a:srgbClr val="FF0000"/>
              </a:solidFill>
              <a:ln w="9525">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a:lstStyle/>
              <a:p>
                <a:pPr algn="ctr"/>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Times New Roman" pitchFamily="18" charset="0"/>
                  </a:rPr>
                  <a:t>FIRMS</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35853" name="AutoShape 18"/>
              <p:cNvCxnSpPr>
                <a:cxnSpLocks noChangeShapeType="1"/>
              </p:cNvCxnSpPr>
              <p:nvPr/>
            </p:nvCxnSpPr>
            <p:spPr bwMode="auto">
              <a:xfrm flipV="1">
                <a:off x="2145" y="2910"/>
                <a:ext cx="2400" cy="1117"/>
              </a:xfrm>
              <a:prstGeom prst="straightConnector1">
                <a:avLst/>
              </a:prstGeom>
              <a:noFill/>
              <a:ln w="19050">
                <a:solidFill>
                  <a:srgbClr val="000000"/>
                </a:solidFill>
                <a:round/>
                <a:headEnd/>
                <a:tailEnd type="triangle" w="med" len="med"/>
              </a:ln>
            </p:spPr>
          </p:cxnSp>
          <p:cxnSp>
            <p:nvCxnSpPr>
              <p:cNvPr id="35854" name="AutoShape 17"/>
              <p:cNvCxnSpPr>
                <a:cxnSpLocks noChangeShapeType="1"/>
              </p:cNvCxnSpPr>
              <p:nvPr/>
            </p:nvCxnSpPr>
            <p:spPr bwMode="auto">
              <a:xfrm rot="5400000">
                <a:off x="7183" y="4685"/>
                <a:ext cx="1633" cy="1746"/>
              </a:xfrm>
              <a:prstGeom prst="straightConnector1">
                <a:avLst/>
              </a:prstGeom>
              <a:noFill/>
              <a:ln w="19050">
                <a:solidFill>
                  <a:srgbClr val="000000"/>
                </a:solidFill>
                <a:round/>
                <a:headEnd/>
                <a:tailEnd type="triangle" w="med" len="med"/>
              </a:ln>
            </p:spPr>
          </p:cxnSp>
          <p:cxnSp>
            <p:nvCxnSpPr>
              <p:cNvPr id="35855" name="AutoShape 16"/>
              <p:cNvCxnSpPr>
                <a:cxnSpLocks noChangeShapeType="1"/>
              </p:cNvCxnSpPr>
              <p:nvPr/>
            </p:nvCxnSpPr>
            <p:spPr bwMode="auto">
              <a:xfrm>
                <a:off x="7127" y="2807"/>
                <a:ext cx="1654" cy="1189"/>
              </a:xfrm>
              <a:prstGeom prst="straightConnector1">
                <a:avLst/>
              </a:prstGeom>
              <a:noFill/>
              <a:ln w="19050">
                <a:solidFill>
                  <a:srgbClr val="000000"/>
                </a:solidFill>
                <a:round/>
                <a:headEnd/>
                <a:tailEnd type="triangle" w="med" len="med"/>
              </a:ln>
            </p:spPr>
          </p:cxnSp>
          <p:cxnSp>
            <p:nvCxnSpPr>
              <p:cNvPr id="35856" name="AutoShape 15"/>
              <p:cNvCxnSpPr>
                <a:cxnSpLocks noChangeShapeType="1"/>
              </p:cNvCxnSpPr>
              <p:nvPr/>
            </p:nvCxnSpPr>
            <p:spPr bwMode="auto">
              <a:xfrm rot="10800000">
                <a:off x="7127" y="2436"/>
                <a:ext cx="2389" cy="1560"/>
              </a:xfrm>
              <a:prstGeom prst="straightConnector1">
                <a:avLst/>
              </a:prstGeom>
              <a:noFill/>
              <a:ln w="19050">
                <a:solidFill>
                  <a:srgbClr val="000000"/>
                </a:solidFill>
                <a:round/>
                <a:headEnd/>
                <a:tailEnd type="triangle" w="med" len="med"/>
              </a:ln>
            </p:spPr>
          </p:cxnSp>
          <p:cxnSp>
            <p:nvCxnSpPr>
              <p:cNvPr id="35857" name="AutoShape 14"/>
              <p:cNvCxnSpPr>
                <a:cxnSpLocks noChangeShapeType="1"/>
              </p:cNvCxnSpPr>
              <p:nvPr/>
            </p:nvCxnSpPr>
            <p:spPr bwMode="auto">
              <a:xfrm rot="5400000" flipH="1" flipV="1">
                <a:off x="7327" y="4539"/>
                <a:ext cx="2080" cy="2481"/>
              </a:xfrm>
              <a:prstGeom prst="straightConnector1">
                <a:avLst/>
              </a:prstGeom>
              <a:noFill/>
              <a:ln w="19050">
                <a:solidFill>
                  <a:srgbClr val="000000"/>
                </a:solidFill>
                <a:round/>
                <a:headEnd/>
                <a:tailEnd type="triangle" w="med" len="med"/>
              </a:ln>
            </p:spPr>
          </p:cxnSp>
          <p:cxnSp>
            <p:nvCxnSpPr>
              <p:cNvPr id="35858" name="AutoShape 13"/>
              <p:cNvCxnSpPr>
                <a:cxnSpLocks noChangeShapeType="1"/>
              </p:cNvCxnSpPr>
              <p:nvPr/>
            </p:nvCxnSpPr>
            <p:spPr bwMode="auto">
              <a:xfrm rot="10800000" flipV="1">
                <a:off x="1706" y="2510"/>
                <a:ext cx="2767" cy="1477"/>
              </a:xfrm>
              <a:prstGeom prst="straightConnector1">
                <a:avLst/>
              </a:prstGeom>
              <a:noFill/>
              <a:ln w="19050">
                <a:solidFill>
                  <a:srgbClr val="000000"/>
                </a:solidFill>
                <a:round/>
                <a:headEnd/>
                <a:tailEnd type="triangle" w="med" len="med"/>
              </a:ln>
            </p:spPr>
          </p:cxnSp>
          <p:cxnSp>
            <p:nvCxnSpPr>
              <p:cNvPr id="35859" name="AutoShape 12"/>
              <p:cNvCxnSpPr>
                <a:cxnSpLocks noChangeShapeType="1"/>
              </p:cNvCxnSpPr>
              <p:nvPr/>
            </p:nvCxnSpPr>
            <p:spPr bwMode="auto">
              <a:xfrm>
                <a:off x="1515" y="4680"/>
                <a:ext cx="2947" cy="2086"/>
              </a:xfrm>
              <a:prstGeom prst="straightConnector1">
                <a:avLst/>
              </a:prstGeom>
              <a:noFill/>
              <a:ln w="19050">
                <a:solidFill>
                  <a:srgbClr val="000000"/>
                </a:solidFill>
                <a:round/>
                <a:headEnd/>
                <a:tailEnd type="triangle" w="med" len="med"/>
              </a:ln>
            </p:spPr>
          </p:cxnSp>
          <p:sp>
            <p:nvSpPr>
              <p:cNvPr id="35860" name="Text Box 11"/>
              <p:cNvSpPr txBox="1">
                <a:spLocks noChangeArrowheads="1"/>
              </p:cNvSpPr>
              <p:nvPr/>
            </p:nvSpPr>
            <p:spPr bwMode="auto">
              <a:xfrm>
                <a:off x="1635" y="5467"/>
                <a:ext cx="1455" cy="630"/>
              </a:xfrm>
              <a:prstGeom prst="rect">
                <a:avLst/>
              </a:prstGeom>
              <a:noFill/>
              <a:ln w="9525">
                <a:noFill/>
                <a:miter lim="800000"/>
                <a:headEnd/>
                <a:tailEnd/>
              </a:ln>
            </p:spPr>
            <p:txBody>
              <a:bodyPr/>
              <a:lstStyle/>
              <a:p>
                <a:r>
                  <a:rPr lang="en-US">
                    <a:ln>
                      <a:solidFill>
                        <a:schemeClr val="tx2"/>
                      </a:solidFill>
                    </a:ln>
                    <a:latin typeface="Calibri" pitchFamily="34" charset="0"/>
                    <a:cs typeface="Times New Roman" pitchFamily="18" charset="0"/>
                  </a:rPr>
                  <a:t>Payment </a:t>
                </a:r>
                <a:endParaRPr lang="en-US">
                  <a:ln>
                    <a:solidFill>
                      <a:schemeClr val="tx2"/>
                    </a:solidFill>
                  </a:ln>
                </a:endParaRPr>
              </a:p>
            </p:txBody>
          </p:sp>
          <p:sp>
            <p:nvSpPr>
              <p:cNvPr id="35861" name="Text Box 10"/>
              <p:cNvSpPr txBox="1">
                <a:spLocks noChangeArrowheads="1"/>
              </p:cNvSpPr>
              <p:nvPr/>
            </p:nvSpPr>
            <p:spPr bwMode="auto">
              <a:xfrm>
                <a:off x="2640" y="4680"/>
                <a:ext cx="1455" cy="630"/>
              </a:xfrm>
              <a:prstGeom prst="rect">
                <a:avLst/>
              </a:prstGeom>
              <a:noFill/>
              <a:ln w="9525">
                <a:noFill/>
                <a:miter lim="800000"/>
                <a:headEnd/>
                <a:tailEnd/>
              </a:ln>
            </p:spPr>
            <p:txBody>
              <a:bodyPr/>
              <a:lstStyle/>
              <a:p>
                <a:r>
                  <a:rPr lang="en-US">
                    <a:ln>
                      <a:solidFill>
                        <a:schemeClr val="tx2"/>
                      </a:solidFill>
                    </a:ln>
                    <a:latin typeface="Calibri" pitchFamily="34" charset="0"/>
                    <a:cs typeface="Times New Roman" pitchFamily="18" charset="0"/>
                  </a:rPr>
                  <a:t>Demand</a:t>
                </a:r>
                <a:r>
                  <a:rPr lang="en-US" sz="1200">
                    <a:ln>
                      <a:solidFill>
                        <a:schemeClr val="tx2"/>
                      </a:solidFill>
                    </a:ln>
                    <a:latin typeface="Calibri" pitchFamily="34" charset="0"/>
                    <a:cs typeface="Times New Roman" pitchFamily="18" charset="0"/>
                  </a:rPr>
                  <a:t> </a:t>
                </a:r>
                <a:endParaRPr lang="en-US">
                  <a:ln>
                    <a:solidFill>
                      <a:schemeClr val="tx2"/>
                    </a:solidFill>
                  </a:ln>
                </a:endParaRPr>
              </a:p>
            </p:txBody>
          </p:sp>
          <p:sp>
            <p:nvSpPr>
              <p:cNvPr id="35862" name="Text Box 9"/>
              <p:cNvSpPr txBox="1">
                <a:spLocks noChangeArrowheads="1"/>
              </p:cNvSpPr>
              <p:nvPr/>
            </p:nvSpPr>
            <p:spPr bwMode="auto">
              <a:xfrm>
                <a:off x="6855" y="3285"/>
                <a:ext cx="1455" cy="630"/>
              </a:xfrm>
              <a:prstGeom prst="rect">
                <a:avLst/>
              </a:prstGeom>
              <a:noFill/>
              <a:ln w="9525">
                <a:noFill/>
                <a:miter lim="800000"/>
                <a:headEnd/>
                <a:tailEnd/>
              </a:ln>
            </p:spPr>
            <p:txBody>
              <a:bodyPr/>
              <a:lstStyle/>
              <a:p>
                <a:r>
                  <a:rPr lang="en-US" dirty="0" smtClean="0">
                    <a:ln>
                      <a:solidFill>
                        <a:schemeClr val="tx2"/>
                      </a:solidFill>
                    </a:ln>
                    <a:latin typeface="Calibri" pitchFamily="34" charset="0"/>
                    <a:cs typeface="Times New Roman" pitchFamily="18" charset="0"/>
                  </a:rPr>
                  <a:t>Demand</a:t>
                </a:r>
                <a:r>
                  <a:rPr lang="en-US" sz="1200" dirty="0" smtClean="0">
                    <a:ln>
                      <a:solidFill>
                        <a:schemeClr val="tx2"/>
                      </a:solidFill>
                    </a:ln>
                    <a:latin typeface="Calibri" pitchFamily="34" charset="0"/>
                    <a:cs typeface="Times New Roman" pitchFamily="18" charset="0"/>
                  </a:rPr>
                  <a:t> </a:t>
                </a:r>
                <a:endParaRPr lang="en-US" dirty="0">
                  <a:ln>
                    <a:solidFill>
                      <a:schemeClr val="tx2"/>
                    </a:solidFill>
                  </a:ln>
                </a:endParaRPr>
              </a:p>
            </p:txBody>
          </p:sp>
          <p:sp>
            <p:nvSpPr>
              <p:cNvPr id="35863" name="Text Box 8"/>
              <p:cNvSpPr txBox="1">
                <a:spLocks noChangeArrowheads="1"/>
              </p:cNvSpPr>
              <p:nvPr/>
            </p:nvSpPr>
            <p:spPr bwMode="auto">
              <a:xfrm>
                <a:off x="8460" y="2902"/>
                <a:ext cx="1455" cy="630"/>
              </a:xfrm>
              <a:prstGeom prst="rect">
                <a:avLst/>
              </a:prstGeom>
              <a:noFill/>
              <a:ln w="9525">
                <a:noFill/>
                <a:miter lim="800000"/>
                <a:headEnd/>
                <a:tailEnd/>
              </a:ln>
            </p:spPr>
            <p:txBody>
              <a:bodyPr/>
              <a:lstStyle/>
              <a:p>
                <a:r>
                  <a:rPr lang="en-US" dirty="0" smtClean="0">
                    <a:ln>
                      <a:solidFill>
                        <a:schemeClr val="tx2"/>
                      </a:solidFill>
                    </a:ln>
                    <a:latin typeface="Calibri" pitchFamily="34" charset="0"/>
                    <a:cs typeface="Times New Roman" pitchFamily="18" charset="0"/>
                  </a:rPr>
                  <a:t>Payment</a:t>
                </a:r>
                <a:endParaRPr lang="en-US" dirty="0">
                  <a:ln>
                    <a:solidFill>
                      <a:schemeClr val="tx2"/>
                    </a:solidFill>
                  </a:ln>
                </a:endParaRPr>
              </a:p>
            </p:txBody>
          </p:sp>
          <p:sp>
            <p:nvSpPr>
              <p:cNvPr id="35864" name="Text Box 7"/>
              <p:cNvSpPr txBox="1">
                <a:spLocks noChangeArrowheads="1"/>
              </p:cNvSpPr>
              <p:nvPr/>
            </p:nvSpPr>
            <p:spPr bwMode="auto">
              <a:xfrm>
                <a:off x="2910" y="3555"/>
                <a:ext cx="1455" cy="630"/>
              </a:xfrm>
              <a:prstGeom prst="rect">
                <a:avLst/>
              </a:prstGeom>
              <a:noFill/>
              <a:ln w="9525">
                <a:noFill/>
                <a:miter lim="800000"/>
                <a:headEnd/>
                <a:tailEnd/>
              </a:ln>
            </p:spPr>
            <p:txBody>
              <a:bodyPr/>
              <a:lstStyle/>
              <a:p>
                <a:r>
                  <a:rPr lang="en-US" dirty="0">
                    <a:ln>
                      <a:solidFill>
                        <a:schemeClr val="tx2"/>
                      </a:solidFill>
                    </a:ln>
                    <a:latin typeface="Calibri" pitchFamily="34" charset="0"/>
                    <a:cs typeface="Times New Roman" pitchFamily="18" charset="0"/>
                  </a:rPr>
                  <a:t>Supply</a:t>
                </a:r>
                <a:r>
                  <a:rPr lang="en-US" sz="1200" dirty="0">
                    <a:ln>
                      <a:solidFill>
                        <a:schemeClr val="tx2"/>
                      </a:solidFill>
                    </a:ln>
                    <a:latin typeface="Calibri" pitchFamily="34" charset="0"/>
                    <a:cs typeface="Times New Roman" pitchFamily="18" charset="0"/>
                  </a:rPr>
                  <a:t> </a:t>
                </a:r>
                <a:endParaRPr lang="en-US" dirty="0">
                  <a:ln>
                    <a:solidFill>
                      <a:schemeClr val="tx2"/>
                    </a:solidFill>
                  </a:ln>
                </a:endParaRPr>
              </a:p>
            </p:txBody>
          </p:sp>
          <p:sp>
            <p:nvSpPr>
              <p:cNvPr id="35865" name="Text Box 6"/>
              <p:cNvSpPr txBox="1">
                <a:spLocks noChangeArrowheads="1"/>
              </p:cNvSpPr>
              <p:nvPr/>
            </p:nvSpPr>
            <p:spPr bwMode="auto">
              <a:xfrm>
                <a:off x="6990" y="4837"/>
                <a:ext cx="1455" cy="630"/>
              </a:xfrm>
              <a:prstGeom prst="rect">
                <a:avLst/>
              </a:prstGeom>
              <a:noFill/>
              <a:ln w="9525">
                <a:noFill/>
                <a:miter lim="800000"/>
                <a:headEnd/>
                <a:tailEnd/>
              </a:ln>
            </p:spPr>
            <p:txBody>
              <a:bodyPr/>
              <a:lstStyle/>
              <a:p>
                <a:r>
                  <a:rPr lang="en-US">
                    <a:ln>
                      <a:solidFill>
                        <a:schemeClr val="tx2"/>
                      </a:solidFill>
                    </a:ln>
                    <a:latin typeface="Calibri" pitchFamily="34" charset="0"/>
                    <a:cs typeface="Times New Roman" pitchFamily="18" charset="0"/>
                  </a:rPr>
                  <a:t>Supply</a:t>
                </a:r>
                <a:r>
                  <a:rPr lang="en-US" sz="1200">
                    <a:ln>
                      <a:solidFill>
                        <a:schemeClr val="tx2"/>
                      </a:solidFill>
                    </a:ln>
                    <a:latin typeface="Calibri" pitchFamily="34" charset="0"/>
                    <a:cs typeface="Times New Roman" pitchFamily="18" charset="0"/>
                  </a:rPr>
                  <a:t> </a:t>
                </a:r>
                <a:endParaRPr lang="en-US">
                  <a:ln>
                    <a:solidFill>
                      <a:schemeClr val="tx2"/>
                    </a:solidFill>
                  </a:ln>
                </a:endParaRPr>
              </a:p>
            </p:txBody>
          </p:sp>
          <p:sp>
            <p:nvSpPr>
              <p:cNvPr id="35866" name="Text Box 5"/>
              <p:cNvSpPr txBox="1">
                <a:spLocks noChangeArrowheads="1"/>
              </p:cNvSpPr>
              <p:nvPr/>
            </p:nvSpPr>
            <p:spPr bwMode="auto">
              <a:xfrm>
                <a:off x="8055" y="5842"/>
                <a:ext cx="1455" cy="630"/>
              </a:xfrm>
              <a:prstGeom prst="rect">
                <a:avLst/>
              </a:prstGeom>
              <a:noFill/>
              <a:ln w="9525">
                <a:noFill/>
                <a:miter lim="800000"/>
                <a:headEnd/>
                <a:tailEnd/>
              </a:ln>
            </p:spPr>
            <p:txBody>
              <a:bodyPr/>
              <a:lstStyle/>
              <a:p>
                <a:r>
                  <a:rPr lang="en-US" dirty="0">
                    <a:ln>
                      <a:solidFill>
                        <a:schemeClr val="tx2"/>
                      </a:solidFill>
                    </a:ln>
                    <a:latin typeface="Calibri" pitchFamily="34" charset="0"/>
                    <a:cs typeface="Times New Roman" pitchFamily="18" charset="0"/>
                  </a:rPr>
                  <a:t>Payment</a:t>
                </a:r>
                <a:r>
                  <a:rPr lang="en-US" sz="1200" dirty="0">
                    <a:ln>
                      <a:solidFill>
                        <a:schemeClr val="tx2"/>
                      </a:solidFill>
                    </a:ln>
                    <a:latin typeface="Calibri" pitchFamily="34" charset="0"/>
                    <a:cs typeface="Times New Roman" pitchFamily="18" charset="0"/>
                  </a:rPr>
                  <a:t> </a:t>
                </a:r>
                <a:endParaRPr lang="en-US" dirty="0">
                  <a:ln>
                    <a:solidFill>
                      <a:schemeClr val="tx2"/>
                    </a:solidFill>
                  </a:ln>
                </a:endParaRPr>
              </a:p>
            </p:txBody>
          </p:sp>
          <p:sp>
            <p:nvSpPr>
              <p:cNvPr id="35867" name="Text Box 4"/>
              <p:cNvSpPr txBox="1">
                <a:spLocks noChangeArrowheads="1"/>
              </p:cNvSpPr>
              <p:nvPr/>
            </p:nvSpPr>
            <p:spPr bwMode="auto">
              <a:xfrm>
                <a:off x="2280" y="2460"/>
                <a:ext cx="1455" cy="630"/>
              </a:xfrm>
              <a:prstGeom prst="rect">
                <a:avLst/>
              </a:prstGeom>
              <a:noFill/>
              <a:ln w="9525">
                <a:noFill/>
                <a:miter lim="800000"/>
                <a:headEnd/>
                <a:tailEnd/>
              </a:ln>
            </p:spPr>
            <p:txBody>
              <a:bodyPr/>
              <a:lstStyle/>
              <a:p>
                <a:r>
                  <a:rPr lang="en-US" dirty="0">
                    <a:ln>
                      <a:solidFill>
                        <a:schemeClr val="tx2"/>
                      </a:solidFill>
                    </a:ln>
                    <a:latin typeface="Calibri" pitchFamily="34" charset="0"/>
                    <a:cs typeface="Times New Roman" pitchFamily="18" charset="0"/>
                  </a:rPr>
                  <a:t>Payment </a:t>
                </a:r>
                <a:endParaRPr lang="en-US" dirty="0">
                  <a:ln>
                    <a:solidFill>
                      <a:schemeClr val="tx2"/>
                    </a:solidFill>
                  </a:ln>
                </a:endParaRPr>
              </a:p>
            </p:txBody>
          </p:sp>
        </p:grpSp>
        <p:cxnSp>
          <p:nvCxnSpPr>
            <p:cNvPr id="35848" name="AutoShape 2"/>
            <p:cNvCxnSpPr>
              <a:cxnSpLocks noChangeShapeType="1"/>
            </p:cNvCxnSpPr>
            <p:nvPr/>
          </p:nvCxnSpPr>
          <p:spPr bwMode="auto">
            <a:xfrm rot="10800000">
              <a:off x="2074" y="4394"/>
              <a:ext cx="2389" cy="1669"/>
            </a:xfrm>
            <a:prstGeom prst="straightConnector1">
              <a:avLst/>
            </a:prstGeom>
            <a:noFill/>
            <a:ln w="19050">
              <a:solidFill>
                <a:srgbClr val="000000"/>
              </a:solidFill>
              <a:round/>
              <a:headEnd/>
              <a:tailEnd type="triangle" w="med" len="med"/>
            </a:ln>
          </p:spPr>
        </p:cxnSp>
      </p:grpSp>
      <p:sp>
        <p:nvSpPr>
          <p:cNvPr id="35845" name="Rectangle 36"/>
          <p:cNvSpPr>
            <a:spLocks noChangeArrowheads="1"/>
          </p:cNvSpPr>
          <p:nvPr/>
        </p:nvSpPr>
        <p:spPr bwMode="auto">
          <a:xfrm>
            <a:off x="457200" y="457200"/>
            <a:ext cx="184150" cy="369888"/>
          </a:xfrm>
          <a:prstGeom prst="rect">
            <a:avLst/>
          </a:prstGeom>
          <a:noFill/>
          <a:ln w="9525">
            <a:noFill/>
            <a:miter lim="800000"/>
            <a:headEnd/>
            <a:tailEnd/>
          </a:ln>
        </p:spPr>
        <p:txBody>
          <a:bodyPr wrap="none" anchor="ctr">
            <a:spAutoFit/>
          </a:bodyPr>
          <a:lstStyle/>
          <a:p>
            <a:endParaRPr lang="en-US"/>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3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762000"/>
          </a:xfrm>
        </p:spPr>
        <p:txBody>
          <a:bodyPr>
            <a:normAutofit fontScale="90000"/>
          </a:bodyPr>
          <a:lstStyle/>
          <a:p>
            <a:pPr fontAlgn="auto">
              <a:spcAft>
                <a:spcPts val="0"/>
              </a:spcAft>
              <a:defRPr/>
            </a:pPr>
            <a:r>
              <a:rPr lang="en-US" b="1" dirty="0" smtClean="0"/>
              <a:t>Circular Flow of Income(2-sector)</a:t>
            </a:r>
            <a:endParaRPr lang="en-US" dirty="0"/>
          </a:p>
        </p:txBody>
      </p:sp>
      <p:sp>
        <p:nvSpPr>
          <p:cNvPr id="36867" name="Content Placeholder 4"/>
          <p:cNvSpPr>
            <a:spLocks noGrp="1"/>
          </p:cNvSpPr>
          <p:nvPr>
            <p:ph idx="1"/>
          </p:nvPr>
        </p:nvSpPr>
        <p:spPr>
          <a:xfrm>
            <a:off x="762000" y="966716"/>
            <a:ext cx="7942380" cy="4876800"/>
          </a:xfrm>
        </p:spPr>
        <p:txBody>
          <a:bodyPr>
            <a:normAutofit fontScale="92500" lnSpcReduction="10000"/>
          </a:bodyPr>
          <a:lstStyle/>
          <a:p>
            <a:r>
              <a:rPr lang="en-US" sz="3200" b="1" dirty="0" smtClean="0"/>
              <a:t>Factor/Input market </a:t>
            </a:r>
            <a:r>
              <a:rPr lang="en-US" sz="3200" dirty="0" smtClean="0"/>
              <a:t>– households’ supply resources e.g. labour to firms that demand the same. In turn, firms pay workers for their time and skills. </a:t>
            </a:r>
          </a:p>
          <a:p>
            <a:r>
              <a:rPr lang="en-US" sz="3200" dirty="0" smtClean="0"/>
              <a:t>To produce goods and services, firms buy resources in factor markets. These resources are supplied by households. </a:t>
            </a:r>
          </a:p>
          <a:p>
            <a:r>
              <a:rPr lang="en-US" sz="3200" dirty="0" smtClean="0"/>
              <a:t>Households may also loan their accumulated saving to firms of interest or exchange those savings for dividends. </a:t>
            </a:r>
          </a:p>
          <a:p>
            <a:pPr algn="just"/>
            <a:endParaRPr lang="en-US" dirty="0" smtClean="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71</a:t>
            </a:fld>
            <a:endParaRPr lang="en-US"/>
          </a:p>
        </p:txBody>
      </p:sp>
    </p:spTree>
  </p:cSld>
  <p:clrMapOvr>
    <a:masterClrMapping/>
  </p:clrMapOvr>
  <p:transition>
    <p:wheel spokes="1"/>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fontScale="90000"/>
          </a:bodyPr>
          <a:lstStyle/>
          <a:p>
            <a:r>
              <a:rPr lang="en-US" dirty="0" smtClean="0"/>
              <a:t>3 sector circular flow of income</a:t>
            </a:r>
            <a:endParaRPr lang="en-US"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72</a:t>
            </a:fld>
            <a:endParaRPr lang="en-US"/>
          </a:p>
        </p:txBody>
      </p:sp>
      <p:pic>
        <p:nvPicPr>
          <p:cNvPr id="2050" name="Picture 2" descr="C:\Users\Oyugi\Pictures\CF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1143000"/>
            <a:ext cx="8010525" cy="51244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wheel spokes="1"/>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1" y="76200"/>
            <a:ext cx="8183879" cy="762000"/>
          </a:xfrm>
        </p:spPr>
        <p:txBody>
          <a:bodyPr/>
          <a:lstStyle/>
          <a:p>
            <a:r>
              <a:rPr lang="en-US" dirty="0"/>
              <a:t>4 sector circular flow of income</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838200"/>
            <a:ext cx="8839199" cy="5471160"/>
          </a:xfrm>
        </p:spPr>
      </p:pic>
      <p:sp>
        <p:nvSpPr>
          <p:cNvPr id="4" name="Footer Placeholder 3"/>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73</a:t>
            </a:fld>
            <a:endParaRPr lang="en-US"/>
          </a:p>
        </p:txBody>
      </p:sp>
    </p:spTree>
    <p:extLst>
      <p:ext uri="{BB962C8B-B14F-4D97-AF65-F5344CB8AC3E}">
        <p14:creationId xmlns:p14="http://schemas.microsoft.com/office/powerpoint/2010/main" val="3863638800"/>
      </p:ext>
    </p:extLst>
  </p:cSld>
  <p:clrMapOvr>
    <a:masterClrMapping/>
  </p:clrMapOvr>
  <p:transition>
    <p:wheel spokes="1"/>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sz="4900" dirty="0" smtClean="0"/>
              <a:t>Circular Flow of Income(5-sector</a:t>
            </a:r>
            <a:r>
              <a:rPr lang="en-US" dirty="0" smtClean="0"/>
              <a:t>)</a:t>
            </a:r>
            <a:endParaRPr lang="en-US" dirty="0"/>
          </a:p>
        </p:txBody>
      </p:sp>
      <p:sp>
        <p:nvSpPr>
          <p:cNvPr id="37891" name="Subtitle 2"/>
          <p:cNvSpPr>
            <a:spLocks noGrp="1"/>
          </p:cNvSpPr>
          <p:nvPr>
            <p:ph idx="1"/>
          </p:nvPr>
        </p:nvSpPr>
        <p:spPr/>
        <p:txBody>
          <a:bodyPr>
            <a:normAutofit/>
          </a:bodyPr>
          <a:lstStyle/>
          <a:p>
            <a:pPr marR="0" algn="l"/>
            <a:r>
              <a:rPr lang="en-US" sz="3200" smtClean="0"/>
              <a:t>Other players in the 5 sector Circular Flow of income include:</a:t>
            </a:r>
          </a:p>
          <a:p>
            <a:pPr lvl="1" algn="l">
              <a:buFont typeface="Arial" charset="0"/>
              <a:buChar char="•"/>
            </a:pPr>
            <a:r>
              <a:rPr lang="en-US" sz="3200" smtClean="0"/>
              <a:t>Govt-salaries,treasurybills,importer of goods/services,buyer.</a:t>
            </a:r>
          </a:p>
          <a:p>
            <a:pPr lvl="1" algn="l">
              <a:buFont typeface="Arial" charset="0"/>
              <a:buChar char="•"/>
            </a:pPr>
            <a:r>
              <a:rPr lang="en-US" sz="3200" smtClean="0"/>
              <a:t>FinancialSector-loans,shares,buyer,dividends</a:t>
            </a:r>
          </a:p>
          <a:p>
            <a:pPr lvl="1" algn="l">
              <a:buFont typeface="Arial" charset="0"/>
              <a:buChar char="•"/>
            </a:pPr>
            <a:r>
              <a:rPr lang="en-US" sz="3200" smtClean="0"/>
              <a:t>International Sector-Imports,exports </a:t>
            </a:r>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1EFD98CC-8E8C-4376-A4D4-A0F15EB79D52}" type="slidenum">
              <a:rPr lang="en-US" smtClean="0"/>
              <a:pPr>
                <a:defRPr/>
              </a:pPr>
              <a:t>74</a:t>
            </a:fld>
            <a:endParaRPr lang="en-US"/>
          </a:p>
        </p:txBody>
      </p:sp>
    </p:spTree>
  </p:cSld>
  <p:clrMapOvr>
    <a:masterClrMapping/>
  </p:clrMapOvr>
  <p:transition>
    <p:wheel spokes="1"/>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76200"/>
            <a:ext cx="7200900" cy="838200"/>
          </a:xfrm>
        </p:spPr>
        <p:txBody>
          <a:bodyPr>
            <a:normAutofit fontScale="90000"/>
          </a:bodyPr>
          <a:lstStyle/>
          <a:p>
            <a:r>
              <a:rPr lang="en-US" dirty="0" smtClean="0"/>
              <a:t>5 sector circular flow of income</a:t>
            </a:r>
            <a:endParaRPr lang="en-US" dirty="0"/>
          </a:p>
        </p:txBody>
      </p:sp>
      <p:sp>
        <p:nvSpPr>
          <p:cNvPr id="6" name="Footer Placeholder 5"/>
          <p:cNvSpPr>
            <a:spLocks noGrp="1"/>
          </p:cNvSpPr>
          <p:nvPr>
            <p:ph type="ftr" sz="quarter" idx="11"/>
          </p:nvPr>
        </p:nvSpPr>
        <p:spPr/>
        <p:txBody>
          <a:bodyPr/>
          <a:lstStyle/>
          <a:p>
            <a:pPr>
              <a:defRPr/>
            </a:pPr>
            <a:r>
              <a:rPr lang="en-US" smtClean="0"/>
              <a:t>Oyugi Nyanjong'</a:t>
            </a:r>
            <a:endParaRPr lang="en-US"/>
          </a:p>
        </p:txBody>
      </p:sp>
      <p:sp>
        <p:nvSpPr>
          <p:cNvPr id="5" name="Slide Number Placeholder 4"/>
          <p:cNvSpPr>
            <a:spLocks noGrp="1"/>
          </p:cNvSpPr>
          <p:nvPr>
            <p:ph type="sldNum" sz="quarter" idx="12"/>
          </p:nvPr>
        </p:nvSpPr>
        <p:spPr/>
        <p:txBody>
          <a:bodyPr/>
          <a:lstStyle/>
          <a:p>
            <a:pPr>
              <a:defRPr/>
            </a:pPr>
            <a:fld id="{BE36189F-8EA4-4393-831F-E9BB08DDB1F4}" type="slidenum">
              <a:rPr lang="en-US" smtClean="0"/>
              <a:pPr>
                <a:defRPr/>
              </a:pPr>
              <a:t>75</a:t>
            </a:fld>
            <a:endParaRPr lang="en-US"/>
          </a:p>
        </p:txBody>
      </p:sp>
      <p:pic>
        <p:nvPicPr>
          <p:cNvPr id="16386" name="Picture 2" descr="C:\Users\OYUGI\Desktop\cf.gif"/>
          <p:cNvPicPr>
            <a:picLocks noChangeAspect="1" noChangeArrowheads="1"/>
          </p:cNvPicPr>
          <p:nvPr/>
        </p:nvPicPr>
        <p:blipFill>
          <a:blip r:embed="rId2"/>
          <a:srcRect/>
          <a:stretch>
            <a:fillRect/>
          </a:stretch>
        </p:blipFill>
        <p:spPr bwMode="auto">
          <a:xfrm>
            <a:off x="228600" y="1143000"/>
            <a:ext cx="8610600" cy="54864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wheel spokes="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Savon</Template>
  <TotalTime>4608</TotalTime>
  <Words>3117</Words>
  <Application>Microsoft Office PowerPoint</Application>
  <PresentationFormat>On-screen Show (4:3)</PresentationFormat>
  <Paragraphs>518</Paragraphs>
  <Slides>75</Slides>
  <Notes>34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88" baseType="lpstr">
      <vt:lpstr>Arial</vt:lpstr>
      <vt:lpstr>Calibri</vt:lpstr>
      <vt:lpstr>Cambria Math</vt:lpstr>
      <vt:lpstr>Century Gothic</vt:lpstr>
      <vt:lpstr>Consolas</vt:lpstr>
      <vt:lpstr>Garamond</vt:lpstr>
      <vt:lpstr>Rockwell</vt:lpstr>
      <vt:lpstr>Times New Roman</vt:lpstr>
      <vt:lpstr>TwitterChirp</vt:lpstr>
      <vt:lpstr>Wingdings</vt:lpstr>
      <vt:lpstr>Wingdings 2</vt:lpstr>
      <vt:lpstr>Savon</vt:lpstr>
      <vt:lpstr>Bitmap Image</vt:lpstr>
      <vt:lpstr>INTRODUCTORY CONCEPTS</vt:lpstr>
      <vt:lpstr>Philosophy  of university education</vt:lpstr>
      <vt:lpstr>Philosophy  of university education</vt:lpstr>
      <vt:lpstr>Resources</vt:lpstr>
      <vt:lpstr>Topics</vt:lpstr>
      <vt:lpstr>ECONOMICS etymological root</vt:lpstr>
      <vt:lpstr>Definitions of economics: Robbins, 1932</vt:lpstr>
      <vt:lpstr>Definitions of economics: McCornell, 2002</vt:lpstr>
      <vt:lpstr>Definition of economics: Marshall (1920)</vt:lpstr>
      <vt:lpstr>Definition of economics: Bernanke(2019)</vt:lpstr>
      <vt:lpstr>Economic agents</vt:lpstr>
      <vt:lpstr>Branches of economics</vt:lpstr>
      <vt:lpstr>History of Economic Thought</vt:lpstr>
      <vt:lpstr>History of Economic Thought: Ancient era</vt:lpstr>
      <vt:lpstr>History of Economic Thought: Medieval</vt:lpstr>
      <vt:lpstr>History of Economic Thought: Medieval</vt:lpstr>
      <vt:lpstr>History of Economic Thought: Mercantilism</vt:lpstr>
      <vt:lpstr>History of Economic Thought: Mercantilism</vt:lpstr>
      <vt:lpstr>Schools Of Modern Economic Thought</vt:lpstr>
      <vt:lpstr>Classical Economics</vt:lpstr>
      <vt:lpstr>Adam Smith: Father of Modern Economics (1723-1790)</vt:lpstr>
      <vt:lpstr>Classical Economics</vt:lpstr>
      <vt:lpstr>Smith arguments continued</vt:lpstr>
      <vt:lpstr>Difference between classical and mercantilism</vt:lpstr>
      <vt:lpstr>Classical economists</vt:lpstr>
      <vt:lpstr>Keynesian Economics</vt:lpstr>
      <vt:lpstr>John Maynard Keynes  (1883-1946)</vt:lpstr>
      <vt:lpstr>Keynesian Economics</vt:lpstr>
      <vt:lpstr>Neo Classical Economics</vt:lpstr>
      <vt:lpstr>Demand &amp; supply curves</vt:lpstr>
      <vt:lpstr>Neo Classical Economics continued</vt:lpstr>
      <vt:lpstr>Neo Classical Economics:  Notable NCE Economists</vt:lpstr>
      <vt:lpstr>Neo-classical economics:  2 Main differences with classical economics</vt:lpstr>
      <vt:lpstr>Key NCE assumptions</vt:lpstr>
      <vt:lpstr>The Art of Economic analysis</vt:lpstr>
      <vt:lpstr>Assumption of Rationality </vt:lpstr>
      <vt:lpstr>Assumption of Rationality continued</vt:lpstr>
      <vt:lpstr>Ceteris Paribus assumption</vt:lpstr>
      <vt:lpstr>Ceteris Paribus assumption continued</vt:lpstr>
      <vt:lpstr>Marginal analysis</vt:lpstr>
      <vt:lpstr>Science of Economic Analysis</vt:lpstr>
      <vt:lpstr>Economic Research/Analysis</vt:lpstr>
      <vt:lpstr>Positive Economics</vt:lpstr>
      <vt:lpstr>Positive Economics</vt:lpstr>
      <vt:lpstr>Normative Economics </vt:lpstr>
      <vt:lpstr>Normative Economics continued</vt:lpstr>
      <vt:lpstr>Normative Economics continued</vt:lpstr>
      <vt:lpstr>  Central Economic Problem: Scarcity, choice</vt:lpstr>
      <vt:lpstr>  Central Economic Problem: Scarcity</vt:lpstr>
      <vt:lpstr>Central Economic Problem : choice</vt:lpstr>
      <vt:lpstr>Central Economic Problem: Opportunity Cost</vt:lpstr>
      <vt:lpstr>Opportunity cost(OC) continued</vt:lpstr>
      <vt:lpstr>Opportunity cost continued</vt:lpstr>
      <vt:lpstr>Opportunity cost continued</vt:lpstr>
      <vt:lpstr>Opportunity cost continued</vt:lpstr>
      <vt:lpstr>Opportunity cost continued</vt:lpstr>
      <vt:lpstr>Opportunity cost(OC) continued</vt:lpstr>
      <vt:lpstr>Production Possibility Frontier</vt:lpstr>
      <vt:lpstr>Production Possibility Frontier continued</vt:lpstr>
      <vt:lpstr>Production Possibility Frontier continued</vt:lpstr>
      <vt:lpstr>PPF &amp;  Opportunity Cost</vt:lpstr>
      <vt:lpstr>PPF And Opportunity Cost  </vt:lpstr>
      <vt:lpstr>PPF And Opportunity Cost continued </vt:lpstr>
      <vt:lpstr>Slope of PPF</vt:lpstr>
      <vt:lpstr>Shifts in ppf</vt:lpstr>
      <vt:lpstr>Shifts in ppf ‘continued</vt:lpstr>
      <vt:lpstr>  ELEMENTS OF ECONOMIC ACTIVITIES </vt:lpstr>
      <vt:lpstr>  ELEMENTS OF ECONOMIC ACTIVITIES PPF And Opportunity Cost continued</vt:lpstr>
      <vt:lpstr>Circular Flow of Income continued</vt:lpstr>
      <vt:lpstr>Circular Flow of Income(2-sector)</vt:lpstr>
      <vt:lpstr>Circular Flow of Income(2-sector)</vt:lpstr>
      <vt:lpstr>3 sector circular flow of income</vt:lpstr>
      <vt:lpstr>4 sector circular flow of income</vt:lpstr>
      <vt:lpstr>Circular Flow of Income(5-sector)</vt:lpstr>
      <vt:lpstr>5 sector circular flow of income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 100: INTRODUCTION</dc:title>
  <dc:creator>oyugi</dc:creator>
  <cp:lastModifiedBy>Microsoft account</cp:lastModifiedBy>
  <cp:revision>246</cp:revision>
  <dcterms:created xsi:type="dcterms:W3CDTF">2011-01-22T16:13:07Z</dcterms:created>
  <dcterms:modified xsi:type="dcterms:W3CDTF">2023-01-17T22:34:30Z</dcterms:modified>
</cp:coreProperties>
</file>