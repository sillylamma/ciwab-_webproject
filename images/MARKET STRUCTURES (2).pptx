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92" r:id="rId1"/>
    <p:sldMasterId id="2147484104" r:id="rId2"/>
  </p:sldMasterIdLst>
  <p:notesMasterIdLst>
    <p:notesMasterId r:id="rId58"/>
  </p:notesMasterIdLst>
  <p:handoutMasterIdLst>
    <p:handoutMasterId r:id="rId59"/>
  </p:handoutMasterIdLst>
  <p:sldIdLst>
    <p:sldId id="288" r:id="rId3"/>
    <p:sldId id="256" r:id="rId4"/>
    <p:sldId id="257" r:id="rId5"/>
    <p:sldId id="259" r:id="rId6"/>
    <p:sldId id="260" r:id="rId7"/>
    <p:sldId id="289" r:id="rId8"/>
    <p:sldId id="262" r:id="rId9"/>
    <p:sldId id="292" r:id="rId10"/>
    <p:sldId id="267" r:id="rId11"/>
    <p:sldId id="270" r:id="rId12"/>
    <p:sldId id="308" r:id="rId13"/>
    <p:sldId id="268" r:id="rId14"/>
    <p:sldId id="271" r:id="rId15"/>
    <p:sldId id="304" r:id="rId16"/>
    <p:sldId id="305" r:id="rId17"/>
    <p:sldId id="306" r:id="rId18"/>
    <p:sldId id="324" r:id="rId19"/>
    <p:sldId id="325" r:id="rId20"/>
    <p:sldId id="326" r:id="rId21"/>
    <p:sldId id="327" r:id="rId22"/>
    <p:sldId id="323" r:id="rId23"/>
    <p:sldId id="330" r:id="rId24"/>
    <p:sldId id="331" r:id="rId25"/>
    <p:sldId id="362" r:id="rId26"/>
    <p:sldId id="332" r:id="rId27"/>
    <p:sldId id="333" r:id="rId28"/>
    <p:sldId id="334" r:id="rId29"/>
    <p:sldId id="335" r:id="rId30"/>
    <p:sldId id="349" r:id="rId31"/>
    <p:sldId id="350" r:id="rId32"/>
    <p:sldId id="348" r:id="rId33"/>
    <p:sldId id="347" r:id="rId34"/>
    <p:sldId id="318" r:id="rId35"/>
    <p:sldId id="309" r:id="rId36"/>
    <p:sldId id="310" r:id="rId37"/>
    <p:sldId id="359" r:id="rId38"/>
    <p:sldId id="356" r:id="rId39"/>
    <p:sldId id="353" r:id="rId40"/>
    <p:sldId id="354" r:id="rId41"/>
    <p:sldId id="355" r:id="rId42"/>
    <p:sldId id="357" r:id="rId43"/>
    <p:sldId id="358" r:id="rId44"/>
    <p:sldId id="311" r:id="rId45"/>
    <p:sldId id="312" r:id="rId46"/>
    <p:sldId id="313" r:id="rId47"/>
    <p:sldId id="314" r:id="rId48"/>
    <p:sldId id="315" r:id="rId49"/>
    <p:sldId id="316" r:id="rId50"/>
    <p:sldId id="328" r:id="rId51"/>
    <p:sldId id="329" r:id="rId52"/>
    <p:sldId id="320" r:id="rId53"/>
    <p:sldId id="352" r:id="rId54"/>
    <p:sldId id="351" r:id="rId55"/>
    <p:sldId id="360" r:id="rId56"/>
    <p:sldId id="361" r:id="rId57"/>
  </p:sldIdLst>
  <p:sldSz cx="9144000" cy="6858000" type="screen4x3"/>
  <p:notesSz cx="7023100" cy="93091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932">
          <p15:clr>
            <a:srgbClr val="A4A3A4"/>
          </p15:clr>
        </p15:guide>
        <p15:guide id="2" pos="2212">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145" autoAdjust="0"/>
    <p:restoredTop sz="94660"/>
  </p:normalViewPr>
  <p:slideViewPr>
    <p:cSldViewPr>
      <p:cViewPr varScale="1">
        <p:scale>
          <a:sx n="70" d="100"/>
          <a:sy n="70" d="100"/>
        </p:scale>
        <p:origin x="504" y="60"/>
      </p:cViewPr>
      <p:guideLst>
        <p:guide orient="horz" pos="2160"/>
        <p:guide pos="2880"/>
      </p:guideLst>
    </p:cSldViewPr>
  </p:slideViewPr>
  <p:notesTextViewPr>
    <p:cViewPr>
      <p:scale>
        <a:sx n="100" d="100"/>
        <a:sy n="100" d="100"/>
      </p:scale>
      <p:origin x="0" y="0"/>
    </p:cViewPr>
  </p:notesTextViewPr>
  <p:sorterViewPr>
    <p:cViewPr>
      <p:scale>
        <a:sx n="66" d="100"/>
        <a:sy n="66" d="100"/>
      </p:scale>
      <p:origin x="0" y="2214"/>
    </p:cViewPr>
  </p:sorterViewPr>
  <p:notesViewPr>
    <p:cSldViewPr>
      <p:cViewPr varScale="1">
        <p:scale>
          <a:sx n="55" d="100"/>
          <a:sy n="55" d="100"/>
        </p:scale>
        <p:origin x="-1854" y="-102"/>
      </p:cViewPr>
      <p:guideLst>
        <p:guide orient="horz" pos="2932"/>
        <p:guide pos="2212"/>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notesMaster" Target="notesMasters/notesMaster1.xml"/><Relationship Id="rId5" Type="http://schemas.openxmlformats.org/officeDocument/2006/relationships/slide" Target="slides/slide3.xml"/><Relationship Id="rId61" Type="http://schemas.openxmlformats.org/officeDocument/2006/relationships/viewProps" Target="viewProps.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handoutMaster" Target="handoutMasters/handoutMaster1.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43238" cy="46513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978275" y="0"/>
            <a:ext cx="3043238" cy="465138"/>
          </a:xfrm>
          <a:prstGeom prst="rect">
            <a:avLst/>
          </a:prstGeom>
        </p:spPr>
        <p:txBody>
          <a:bodyPr vert="horz" lIns="91440" tIns="45720" rIns="91440" bIns="45720" rtlCol="0"/>
          <a:lstStyle>
            <a:lvl1pPr algn="r">
              <a:defRPr sz="1200"/>
            </a:lvl1pPr>
          </a:lstStyle>
          <a:p>
            <a:fld id="{EA653724-911F-44AD-8E72-890CBE717E76}" type="datetimeFigureOut">
              <a:rPr lang="en-US" smtClean="0"/>
              <a:pPr/>
              <a:t>1/16/2023</a:t>
            </a:fld>
            <a:endParaRPr lang="en-US"/>
          </a:p>
        </p:txBody>
      </p:sp>
      <p:sp>
        <p:nvSpPr>
          <p:cNvPr id="4" name="Footer Placeholder 3"/>
          <p:cNvSpPr>
            <a:spLocks noGrp="1"/>
          </p:cNvSpPr>
          <p:nvPr>
            <p:ph type="ftr" sz="quarter" idx="2"/>
          </p:nvPr>
        </p:nvSpPr>
        <p:spPr>
          <a:xfrm>
            <a:off x="0" y="8842375"/>
            <a:ext cx="3043238" cy="465138"/>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978275" y="8842375"/>
            <a:ext cx="3043238" cy="465138"/>
          </a:xfrm>
          <a:prstGeom prst="rect">
            <a:avLst/>
          </a:prstGeom>
        </p:spPr>
        <p:txBody>
          <a:bodyPr vert="horz" lIns="91440" tIns="45720" rIns="91440" bIns="45720" rtlCol="0" anchor="b"/>
          <a:lstStyle>
            <a:lvl1pPr algn="r">
              <a:defRPr sz="1200"/>
            </a:lvl1pPr>
          </a:lstStyle>
          <a:p>
            <a:fld id="{2771BC33-F971-4C5D-9E5D-D02F594C17F8}" type="slidenum">
              <a:rPr lang="en-US" smtClean="0"/>
              <a:pPr/>
              <a:t>‹#›</a:t>
            </a:fld>
            <a:endParaRPr lang="en-US"/>
          </a:p>
        </p:txBody>
      </p:sp>
    </p:spTree>
    <p:extLst>
      <p:ext uri="{BB962C8B-B14F-4D97-AF65-F5344CB8AC3E}">
        <p14:creationId xmlns:p14="http://schemas.microsoft.com/office/powerpoint/2010/main" val="148134538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43343" cy="465455"/>
          </a:xfrm>
          <a:prstGeom prst="rect">
            <a:avLst/>
          </a:prstGeom>
        </p:spPr>
        <p:txBody>
          <a:bodyPr vert="horz" lIns="93324" tIns="46662" rIns="93324" bIns="46662" rtlCol="0"/>
          <a:lstStyle>
            <a:lvl1pPr algn="l">
              <a:defRPr sz="1200"/>
            </a:lvl1pPr>
          </a:lstStyle>
          <a:p>
            <a:endParaRPr lang="en-US"/>
          </a:p>
        </p:txBody>
      </p:sp>
      <p:sp>
        <p:nvSpPr>
          <p:cNvPr id="3" name="Date Placeholder 2"/>
          <p:cNvSpPr>
            <a:spLocks noGrp="1"/>
          </p:cNvSpPr>
          <p:nvPr>
            <p:ph type="dt" idx="1"/>
          </p:nvPr>
        </p:nvSpPr>
        <p:spPr>
          <a:xfrm>
            <a:off x="3978132" y="0"/>
            <a:ext cx="3043343" cy="465455"/>
          </a:xfrm>
          <a:prstGeom prst="rect">
            <a:avLst/>
          </a:prstGeom>
        </p:spPr>
        <p:txBody>
          <a:bodyPr vert="horz" lIns="93324" tIns="46662" rIns="93324" bIns="46662" rtlCol="0"/>
          <a:lstStyle>
            <a:lvl1pPr algn="r">
              <a:defRPr sz="1200"/>
            </a:lvl1pPr>
          </a:lstStyle>
          <a:p>
            <a:fld id="{37DD3853-5183-4E67-9E2F-8C61A4B5359E}" type="datetimeFigureOut">
              <a:rPr lang="en-US" smtClean="0"/>
              <a:pPr/>
              <a:t>1/16/2023</a:t>
            </a:fld>
            <a:endParaRPr lang="en-US"/>
          </a:p>
        </p:txBody>
      </p:sp>
      <p:sp>
        <p:nvSpPr>
          <p:cNvPr id="4" name="Slide Image Placeholder 3"/>
          <p:cNvSpPr>
            <a:spLocks noGrp="1" noRot="1" noChangeAspect="1"/>
          </p:cNvSpPr>
          <p:nvPr>
            <p:ph type="sldImg" idx="2"/>
          </p:nvPr>
        </p:nvSpPr>
        <p:spPr>
          <a:xfrm>
            <a:off x="1184275" y="698500"/>
            <a:ext cx="4654550" cy="3490913"/>
          </a:xfrm>
          <a:prstGeom prst="rect">
            <a:avLst/>
          </a:prstGeom>
          <a:noFill/>
          <a:ln w="12700">
            <a:solidFill>
              <a:prstClr val="black"/>
            </a:solidFill>
          </a:ln>
        </p:spPr>
        <p:txBody>
          <a:bodyPr vert="horz" lIns="93324" tIns="46662" rIns="93324" bIns="46662" rtlCol="0" anchor="ctr"/>
          <a:lstStyle/>
          <a:p>
            <a:endParaRPr lang="en-US"/>
          </a:p>
        </p:txBody>
      </p:sp>
      <p:sp>
        <p:nvSpPr>
          <p:cNvPr id="5" name="Notes Placeholder 4"/>
          <p:cNvSpPr>
            <a:spLocks noGrp="1"/>
          </p:cNvSpPr>
          <p:nvPr>
            <p:ph type="body" sz="quarter" idx="3"/>
          </p:nvPr>
        </p:nvSpPr>
        <p:spPr>
          <a:xfrm>
            <a:off x="702310" y="4421823"/>
            <a:ext cx="5618480" cy="4189095"/>
          </a:xfrm>
          <a:prstGeom prst="rect">
            <a:avLst/>
          </a:prstGeom>
        </p:spPr>
        <p:txBody>
          <a:bodyPr vert="horz" lIns="93324" tIns="46662" rIns="93324" bIns="46662"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842029"/>
            <a:ext cx="3043343" cy="465455"/>
          </a:xfrm>
          <a:prstGeom prst="rect">
            <a:avLst/>
          </a:prstGeom>
        </p:spPr>
        <p:txBody>
          <a:bodyPr vert="horz" lIns="93324" tIns="46662" rIns="93324" bIns="46662" rtlCol="0" anchor="b"/>
          <a:lstStyle>
            <a:lvl1pPr algn="l">
              <a:defRPr sz="1200"/>
            </a:lvl1pPr>
          </a:lstStyle>
          <a:p>
            <a:endParaRPr lang="en-US"/>
          </a:p>
        </p:txBody>
      </p:sp>
      <p:sp>
        <p:nvSpPr>
          <p:cNvPr id="7" name="Slide Number Placeholder 6"/>
          <p:cNvSpPr>
            <a:spLocks noGrp="1"/>
          </p:cNvSpPr>
          <p:nvPr>
            <p:ph type="sldNum" sz="quarter" idx="5"/>
          </p:nvPr>
        </p:nvSpPr>
        <p:spPr>
          <a:xfrm>
            <a:off x="3978132" y="8842029"/>
            <a:ext cx="3043343" cy="465455"/>
          </a:xfrm>
          <a:prstGeom prst="rect">
            <a:avLst/>
          </a:prstGeom>
        </p:spPr>
        <p:txBody>
          <a:bodyPr vert="horz" lIns="93324" tIns="46662" rIns="93324" bIns="46662" rtlCol="0" anchor="b"/>
          <a:lstStyle>
            <a:lvl1pPr algn="r">
              <a:defRPr sz="1200"/>
            </a:lvl1pPr>
          </a:lstStyle>
          <a:p>
            <a:fld id="{37103D9A-CFAB-4C13-928F-E98A199D0282}" type="slidenum">
              <a:rPr lang="en-US" smtClean="0"/>
              <a:pPr/>
              <a:t>‹#›</a:t>
            </a:fld>
            <a:endParaRPr lang="en-US"/>
          </a:p>
        </p:txBody>
      </p:sp>
    </p:spTree>
    <p:extLst>
      <p:ext uri="{BB962C8B-B14F-4D97-AF65-F5344CB8AC3E}">
        <p14:creationId xmlns:p14="http://schemas.microsoft.com/office/powerpoint/2010/main" val="37602386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84275" y="698500"/>
            <a:ext cx="4654550" cy="3490913"/>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7103D9A-CFAB-4C13-928F-E98A199D0282}" type="slidenum">
              <a:rPr lang="en-US" smtClean="0"/>
              <a:pPr/>
              <a:t>1</a:t>
            </a:fld>
            <a:endParaRPr lang="en-US" dirty="0"/>
          </a:p>
        </p:txBody>
      </p:sp>
    </p:spTree>
    <p:extLst>
      <p:ext uri="{BB962C8B-B14F-4D97-AF65-F5344CB8AC3E}">
        <p14:creationId xmlns:p14="http://schemas.microsoft.com/office/powerpoint/2010/main" val="11672249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84275" y="698500"/>
            <a:ext cx="4654550" cy="3490913"/>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7103D9A-CFAB-4C13-928F-E98A199D0282}" type="slidenum">
              <a:rPr lang="en-US" smtClean="0"/>
              <a:pPr/>
              <a:t>2</a:t>
            </a:fld>
            <a:endParaRPr lang="en-US" dirty="0"/>
          </a:p>
        </p:txBody>
      </p:sp>
    </p:spTree>
    <p:extLst>
      <p:ext uri="{BB962C8B-B14F-4D97-AF65-F5344CB8AC3E}">
        <p14:creationId xmlns:p14="http://schemas.microsoft.com/office/powerpoint/2010/main" val="40840935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84275" y="698500"/>
            <a:ext cx="4654550" cy="3490913"/>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7103D9A-CFAB-4C13-928F-E98A199D0282}" type="slidenum">
              <a:rPr lang="en-US" smtClean="0"/>
              <a:pPr/>
              <a:t>3</a:t>
            </a:fld>
            <a:endParaRPr lang="en-US" dirty="0"/>
          </a:p>
        </p:txBody>
      </p:sp>
    </p:spTree>
    <p:extLst>
      <p:ext uri="{BB962C8B-B14F-4D97-AF65-F5344CB8AC3E}">
        <p14:creationId xmlns:p14="http://schemas.microsoft.com/office/powerpoint/2010/main" val="18262755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84275" y="698500"/>
            <a:ext cx="4654550" cy="3490913"/>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7103D9A-CFAB-4C13-928F-E98A199D0282}" type="slidenum">
              <a:rPr lang="en-US" smtClean="0"/>
              <a:pPr/>
              <a:t>4</a:t>
            </a:fld>
            <a:endParaRPr lang="en-US" dirty="0"/>
          </a:p>
        </p:txBody>
      </p:sp>
    </p:spTree>
    <p:extLst>
      <p:ext uri="{BB962C8B-B14F-4D97-AF65-F5344CB8AC3E}">
        <p14:creationId xmlns:p14="http://schemas.microsoft.com/office/powerpoint/2010/main" val="22259941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84275" y="698500"/>
            <a:ext cx="4654550" cy="3490913"/>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7103D9A-CFAB-4C13-928F-E98A199D0282}" type="slidenum">
              <a:rPr lang="en-US" smtClean="0"/>
              <a:pPr/>
              <a:t>5</a:t>
            </a:fld>
            <a:endParaRPr lang="en-US" dirty="0"/>
          </a:p>
        </p:txBody>
      </p:sp>
    </p:spTree>
    <p:extLst>
      <p:ext uri="{BB962C8B-B14F-4D97-AF65-F5344CB8AC3E}">
        <p14:creationId xmlns:p14="http://schemas.microsoft.com/office/powerpoint/2010/main" val="20255155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84275" y="698500"/>
            <a:ext cx="4654550" cy="3490913"/>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7103D9A-CFAB-4C13-928F-E98A199D0282}" type="slidenum">
              <a:rPr lang="en-US" smtClean="0"/>
              <a:pPr/>
              <a:t>6</a:t>
            </a:fld>
            <a:endParaRPr lang="en-US"/>
          </a:p>
        </p:txBody>
      </p:sp>
    </p:spTree>
    <p:extLst>
      <p:ext uri="{BB962C8B-B14F-4D97-AF65-F5344CB8AC3E}">
        <p14:creationId xmlns:p14="http://schemas.microsoft.com/office/powerpoint/2010/main" val="39880138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84275" y="698500"/>
            <a:ext cx="4654550" cy="3490913"/>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7103D9A-CFAB-4C13-928F-E98A199D0282}" type="slidenum">
              <a:rPr lang="en-US" smtClean="0"/>
              <a:pPr/>
              <a:t>7</a:t>
            </a:fld>
            <a:endParaRPr lang="en-US"/>
          </a:p>
        </p:txBody>
      </p:sp>
    </p:spTree>
    <p:extLst>
      <p:ext uri="{BB962C8B-B14F-4D97-AF65-F5344CB8AC3E}">
        <p14:creationId xmlns:p14="http://schemas.microsoft.com/office/powerpoint/2010/main" val="66269959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84275" y="698500"/>
            <a:ext cx="4654550" cy="3490913"/>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7103D9A-CFAB-4C13-928F-E98A199D0282}" type="slidenum">
              <a:rPr lang="en-US" smtClean="0"/>
              <a:pPr/>
              <a:t>8</a:t>
            </a:fld>
            <a:endParaRPr lang="en-US"/>
          </a:p>
        </p:txBody>
      </p:sp>
    </p:spTree>
    <p:extLst>
      <p:ext uri="{BB962C8B-B14F-4D97-AF65-F5344CB8AC3E}">
        <p14:creationId xmlns:p14="http://schemas.microsoft.com/office/powerpoint/2010/main" val="23944270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84275" y="698500"/>
            <a:ext cx="4654550" cy="3490913"/>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7103D9A-CFAB-4C13-928F-E98A199D0282}" type="slidenum">
              <a:rPr lang="en-US" smtClean="0"/>
              <a:pPr/>
              <a:t>9</a:t>
            </a:fld>
            <a:endParaRPr lang="en-US"/>
          </a:p>
        </p:txBody>
      </p:sp>
    </p:spTree>
    <p:extLst>
      <p:ext uri="{BB962C8B-B14F-4D97-AF65-F5344CB8AC3E}">
        <p14:creationId xmlns:p14="http://schemas.microsoft.com/office/powerpoint/2010/main" val="96633452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84275" y="698500"/>
            <a:ext cx="4654550" cy="3490913"/>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7103D9A-CFAB-4C13-928F-E98A199D0282}" type="slidenum">
              <a:rPr lang="en-US" smtClean="0"/>
              <a:pPr/>
              <a:t>10</a:t>
            </a:fld>
            <a:endParaRPr lang="en-US"/>
          </a:p>
        </p:txBody>
      </p:sp>
    </p:spTree>
    <p:extLst>
      <p:ext uri="{BB962C8B-B14F-4D97-AF65-F5344CB8AC3E}">
        <p14:creationId xmlns:p14="http://schemas.microsoft.com/office/powerpoint/2010/main" val="140798776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7103D9A-CFAB-4C13-928F-E98A199D0282}" type="slidenum">
              <a:rPr lang="en-US" smtClean="0"/>
              <a:pPr/>
              <a:t>11</a:t>
            </a:fld>
            <a:endParaRPr lang="en-US"/>
          </a:p>
        </p:txBody>
      </p:sp>
    </p:spTree>
    <p:extLst>
      <p:ext uri="{BB962C8B-B14F-4D97-AF65-F5344CB8AC3E}">
        <p14:creationId xmlns:p14="http://schemas.microsoft.com/office/powerpoint/2010/main" val="26503100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84275" y="698500"/>
            <a:ext cx="4654550" cy="3490913"/>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7103D9A-CFAB-4C13-928F-E98A199D0282}" type="slidenum">
              <a:rPr lang="en-US" smtClean="0"/>
              <a:pPr/>
              <a:t>12</a:t>
            </a:fld>
            <a:endParaRPr lang="en-US"/>
          </a:p>
        </p:txBody>
      </p:sp>
    </p:spTree>
    <p:extLst>
      <p:ext uri="{BB962C8B-B14F-4D97-AF65-F5344CB8AC3E}">
        <p14:creationId xmlns:p14="http://schemas.microsoft.com/office/powerpoint/2010/main" val="14484137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84275" y="698500"/>
            <a:ext cx="4654550" cy="3490913"/>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7103D9A-CFAB-4C13-928F-E98A199D0282}" type="slidenum">
              <a:rPr lang="en-US" smtClean="0"/>
              <a:pPr/>
              <a:t>13</a:t>
            </a:fld>
            <a:endParaRPr lang="en-US" dirty="0"/>
          </a:p>
        </p:txBody>
      </p:sp>
    </p:spTree>
    <p:extLst>
      <p:ext uri="{BB962C8B-B14F-4D97-AF65-F5344CB8AC3E}">
        <p14:creationId xmlns:p14="http://schemas.microsoft.com/office/powerpoint/2010/main" val="420497119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7103D9A-CFAB-4C13-928F-E98A199D0282}" type="slidenum">
              <a:rPr lang="en-US" smtClean="0"/>
              <a:pPr/>
              <a:t>14</a:t>
            </a:fld>
            <a:endParaRPr lang="en-US"/>
          </a:p>
        </p:txBody>
      </p:sp>
    </p:spTree>
    <p:extLst>
      <p:ext uri="{BB962C8B-B14F-4D97-AF65-F5344CB8AC3E}">
        <p14:creationId xmlns:p14="http://schemas.microsoft.com/office/powerpoint/2010/main" val="412901647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7103D9A-CFAB-4C13-928F-E98A199D0282}" type="slidenum">
              <a:rPr lang="en-US" smtClean="0"/>
              <a:pPr/>
              <a:t>15</a:t>
            </a:fld>
            <a:endParaRPr lang="en-US"/>
          </a:p>
        </p:txBody>
      </p:sp>
    </p:spTree>
    <p:extLst>
      <p:ext uri="{BB962C8B-B14F-4D97-AF65-F5344CB8AC3E}">
        <p14:creationId xmlns:p14="http://schemas.microsoft.com/office/powerpoint/2010/main" val="428263030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7103D9A-CFAB-4C13-928F-E98A199D0282}" type="slidenum">
              <a:rPr lang="en-US" smtClean="0"/>
              <a:pPr/>
              <a:t>16</a:t>
            </a:fld>
            <a:endParaRPr lang="en-US"/>
          </a:p>
        </p:txBody>
      </p:sp>
    </p:spTree>
    <p:extLst>
      <p:ext uri="{BB962C8B-B14F-4D97-AF65-F5344CB8AC3E}">
        <p14:creationId xmlns:p14="http://schemas.microsoft.com/office/powerpoint/2010/main" val="311808019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7103D9A-CFAB-4C13-928F-E98A199D0282}" type="slidenum">
              <a:rPr lang="en-US" smtClean="0"/>
              <a:pPr/>
              <a:t>17</a:t>
            </a:fld>
            <a:endParaRPr lang="en-US"/>
          </a:p>
        </p:txBody>
      </p:sp>
    </p:spTree>
    <p:extLst>
      <p:ext uri="{BB962C8B-B14F-4D97-AF65-F5344CB8AC3E}">
        <p14:creationId xmlns:p14="http://schemas.microsoft.com/office/powerpoint/2010/main" val="109244202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7103D9A-CFAB-4C13-928F-E98A199D0282}" type="slidenum">
              <a:rPr lang="en-US" smtClean="0"/>
              <a:pPr/>
              <a:t>18</a:t>
            </a:fld>
            <a:endParaRPr lang="en-US"/>
          </a:p>
        </p:txBody>
      </p:sp>
    </p:spTree>
    <p:extLst>
      <p:ext uri="{BB962C8B-B14F-4D97-AF65-F5344CB8AC3E}">
        <p14:creationId xmlns:p14="http://schemas.microsoft.com/office/powerpoint/2010/main" val="222996634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7103D9A-CFAB-4C13-928F-E98A199D0282}" type="slidenum">
              <a:rPr lang="en-US" smtClean="0"/>
              <a:pPr/>
              <a:t>19</a:t>
            </a:fld>
            <a:endParaRPr lang="en-US"/>
          </a:p>
        </p:txBody>
      </p:sp>
    </p:spTree>
    <p:extLst>
      <p:ext uri="{BB962C8B-B14F-4D97-AF65-F5344CB8AC3E}">
        <p14:creationId xmlns:p14="http://schemas.microsoft.com/office/powerpoint/2010/main" val="126029664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7103D9A-CFAB-4C13-928F-E98A199D0282}" type="slidenum">
              <a:rPr lang="en-US" smtClean="0"/>
              <a:pPr/>
              <a:t>20</a:t>
            </a:fld>
            <a:endParaRPr lang="en-US"/>
          </a:p>
        </p:txBody>
      </p:sp>
    </p:spTree>
    <p:extLst>
      <p:ext uri="{BB962C8B-B14F-4D97-AF65-F5344CB8AC3E}">
        <p14:creationId xmlns:p14="http://schemas.microsoft.com/office/powerpoint/2010/main" val="262497900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7103D9A-CFAB-4C13-928F-E98A199D0282}" type="slidenum">
              <a:rPr lang="en-US" smtClean="0"/>
              <a:pPr/>
              <a:t>21</a:t>
            </a:fld>
            <a:endParaRPr lang="en-US"/>
          </a:p>
        </p:txBody>
      </p:sp>
    </p:spTree>
    <p:extLst>
      <p:ext uri="{BB962C8B-B14F-4D97-AF65-F5344CB8AC3E}">
        <p14:creationId xmlns:p14="http://schemas.microsoft.com/office/powerpoint/2010/main" val="55257375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7103D9A-CFAB-4C13-928F-E98A199D0282}" type="slidenum">
              <a:rPr lang="en-US" smtClean="0"/>
              <a:pPr/>
              <a:t>23</a:t>
            </a:fld>
            <a:endParaRPr lang="en-US"/>
          </a:p>
        </p:txBody>
      </p:sp>
    </p:spTree>
    <p:extLst>
      <p:ext uri="{BB962C8B-B14F-4D97-AF65-F5344CB8AC3E}">
        <p14:creationId xmlns:p14="http://schemas.microsoft.com/office/powerpoint/2010/main" val="195751438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7103D9A-CFAB-4C13-928F-E98A199D0282}" type="slidenum">
              <a:rPr lang="en-US" smtClean="0"/>
              <a:pPr/>
              <a:t>33</a:t>
            </a:fld>
            <a:endParaRPr lang="en-US"/>
          </a:p>
        </p:txBody>
      </p:sp>
    </p:spTree>
    <p:extLst>
      <p:ext uri="{BB962C8B-B14F-4D97-AF65-F5344CB8AC3E}">
        <p14:creationId xmlns:p14="http://schemas.microsoft.com/office/powerpoint/2010/main" val="233355868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7103D9A-CFAB-4C13-928F-E98A199D0282}" type="slidenum">
              <a:rPr lang="en-US" smtClean="0"/>
              <a:pPr/>
              <a:t>34</a:t>
            </a:fld>
            <a:endParaRPr lang="en-US"/>
          </a:p>
        </p:txBody>
      </p:sp>
    </p:spTree>
    <p:extLst>
      <p:ext uri="{BB962C8B-B14F-4D97-AF65-F5344CB8AC3E}">
        <p14:creationId xmlns:p14="http://schemas.microsoft.com/office/powerpoint/2010/main" val="374611961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7103D9A-CFAB-4C13-928F-E98A199D0282}" type="slidenum">
              <a:rPr lang="en-US" smtClean="0"/>
              <a:pPr/>
              <a:t>35</a:t>
            </a:fld>
            <a:endParaRPr lang="en-US"/>
          </a:p>
        </p:txBody>
      </p:sp>
    </p:spTree>
    <p:extLst>
      <p:ext uri="{BB962C8B-B14F-4D97-AF65-F5344CB8AC3E}">
        <p14:creationId xmlns:p14="http://schemas.microsoft.com/office/powerpoint/2010/main" val="80476518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7103D9A-CFAB-4C13-928F-E98A199D0282}" type="slidenum">
              <a:rPr lang="en-US" smtClean="0"/>
              <a:pPr/>
              <a:t>43</a:t>
            </a:fld>
            <a:endParaRPr lang="en-US"/>
          </a:p>
        </p:txBody>
      </p:sp>
    </p:spTree>
    <p:extLst>
      <p:ext uri="{BB962C8B-B14F-4D97-AF65-F5344CB8AC3E}">
        <p14:creationId xmlns:p14="http://schemas.microsoft.com/office/powerpoint/2010/main" val="374271642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7103D9A-CFAB-4C13-928F-E98A199D0282}" type="slidenum">
              <a:rPr lang="en-US" smtClean="0"/>
              <a:pPr/>
              <a:t>44</a:t>
            </a:fld>
            <a:endParaRPr lang="en-US"/>
          </a:p>
        </p:txBody>
      </p:sp>
    </p:spTree>
    <p:extLst>
      <p:ext uri="{BB962C8B-B14F-4D97-AF65-F5344CB8AC3E}">
        <p14:creationId xmlns:p14="http://schemas.microsoft.com/office/powerpoint/2010/main" val="402730112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7103D9A-CFAB-4C13-928F-E98A199D0282}" type="slidenum">
              <a:rPr lang="en-US" smtClean="0"/>
              <a:pPr/>
              <a:t>45</a:t>
            </a:fld>
            <a:endParaRPr lang="en-US"/>
          </a:p>
        </p:txBody>
      </p:sp>
    </p:spTree>
    <p:extLst>
      <p:ext uri="{BB962C8B-B14F-4D97-AF65-F5344CB8AC3E}">
        <p14:creationId xmlns:p14="http://schemas.microsoft.com/office/powerpoint/2010/main" val="192814775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7103D9A-CFAB-4C13-928F-E98A199D0282}" type="slidenum">
              <a:rPr lang="en-US" smtClean="0"/>
              <a:pPr/>
              <a:t>46</a:t>
            </a:fld>
            <a:endParaRPr lang="en-US"/>
          </a:p>
        </p:txBody>
      </p:sp>
    </p:spTree>
    <p:extLst>
      <p:ext uri="{BB962C8B-B14F-4D97-AF65-F5344CB8AC3E}">
        <p14:creationId xmlns:p14="http://schemas.microsoft.com/office/powerpoint/2010/main" val="321517012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7103D9A-CFAB-4C13-928F-E98A199D0282}" type="slidenum">
              <a:rPr lang="en-US" smtClean="0"/>
              <a:pPr/>
              <a:t>47</a:t>
            </a:fld>
            <a:endParaRPr lang="en-US"/>
          </a:p>
        </p:txBody>
      </p:sp>
    </p:spTree>
    <p:extLst>
      <p:ext uri="{BB962C8B-B14F-4D97-AF65-F5344CB8AC3E}">
        <p14:creationId xmlns:p14="http://schemas.microsoft.com/office/powerpoint/2010/main" val="223913810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7103D9A-CFAB-4C13-928F-E98A199D0282}" type="slidenum">
              <a:rPr lang="en-US" smtClean="0"/>
              <a:pPr/>
              <a:t>48</a:t>
            </a:fld>
            <a:endParaRPr lang="en-US"/>
          </a:p>
        </p:txBody>
      </p:sp>
    </p:spTree>
    <p:extLst>
      <p:ext uri="{BB962C8B-B14F-4D97-AF65-F5344CB8AC3E}">
        <p14:creationId xmlns:p14="http://schemas.microsoft.com/office/powerpoint/2010/main" val="234214010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7103D9A-CFAB-4C13-928F-E98A199D0282}" type="slidenum">
              <a:rPr lang="en-US" smtClean="0"/>
              <a:pPr/>
              <a:t>51</a:t>
            </a:fld>
            <a:endParaRPr lang="en-US"/>
          </a:p>
        </p:txBody>
      </p:sp>
    </p:spTree>
    <p:extLst>
      <p:ext uri="{BB962C8B-B14F-4D97-AF65-F5344CB8AC3E}">
        <p14:creationId xmlns:p14="http://schemas.microsoft.com/office/powerpoint/2010/main" val="23039122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
        <p:nvSpPr>
          <p:cNvPr id="4" name="Rectangle 4"/>
          <p:cNvSpPr>
            <a:spLocks noGrp="1" noChangeArrowheads="1"/>
          </p:cNvSpPr>
          <p:nvPr>
            <p:ph type="dt" sz="half" idx="10"/>
          </p:nvPr>
        </p:nvSpPr>
        <p:spPr>
          <a:ln/>
        </p:spPr>
        <p:txBody>
          <a:bodyPr/>
          <a:lstStyle>
            <a:lvl1pPr>
              <a:defRPr/>
            </a:lvl1pPr>
          </a:lstStyle>
          <a:p>
            <a:fld id="{79FDFB15-7E36-4D3C-96B8-3772A1E43C08}" type="datetime13">
              <a:rPr lang="en-US" smtClean="0"/>
              <a:pPr/>
              <a:t>11:23:11 PM</a:t>
            </a:fld>
            <a:endParaRPr lang="en-US"/>
          </a:p>
        </p:txBody>
      </p:sp>
      <p:sp>
        <p:nvSpPr>
          <p:cNvPr id="5" name="Rectangle 5"/>
          <p:cNvSpPr>
            <a:spLocks noGrp="1" noChangeArrowheads="1"/>
          </p:cNvSpPr>
          <p:nvPr>
            <p:ph type="ftr" sz="quarter" idx="11"/>
          </p:nvPr>
        </p:nvSpPr>
        <p:spPr>
          <a:ln/>
        </p:spPr>
        <p:txBody>
          <a:bodyPr/>
          <a:lstStyle>
            <a:lvl1pPr>
              <a:defRPr/>
            </a:lvl1pPr>
          </a:lstStyle>
          <a:p>
            <a:endParaRPr lang="en-US"/>
          </a:p>
        </p:txBody>
      </p:sp>
      <p:sp>
        <p:nvSpPr>
          <p:cNvPr id="6" name="Rectangle 6"/>
          <p:cNvSpPr>
            <a:spLocks noGrp="1" noChangeArrowheads="1"/>
          </p:cNvSpPr>
          <p:nvPr>
            <p:ph type="sldNum" sz="quarter" idx="12"/>
          </p:nvPr>
        </p:nvSpPr>
        <p:spPr>
          <a:ln/>
        </p:spPr>
        <p:txBody>
          <a:bodyPr/>
          <a:lstStyle>
            <a:lvl1pPr>
              <a:defRPr/>
            </a:lvl1pPr>
          </a:lstStyle>
          <a:p>
            <a:fld id="{A6A69957-4B90-43C0-BCD4-148BB97E8ABB}" type="slidenum">
              <a:rPr lang="en-US" smtClean="0"/>
              <a:pPr/>
              <a:t>‹#›</a:t>
            </a:fld>
            <a:endParaRPr lang="en-US"/>
          </a:p>
        </p:txBody>
      </p:sp>
    </p:spTree>
    <p:extLst>
      <p:ext uri="{BB962C8B-B14F-4D97-AF65-F5344CB8AC3E}">
        <p14:creationId xmlns:p14="http://schemas.microsoft.com/office/powerpoint/2010/main" val="3386518448"/>
      </p:ext>
    </p:extLst>
  </p:cSld>
  <p:clrMapOvr>
    <a:masterClrMapping/>
  </p:clrMapOvr>
  <p:transition>
    <p:wheel spokes="1"/>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fld id="{7921004A-F2A1-4A5F-8CF1-9CB1E96F2FFB}" type="datetime13">
              <a:rPr lang="en-US" smtClean="0"/>
              <a:pPr/>
              <a:t>11:23:11 PM</a:t>
            </a:fld>
            <a:endParaRPr lang="en-US"/>
          </a:p>
        </p:txBody>
      </p:sp>
      <p:sp>
        <p:nvSpPr>
          <p:cNvPr id="5" name="Rectangle 5"/>
          <p:cNvSpPr>
            <a:spLocks noGrp="1" noChangeArrowheads="1"/>
          </p:cNvSpPr>
          <p:nvPr>
            <p:ph type="ftr" sz="quarter" idx="11"/>
          </p:nvPr>
        </p:nvSpPr>
        <p:spPr>
          <a:ln/>
        </p:spPr>
        <p:txBody>
          <a:bodyPr/>
          <a:lstStyle>
            <a:lvl1pPr>
              <a:defRPr/>
            </a:lvl1pPr>
          </a:lstStyle>
          <a:p>
            <a:endParaRPr lang="en-US"/>
          </a:p>
        </p:txBody>
      </p:sp>
      <p:sp>
        <p:nvSpPr>
          <p:cNvPr id="6" name="Rectangle 6"/>
          <p:cNvSpPr>
            <a:spLocks noGrp="1" noChangeArrowheads="1"/>
          </p:cNvSpPr>
          <p:nvPr>
            <p:ph type="sldNum" sz="quarter" idx="12"/>
          </p:nvPr>
        </p:nvSpPr>
        <p:spPr>
          <a:ln/>
        </p:spPr>
        <p:txBody>
          <a:bodyPr/>
          <a:lstStyle>
            <a:lvl1pPr>
              <a:defRPr/>
            </a:lvl1pPr>
          </a:lstStyle>
          <a:p>
            <a:fld id="{A6A69957-4B90-43C0-BCD4-148BB97E8ABB}" type="slidenum">
              <a:rPr lang="en-US" smtClean="0"/>
              <a:pPr/>
              <a:t>‹#›</a:t>
            </a:fld>
            <a:endParaRPr lang="en-US"/>
          </a:p>
        </p:txBody>
      </p:sp>
    </p:spTree>
    <p:extLst>
      <p:ext uri="{BB962C8B-B14F-4D97-AF65-F5344CB8AC3E}">
        <p14:creationId xmlns:p14="http://schemas.microsoft.com/office/powerpoint/2010/main" val="680641412"/>
      </p:ext>
    </p:extLst>
  </p:cSld>
  <p:clrMapOvr>
    <a:masterClrMapping/>
  </p:clrMapOvr>
  <p:transition>
    <p:wheel spokes="1"/>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dt" sz="half" idx="10"/>
          </p:nvPr>
        </p:nvSpPr>
        <p:spPr>
          <a:ln/>
        </p:spPr>
        <p:txBody>
          <a:bodyPr/>
          <a:lstStyle>
            <a:lvl1pPr>
              <a:defRPr/>
            </a:lvl1pPr>
          </a:lstStyle>
          <a:p>
            <a:fld id="{42F5A7C5-9713-4050-A496-2694B8F5AA25}" type="datetime13">
              <a:rPr lang="en-US" smtClean="0"/>
              <a:pPr/>
              <a:t>11:23:11 PM</a:t>
            </a:fld>
            <a:endParaRPr lang="en-US"/>
          </a:p>
        </p:txBody>
      </p:sp>
      <p:sp>
        <p:nvSpPr>
          <p:cNvPr id="5" name="Rectangle 5"/>
          <p:cNvSpPr>
            <a:spLocks noGrp="1" noChangeArrowheads="1"/>
          </p:cNvSpPr>
          <p:nvPr>
            <p:ph type="ftr" sz="quarter" idx="11"/>
          </p:nvPr>
        </p:nvSpPr>
        <p:spPr>
          <a:ln/>
        </p:spPr>
        <p:txBody>
          <a:bodyPr/>
          <a:lstStyle>
            <a:lvl1pPr>
              <a:defRPr/>
            </a:lvl1pPr>
          </a:lstStyle>
          <a:p>
            <a:endParaRPr lang="en-US"/>
          </a:p>
        </p:txBody>
      </p:sp>
      <p:sp>
        <p:nvSpPr>
          <p:cNvPr id="6" name="Rectangle 6"/>
          <p:cNvSpPr>
            <a:spLocks noGrp="1" noChangeArrowheads="1"/>
          </p:cNvSpPr>
          <p:nvPr>
            <p:ph type="sldNum" sz="quarter" idx="12"/>
          </p:nvPr>
        </p:nvSpPr>
        <p:spPr>
          <a:ln/>
        </p:spPr>
        <p:txBody>
          <a:bodyPr/>
          <a:lstStyle>
            <a:lvl1pPr>
              <a:defRPr/>
            </a:lvl1pPr>
          </a:lstStyle>
          <a:p>
            <a:fld id="{A6A69957-4B90-43C0-BCD4-148BB97E8ABB}" type="slidenum">
              <a:rPr lang="en-US" smtClean="0"/>
              <a:pPr/>
              <a:t>‹#›</a:t>
            </a:fld>
            <a:endParaRPr lang="en-US"/>
          </a:p>
        </p:txBody>
      </p:sp>
    </p:spTree>
    <p:extLst>
      <p:ext uri="{BB962C8B-B14F-4D97-AF65-F5344CB8AC3E}">
        <p14:creationId xmlns:p14="http://schemas.microsoft.com/office/powerpoint/2010/main" val="2090167413"/>
      </p:ext>
    </p:extLst>
  </p:cSld>
  <p:clrMapOvr>
    <a:masterClrMapping/>
  </p:clrMapOvr>
  <p:transition>
    <p:wheel spokes="1"/>
  </p:transition>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nvPr>
        </p:nvSpPr>
        <p:spPr>
          <a:ln/>
        </p:spPr>
        <p:txBody>
          <a:bodyPr/>
          <a:lstStyle>
            <a:lvl1pPr>
              <a:defRPr/>
            </a:lvl1pPr>
          </a:lstStyle>
          <a:p>
            <a:fld id="{08B100F3-FBB3-430A-AD93-9FD234754410}" type="datetime13">
              <a:rPr lang="en-US" smtClean="0"/>
              <a:pPr/>
              <a:t>11:23:11 PM</a:t>
            </a:fld>
            <a:endParaRPr lang="en-US"/>
          </a:p>
        </p:txBody>
      </p:sp>
      <p:sp>
        <p:nvSpPr>
          <p:cNvPr id="6" name="Rectangle 5"/>
          <p:cNvSpPr>
            <a:spLocks noGrp="1" noChangeArrowheads="1"/>
          </p:cNvSpPr>
          <p:nvPr>
            <p:ph type="ftr" sz="quarter" idx="11"/>
          </p:nvPr>
        </p:nvSpPr>
        <p:spPr>
          <a:ln/>
        </p:spPr>
        <p:txBody>
          <a:bodyPr/>
          <a:lstStyle>
            <a:lvl1pPr>
              <a:defRPr/>
            </a:lvl1pPr>
          </a:lstStyle>
          <a:p>
            <a:endParaRPr lang="en-US"/>
          </a:p>
        </p:txBody>
      </p:sp>
      <p:sp>
        <p:nvSpPr>
          <p:cNvPr id="7" name="Rectangle 6"/>
          <p:cNvSpPr>
            <a:spLocks noGrp="1" noChangeArrowheads="1"/>
          </p:cNvSpPr>
          <p:nvPr>
            <p:ph type="sldNum" sz="quarter" idx="12"/>
          </p:nvPr>
        </p:nvSpPr>
        <p:spPr>
          <a:ln/>
        </p:spPr>
        <p:txBody>
          <a:bodyPr/>
          <a:lstStyle>
            <a:lvl1pPr>
              <a:defRPr/>
            </a:lvl1pPr>
          </a:lstStyle>
          <a:p>
            <a:fld id="{A6A69957-4B90-43C0-BCD4-148BB97E8ABB}" type="slidenum">
              <a:rPr lang="en-US" smtClean="0"/>
              <a:pPr/>
              <a:t>‹#›</a:t>
            </a:fld>
            <a:endParaRPr lang="en-US"/>
          </a:p>
        </p:txBody>
      </p:sp>
    </p:spTree>
    <p:extLst>
      <p:ext uri="{BB962C8B-B14F-4D97-AF65-F5344CB8AC3E}">
        <p14:creationId xmlns:p14="http://schemas.microsoft.com/office/powerpoint/2010/main" val="1263157397"/>
      </p:ext>
    </p:extLst>
  </p:cSld>
  <p:clrMapOvr>
    <a:masterClrMapping/>
  </p:clrMapOvr>
  <p:transition>
    <p:wheel spokes="1"/>
  </p:transition>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4"/>
          <p:cNvSpPr>
            <a:spLocks noGrp="1" noChangeArrowheads="1"/>
          </p:cNvSpPr>
          <p:nvPr>
            <p:ph type="dt" sz="half" idx="10"/>
          </p:nvPr>
        </p:nvSpPr>
        <p:spPr>
          <a:ln/>
        </p:spPr>
        <p:txBody>
          <a:bodyPr/>
          <a:lstStyle>
            <a:lvl1pPr>
              <a:defRPr/>
            </a:lvl1pPr>
          </a:lstStyle>
          <a:p>
            <a:fld id="{44C1EA34-CF2F-40A0-ACC2-68B1E5028DB3}" type="datetime13">
              <a:rPr lang="en-US" smtClean="0"/>
              <a:pPr/>
              <a:t>11:23:11 PM</a:t>
            </a:fld>
            <a:endParaRPr lang="en-US"/>
          </a:p>
        </p:txBody>
      </p:sp>
      <p:sp>
        <p:nvSpPr>
          <p:cNvPr id="8" name="Rectangle 5"/>
          <p:cNvSpPr>
            <a:spLocks noGrp="1" noChangeArrowheads="1"/>
          </p:cNvSpPr>
          <p:nvPr>
            <p:ph type="ftr" sz="quarter" idx="11"/>
          </p:nvPr>
        </p:nvSpPr>
        <p:spPr>
          <a:ln/>
        </p:spPr>
        <p:txBody>
          <a:bodyPr/>
          <a:lstStyle>
            <a:lvl1pPr>
              <a:defRPr/>
            </a:lvl1pPr>
          </a:lstStyle>
          <a:p>
            <a:endParaRPr lang="en-US"/>
          </a:p>
        </p:txBody>
      </p:sp>
      <p:sp>
        <p:nvSpPr>
          <p:cNvPr id="9" name="Rectangle 6"/>
          <p:cNvSpPr>
            <a:spLocks noGrp="1" noChangeArrowheads="1"/>
          </p:cNvSpPr>
          <p:nvPr>
            <p:ph type="sldNum" sz="quarter" idx="12"/>
          </p:nvPr>
        </p:nvSpPr>
        <p:spPr>
          <a:ln/>
        </p:spPr>
        <p:txBody>
          <a:bodyPr/>
          <a:lstStyle>
            <a:lvl1pPr>
              <a:defRPr/>
            </a:lvl1pPr>
          </a:lstStyle>
          <a:p>
            <a:fld id="{A6A69957-4B90-43C0-BCD4-148BB97E8ABB}" type="slidenum">
              <a:rPr lang="en-US" smtClean="0"/>
              <a:pPr/>
              <a:t>‹#›</a:t>
            </a:fld>
            <a:endParaRPr lang="en-US"/>
          </a:p>
        </p:txBody>
      </p:sp>
    </p:spTree>
    <p:extLst>
      <p:ext uri="{BB962C8B-B14F-4D97-AF65-F5344CB8AC3E}">
        <p14:creationId xmlns:p14="http://schemas.microsoft.com/office/powerpoint/2010/main" val="2497648672"/>
      </p:ext>
    </p:extLst>
  </p:cSld>
  <p:clrMapOvr>
    <a:masterClrMapping/>
  </p:clrMapOvr>
  <p:transition>
    <p:wheel spokes="1"/>
  </p:transition>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4"/>
          <p:cNvSpPr>
            <a:spLocks noGrp="1" noChangeArrowheads="1"/>
          </p:cNvSpPr>
          <p:nvPr>
            <p:ph type="dt" sz="half" idx="10"/>
          </p:nvPr>
        </p:nvSpPr>
        <p:spPr>
          <a:ln/>
        </p:spPr>
        <p:txBody>
          <a:bodyPr/>
          <a:lstStyle>
            <a:lvl1pPr>
              <a:defRPr/>
            </a:lvl1pPr>
          </a:lstStyle>
          <a:p>
            <a:fld id="{630E1155-3522-43E7-B4DD-88ABF56411D6}" type="datetime13">
              <a:rPr lang="en-US" smtClean="0"/>
              <a:pPr/>
              <a:t>11:23:11 PM</a:t>
            </a:fld>
            <a:endParaRPr lang="en-US"/>
          </a:p>
        </p:txBody>
      </p:sp>
      <p:sp>
        <p:nvSpPr>
          <p:cNvPr id="4" name="Rectangle 5"/>
          <p:cNvSpPr>
            <a:spLocks noGrp="1" noChangeArrowheads="1"/>
          </p:cNvSpPr>
          <p:nvPr>
            <p:ph type="ftr" sz="quarter" idx="11"/>
          </p:nvPr>
        </p:nvSpPr>
        <p:spPr>
          <a:ln/>
        </p:spPr>
        <p:txBody>
          <a:bodyPr/>
          <a:lstStyle>
            <a:lvl1pPr>
              <a:defRPr/>
            </a:lvl1pPr>
          </a:lstStyle>
          <a:p>
            <a:endParaRPr lang="en-US"/>
          </a:p>
        </p:txBody>
      </p:sp>
      <p:sp>
        <p:nvSpPr>
          <p:cNvPr id="5" name="Rectangle 6"/>
          <p:cNvSpPr>
            <a:spLocks noGrp="1" noChangeArrowheads="1"/>
          </p:cNvSpPr>
          <p:nvPr>
            <p:ph type="sldNum" sz="quarter" idx="12"/>
          </p:nvPr>
        </p:nvSpPr>
        <p:spPr>
          <a:ln/>
        </p:spPr>
        <p:txBody>
          <a:bodyPr/>
          <a:lstStyle>
            <a:lvl1pPr>
              <a:defRPr/>
            </a:lvl1pPr>
          </a:lstStyle>
          <a:p>
            <a:fld id="{A6A69957-4B90-43C0-BCD4-148BB97E8ABB}" type="slidenum">
              <a:rPr lang="en-US" smtClean="0"/>
              <a:pPr/>
              <a:t>‹#›</a:t>
            </a:fld>
            <a:endParaRPr lang="en-US"/>
          </a:p>
        </p:txBody>
      </p:sp>
    </p:spTree>
    <p:extLst>
      <p:ext uri="{BB962C8B-B14F-4D97-AF65-F5344CB8AC3E}">
        <p14:creationId xmlns:p14="http://schemas.microsoft.com/office/powerpoint/2010/main" val="3254511445"/>
      </p:ext>
    </p:extLst>
  </p:cSld>
  <p:clrMapOvr>
    <a:masterClrMapping/>
  </p:clrMapOvr>
  <p:transition>
    <p:wheel spokes="1"/>
  </p:transition>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fld id="{5A207D95-25AC-4356-99BB-BE54E98AFB06}" type="datetime13">
              <a:rPr lang="en-US" smtClean="0"/>
              <a:pPr/>
              <a:t>11:23:11 PM</a:t>
            </a:fld>
            <a:endParaRPr lang="en-US"/>
          </a:p>
        </p:txBody>
      </p:sp>
      <p:sp>
        <p:nvSpPr>
          <p:cNvPr id="3" name="Rectangle 5"/>
          <p:cNvSpPr>
            <a:spLocks noGrp="1" noChangeArrowheads="1"/>
          </p:cNvSpPr>
          <p:nvPr>
            <p:ph type="ftr" sz="quarter" idx="11"/>
          </p:nvPr>
        </p:nvSpPr>
        <p:spPr>
          <a:ln/>
        </p:spPr>
        <p:txBody>
          <a:bodyPr/>
          <a:lstStyle>
            <a:lvl1pPr>
              <a:defRPr/>
            </a:lvl1pPr>
          </a:lstStyle>
          <a:p>
            <a:endParaRPr lang="en-US"/>
          </a:p>
        </p:txBody>
      </p:sp>
      <p:sp>
        <p:nvSpPr>
          <p:cNvPr id="4" name="Rectangle 6"/>
          <p:cNvSpPr>
            <a:spLocks noGrp="1" noChangeArrowheads="1"/>
          </p:cNvSpPr>
          <p:nvPr>
            <p:ph type="sldNum" sz="quarter" idx="12"/>
          </p:nvPr>
        </p:nvSpPr>
        <p:spPr>
          <a:ln/>
        </p:spPr>
        <p:txBody>
          <a:bodyPr/>
          <a:lstStyle>
            <a:lvl1pPr>
              <a:defRPr/>
            </a:lvl1pPr>
          </a:lstStyle>
          <a:p>
            <a:fld id="{A6A69957-4B90-43C0-BCD4-148BB97E8ABB}" type="slidenum">
              <a:rPr lang="en-US" smtClean="0"/>
              <a:pPr/>
              <a:t>‹#›</a:t>
            </a:fld>
            <a:endParaRPr lang="en-US"/>
          </a:p>
        </p:txBody>
      </p:sp>
    </p:spTree>
    <p:extLst>
      <p:ext uri="{BB962C8B-B14F-4D97-AF65-F5344CB8AC3E}">
        <p14:creationId xmlns:p14="http://schemas.microsoft.com/office/powerpoint/2010/main" val="2205451816"/>
      </p:ext>
    </p:extLst>
  </p:cSld>
  <p:clrMapOvr>
    <a:masterClrMapping/>
  </p:clrMapOvr>
  <p:transition>
    <p:wheel spokes="1"/>
  </p:transition>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fld id="{1AE731AF-DE00-419F-9370-F67251C4E602}" type="datetime13">
              <a:rPr lang="en-US" smtClean="0"/>
              <a:pPr/>
              <a:t>11:23:11 PM</a:t>
            </a:fld>
            <a:endParaRPr lang="en-US"/>
          </a:p>
        </p:txBody>
      </p:sp>
      <p:sp>
        <p:nvSpPr>
          <p:cNvPr id="6" name="Rectangle 5"/>
          <p:cNvSpPr>
            <a:spLocks noGrp="1" noChangeArrowheads="1"/>
          </p:cNvSpPr>
          <p:nvPr>
            <p:ph type="ftr" sz="quarter" idx="11"/>
          </p:nvPr>
        </p:nvSpPr>
        <p:spPr>
          <a:ln/>
        </p:spPr>
        <p:txBody>
          <a:bodyPr/>
          <a:lstStyle>
            <a:lvl1pPr>
              <a:defRPr/>
            </a:lvl1pPr>
          </a:lstStyle>
          <a:p>
            <a:endParaRPr lang="en-US"/>
          </a:p>
        </p:txBody>
      </p:sp>
      <p:sp>
        <p:nvSpPr>
          <p:cNvPr id="7" name="Rectangle 6"/>
          <p:cNvSpPr>
            <a:spLocks noGrp="1" noChangeArrowheads="1"/>
          </p:cNvSpPr>
          <p:nvPr>
            <p:ph type="sldNum" sz="quarter" idx="12"/>
          </p:nvPr>
        </p:nvSpPr>
        <p:spPr>
          <a:ln/>
        </p:spPr>
        <p:txBody>
          <a:bodyPr/>
          <a:lstStyle>
            <a:lvl1pPr>
              <a:defRPr/>
            </a:lvl1pPr>
          </a:lstStyle>
          <a:p>
            <a:fld id="{A6A69957-4B90-43C0-BCD4-148BB97E8ABB}" type="slidenum">
              <a:rPr lang="en-US" smtClean="0"/>
              <a:pPr/>
              <a:t>‹#›</a:t>
            </a:fld>
            <a:endParaRPr lang="en-US"/>
          </a:p>
        </p:txBody>
      </p:sp>
    </p:spTree>
    <p:extLst>
      <p:ext uri="{BB962C8B-B14F-4D97-AF65-F5344CB8AC3E}">
        <p14:creationId xmlns:p14="http://schemas.microsoft.com/office/powerpoint/2010/main" val="1764641925"/>
      </p:ext>
    </p:extLst>
  </p:cSld>
  <p:clrMapOvr>
    <a:masterClrMapping/>
  </p:clrMapOvr>
  <p:transition>
    <p:wheel spokes="1"/>
  </p:transition>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fld id="{2FEB81A1-78AB-498E-ACE7-52848D2CE7D1}" type="datetime13">
              <a:rPr lang="en-US" smtClean="0"/>
              <a:pPr/>
              <a:t>11:23:11 PM</a:t>
            </a:fld>
            <a:endParaRPr lang="en-US"/>
          </a:p>
        </p:txBody>
      </p:sp>
      <p:sp>
        <p:nvSpPr>
          <p:cNvPr id="6" name="Rectangle 5"/>
          <p:cNvSpPr>
            <a:spLocks noGrp="1" noChangeArrowheads="1"/>
          </p:cNvSpPr>
          <p:nvPr>
            <p:ph type="ftr" sz="quarter" idx="11"/>
          </p:nvPr>
        </p:nvSpPr>
        <p:spPr>
          <a:ln/>
        </p:spPr>
        <p:txBody>
          <a:bodyPr/>
          <a:lstStyle>
            <a:lvl1pPr>
              <a:defRPr/>
            </a:lvl1pPr>
          </a:lstStyle>
          <a:p>
            <a:endParaRPr lang="en-US"/>
          </a:p>
        </p:txBody>
      </p:sp>
      <p:sp>
        <p:nvSpPr>
          <p:cNvPr id="7" name="Rectangle 6"/>
          <p:cNvSpPr>
            <a:spLocks noGrp="1" noChangeArrowheads="1"/>
          </p:cNvSpPr>
          <p:nvPr>
            <p:ph type="sldNum" sz="quarter" idx="12"/>
          </p:nvPr>
        </p:nvSpPr>
        <p:spPr>
          <a:ln/>
        </p:spPr>
        <p:txBody>
          <a:bodyPr/>
          <a:lstStyle>
            <a:lvl1pPr>
              <a:defRPr/>
            </a:lvl1pPr>
          </a:lstStyle>
          <a:p>
            <a:fld id="{A6A69957-4B90-43C0-BCD4-148BB97E8ABB}" type="slidenum">
              <a:rPr lang="en-US" smtClean="0"/>
              <a:pPr/>
              <a:t>‹#›</a:t>
            </a:fld>
            <a:endParaRPr lang="en-US"/>
          </a:p>
        </p:txBody>
      </p:sp>
    </p:spTree>
    <p:extLst>
      <p:ext uri="{BB962C8B-B14F-4D97-AF65-F5344CB8AC3E}">
        <p14:creationId xmlns:p14="http://schemas.microsoft.com/office/powerpoint/2010/main" val="2671796106"/>
      </p:ext>
    </p:extLst>
  </p:cSld>
  <p:clrMapOvr>
    <a:masterClrMapping/>
  </p:clrMapOvr>
  <p:transition>
    <p:wheel spokes="1"/>
  </p:transition>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fld id="{D94A6091-560B-46F0-B099-C618D42E571F}" type="datetime13">
              <a:rPr lang="en-US" smtClean="0"/>
              <a:pPr/>
              <a:t>11:23:11 PM</a:t>
            </a:fld>
            <a:endParaRPr lang="en-US"/>
          </a:p>
        </p:txBody>
      </p:sp>
      <p:sp>
        <p:nvSpPr>
          <p:cNvPr id="5" name="Rectangle 5"/>
          <p:cNvSpPr>
            <a:spLocks noGrp="1" noChangeArrowheads="1"/>
          </p:cNvSpPr>
          <p:nvPr>
            <p:ph type="ftr" sz="quarter" idx="11"/>
          </p:nvPr>
        </p:nvSpPr>
        <p:spPr>
          <a:ln/>
        </p:spPr>
        <p:txBody>
          <a:bodyPr/>
          <a:lstStyle>
            <a:lvl1pPr>
              <a:defRPr/>
            </a:lvl1pPr>
          </a:lstStyle>
          <a:p>
            <a:endParaRPr lang="en-US"/>
          </a:p>
        </p:txBody>
      </p:sp>
      <p:sp>
        <p:nvSpPr>
          <p:cNvPr id="6" name="Rectangle 6"/>
          <p:cNvSpPr>
            <a:spLocks noGrp="1" noChangeArrowheads="1"/>
          </p:cNvSpPr>
          <p:nvPr>
            <p:ph type="sldNum" sz="quarter" idx="12"/>
          </p:nvPr>
        </p:nvSpPr>
        <p:spPr>
          <a:ln/>
        </p:spPr>
        <p:txBody>
          <a:bodyPr/>
          <a:lstStyle>
            <a:lvl1pPr>
              <a:defRPr/>
            </a:lvl1pPr>
          </a:lstStyle>
          <a:p>
            <a:fld id="{A6A69957-4B90-43C0-BCD4-148BB97E8ABB}" type="slidenum">
              <a:rPr lang="en-US" smtClean="0"/>
              <a:pPr/>
              <a:t>‹#›</a:t>
            </a:fld>
            <a:endParaRPr lang="en-US"/>
          </a:p>
        </p:txBody>
      </p:sp>
    </p:spTree>
    <p:extLst>
      <p:ext uri="{BB962C8B-B14F-4D97-AF65-F5344CB8AC3E}">
        <p14:creationId xmlns:p14="http://schemas.microsoft.com/office/powerpoint/2010/main" val="2566427430"/>
      </p:ext>
    </p:extLst>
  </p:cSld>
  <p:clrMapOvr>
    <a:masterClrMapping/>
  </p:clrMapOvr>
  <p:transition>
    <p:wheel spokes="1"/>
  </p:transition>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fld id="{01FF679F-9E53-4745-B0CA-ADD11CC2B06A}" type="datetime13">
              <a:rPr lang="en-US" smtClean="0"/>
              <a:pPr/>
              <a:t>11:23:11 PM</a:t>
            </a:fld>
            <a:endParaRPr lang="en-US"/>
          </a:p>
        </p:txBody>
      </p:sp>
      <p:sp>
        <p:nvSpPr>
          <p:cNvPr id="5" name="Rectangle 5"/>
          <p:cNvSpPr>
            <a:spLocks noGrp="1" noChangeArrowheads="1"/>
          </p:cNvSpPr>
          <p:nvPr>
            <p:ph type="ftr" sz="quarter" idx="11"/>
          </p:nvPr>
        </p:nvSpPr>
        <p:spPr>
          <a:ln/>
        </p:spPr>
        <p:txBody>
          <a:bodyPr/>
          <a:lstStyle>
            <a:lvl1pPr>
              <a:defRPr/>
            </a:lvl1pPr>
          </a:lstStyle>
          <a:p>
            <a:endParaRPr lang="en-US"/>
          </a:p>
        </p:txBody>
      </p:sp>
      <p:sp>
        <p:nvSpPr>
          <p:cNvPr id="6" name="Rectangle 6"/>
          <p:cNvSpPr>
            <a:spLocks noGrp="1" noChangeArrowheads="1"/>
          </p:cNvSpPr>
          <p:nvPr>
            <p:ph type="sldNum" sz="quarter" idx="12"/>
          </p:nvPr>
        </p:nvSpPr>
        <p:spPr>
          <a:ln/>
        </p:spPr>
        <p:txBody>
          <a:bodyPr/>
          <a:lstStyle>
            <a:lvl1pPr>
              <a:defRPr/>
            </a:lvl1pPr>
          </a:lstStyle>
          <a:p>
            <a:fld id="{A6A69957-4B90-43C0-BCD4-148BB97E8ABB}" type="slidenum">
              <a:rPr lang="en-US" smtClean="0"/>
              <a:pPr/>
              <a:t>‹#›</a:t>
            </a:fld>
            <a:endParaRPr lang="en-US"/>
          </a:p>
        </p:txBody>
      </p:sp>
    </p:spTree>
    <p:extLst>
      <p:ext uri="{BB962C8B-B14F-4D97-AF65-F5344CB8AC3E}">
        <p14:creationId xmlns:p14="http://schemas.microsoft.com/office/powerpoint/2010/main" val="4086151572"/>
      </p:ext>
    </p:extLst>
  </p:cSld>
  <p:clrMapOvr>
    <a:masterClrMapping/>
  </p:clrMapOvr>
  <p:transition>
    <p:wheel spokes="1"/>
  </p:transition>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4" name="Group 2"/>
          <p:cNvGrpSpPr>
            <a:grpSpLocks/>
          </p:cNvGrpSpPr>
          <p:nvPr/>
        </p:nvGrpSpPr>
        <p:grpSpPr bwMode="auto">
          <a:xfrm>
            <a:off x="0" y="2438400"/>
            <a:ext cx="9009063" cy="1052513"/>
            <a:chOff x="0" y="1536"/>
            <a:chExt cx="5675" cy="663"/>
          </a:xfrm>
        </p:grpSpPr>
        <p:grpSp>
          <p:nvGrpSpPr>
            <p:cNvPr id="5" name="Group 3"/>
            <p:cNvGrpSpPr>
              <a:grpSpLocks/>
            </p:cNvGrpSpPr>
            <p:nvPr/>
          </p:nvGrpSpPr>
          <p:grpSpPr bwMode="auto">
            <a:xfrm>
              <a:off x="183" y="1604"/>
              <a:ext cx="448" cy="299"/>
              <a:chOff x="720" y="336"/>
              <a:chExt cx="624" cy="432"/>
            </a:xfrm>
          </p:grpSpPr>
          <p:sp>
            <p:nvSpPr>
              <p:cNvPr id="12" name="Rectangle 4"/>
              <p:cNvSpPr>
                <a:spLocks noChangeArrowheads="1"/>
              </p:cNvSpPr>
              <p:nvPr/>
            </p:nvSpPr>
            <p:spPr bwMode="auto">
              <a:xfrm>
                <a:off x="720" y="336"/>
                <a:ext cx="384" cy="432"/>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 name="Rectangle 5"/>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6" name="Group 6"/>
            <p:cNvGrpSpPr>
              <a:grpSpLocks/>
            </p:cNvGrpSpPr>
            <p:nvPr/>
          </p:nvGrpSpPr>
          <p:grpSpPr bwMode="auto">
            <a:xfrm>
              <a:off x="261" y="1870"/>
              <a:ext cx="465" cy="299"/>
              <a:chOff x="912" y="2640"/>
              <a:chExt cx="672" cy="432"/>
            </a:xfrm>
          </p:grpSpPr>
          <p:sp>
            <p:nvSpPr>
              <p:cNvPr id="10" name="Rectangle 7"/>
              <p:cNvSpPr>
                <a:spLocks noChangeArrowheads="1"/>
              </p:cNvSpPr>
              <p:nvPr/>
            </p:nvSpPr>
            <p:spPr bwMode="auto">
              <a:xfrm>
                <a:off x="912" y="2640"/>
                <a:ext cx="384" cy="432"/>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 name="Rectangle 8"/>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7" name="Rectangle 9"/>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 name="Rectangle 10"/>
            <p:cNvSpPr>
              <a:spLocks noChangeArrowheads="1"/>
            </p:cNvSpPr>
            <p:nvPr/>
          </p:nvSpPr>
          <p:spPr bwMode="auto">
            <a:xfrm>
              <a:off x="400" y="1536"/>
              <a:ext cx="20" cy="663"/>
            </a:xfrm>
            <a:prstGeom prst="rect">
              <a:avLst/>
            </a:prstGeom>
            <a:solidFill>
              <a:schemeClr val="bg2"/>
            </a:solidFill>
            <a:ln>
              <a:noFill/>
            </a:ln>
            <a:effectLst/>
            <a:extLs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 name="Rectangle 11"/>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30732" name="Rectangle 12"/>
          <p:cNvSpPr>
            <a:spLocks noGrp="1" noChangeArrowheads="1"/>
          </p:cNvSpPr>
          <p:nvPr>
            <p:ph type="ctrTitle"/>
          </p:nvPr>
        </p:nvSpPr>
        <p:spPr>
          <a:xfrm>
            <a:off x="990600" y="1676400"/>
            <a:ext cx="7772400" cy="1462088"/>
          </a:xfrm>
        </p:spPr>
        <p:txBody>
          <a:bodyPr/>
          <a:lstStyle>
            <a:lvl1pPr>
              <a:defRPr/>
            </a:lvl1pPr>
          </a:lstStyle>
          <a:p>
            <a:pPr lvl="0"/>
            <a:r>
              <a:rPr lang="en-US" altLang="en-US" noProof="0" smtClean="0"/>
              <a:t>Click to edit Master title style</a:t>
            </a:r>
          </a:p>
        </p:txBody>
      </p:sp>
      <p:sp>
        <p:nvSpPr>
          <p:cNvPr id="30733" name="Rectangle 13"/>
          <p:cNvSpPr>
            <a:spLocks noGrp="1" noChangeArrowheads="1"/>
          </p:cNvSpPr>
          <p:nvPr>
            <p:ph type="subTitle" idx="1"/>
          </p:nvPr>
        </p:nvSpPr>
        <p:spPr>
          <a:xfrm>
            <a:off x="1371600" y="3886200"/>
            <a:ext cx="6400800" cy="1752600"/>
          </a:xfrm>
        </p:spPr>
        <p:txBody>
          <a:bodyPr/>
          <a:lstStyle>
            <a:lvl1pPr marL="0" indent="0" algn="ctr">
              <a:buFont typeface="Wingdings" pitchFamily="2" charset="2"/>
              <a:buNone/>
              <a:defRPr/>
            </a:lvl1pPr>
          </a:lstStyle>
          <a:p>
            <a:pPr lvl="0"/>
            <a:r>
              <a:rPr lang="en-US" altLang="en-US" noProof="0" smtClean="0"/>
              <a:t>Click to edit Master subtitle style</a:t>
            </a:r>
          </a:p>
        </p:txBody>
      </p:sp>
      <p:sp>
        <p:nvSpPr>
          <p:cNvPr id="14" name="Rectangle 14"/>
          <p:cNvSpPr>
            <a:spLocks noGrp="1" noChangeArrowheads="1"/>
          </p:cNvSpPr>
          <p:nvPr>
            <p:ph type="dt" sz="half" idx="10"/>
          </p:nvPr>
        </p:nvSpPr>
        <p:spPr>
          <a:xfrm>
            <a:off x="990600" y="6248400"/>
            <a:ext cx="1905000" cy="457200"/>
          </a:xfrm>
        </p:spPr>
        <p:txBody>
          <a:bodyPr/>
          <a:lstStyle>
            <a:lvl1pPr>
              <a:defRPr smtClean="0">
                <a:solidFill>
                  <a:schemeClr val="bg2"/>
                </a:solidFill>
              </a:defRPr>
            </a:lvl1pPr>
          </a:lstStyle>
          <a:p>
            <a:pPr>
              <a:defRPr/>
            </a:pPr>
            <a:endParaRPr lang="en-US" altLang="en-US"/>
          </a:p>
        </p:txBody>
      </p:sp>
      <p:sp>
        <p:nvSpPr>
          <p:cNvPr id="15" name="Rectangle 15"/>
          <p:cNvSpPr>
            <a:spLocks noGrp="1" noChangeArrowheads="1"/>
          </p:cNvSpPr>
          <p:nvPr>
            <p:ph type="ftr" sz="quarter" idx="11"/>
          </p:nvPr>
        </p:nvSpPr>
        <p:spPr>
          <a:xfrm>
            <a:off x="3429000" y="6248400"/>
            <a:ext cx="2895600" cy="457200"/>
          </a:xfrm>
        </p:spPr>
        <p:txBody>
          <a:bodyPr/>
          <a:lstStyle>
            <a:lvl1pPr>
              <a:defRPr smtClean="0">
                <a:solidFill>
                  <a:schemeClr val="bg2"/>
                </a:solidFill>
              </a:defRPr>
            </a:lvl1pPr>
          </a:lstStyle>
          <a:p>
            <a:pPr>
              <a:defRPr/>
            </a:pPr>
            <a:endParaRPr lang="en-US" altLang="en-US"/>
          </a:p>
        </p:txBody>
      </p:sp>
      <p:sp>
        <p:nvSpPr>
          <p:cNvPr id="16" name="Rectangle 16"/>
          <p:cNvSpPr>
            <a:spLocks noGrp="1" noChangeArrowheads="1"/>
          </p:cNvSpPr>
          <p:nvPr>
            <p:ph type="sldNum" sz="quarter" idx="12"/>
          </p:nvPr>
        </p:nvSpPr>
        <p:spPr>
          <a:xfrm>
            <a:off x="6858000" y="6248400"/>
            <a:ext cx="1905000" cy="457200"/>
          </a:xfrm>
        </p:spPr>
        <p:txBody>
          <a:bodyPr/>
          <a:lstStyle>
            <a:lvl1pPr>
              <a:defRPr smtClean="0">
                <a:solidFill>
                  <a:schemeClr val="bg2"/>
                </a:solidFill>
              </a:defRPr>
            </a:lvl1pPr>
          </a:lstStyle>
          <a:p>
            <a:pPr>
              <a:defRPr/>
            </a:pPr>
            <a:fld id="{02107359-67B1-4AD6-9E84-42A62EDD9948}" type="slidenum">
              <a:rPr lang="en-US" altLang="en-US"/>
              <a:pPr>
                <a:defRPr/>
              </a:pPr>
              <a:t>‹#›</a:t>
            </a:fld>
            <a:endParaRPr lang="en-US" altLang="en-US"/>
          </a:p>
        </p:txBody>
      </p:sp>
    </p:spTree>
    <p:extLst>
      <p:ext uri="{BB962C8B-B14F-4D97-AF65-F5344CB8AC3E}">
        <p14:creationId xmlns:p14="http://schemas.microsoft.com/office/powerpoint/2010/main" val="294868090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11"/>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12"/>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13"/>
          <p:cNvSpPr>
            <a:spLocks noGrp="1" noChangeArrowheads="1"/>
          </p:cNvSpPr>
          <p:nvPr>
            <p:ph type="sldNum" sz="quarter" idx="12"/>
          </p:nvPr>
        </p:nvSpPr>
        <p:spPr>
          <a:ln/>
        </p:spPr>
        <p:txBody>
          <a:bodyPr/>
          <a:lstStyle>
            <a:lvl1pPr>
              <a:defRPr/>
            </a:lvl1pPr>
          </a:lstStyle>
          <a:p>
            <a:pPr>
              <a:defRPr/>
            </a:pPr>
            <a:fld id="{FB3CB7D6-06F1-47D5-825B-447B497C45F2}" type="slidenum">
              <a:rPr lang="en-US" altLang="en-US"/>
              <a:pPr>
                <a:defRPr/>
              </a:pPr>
              <a:t>‹#›</a:t>
            </a:fld>
            <a:endParaRPr lang="en-US" altLang="en-US"/>
          </a:p>
        </p:txBody>
      </p:sp>
    </p:spTree>
    <p:extLst>
      <p:ext uri="{BB962C8B-B14F-4D97-AF65-F5344CB8AC3E}">
        <p14:creationId xmlns:p14="http://schemas.microsoft.com/office/powerpoint/2010/main" val="309416589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11"/>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12"/>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13"/>
          <p:cNvSpPr>
            <a:spLocks noGrp="1" noChangeArrowheads="1"/>
          </p:cNvSpPr>
          <p:nvPr>
            <p:ph type="sldNum" sz="quarter" idx="12"/>
          </p:nvPr>
        </p:nvSpPr>
        <p:spPr>
          <a:ln/>
        </p:spPr>
        <p:txBody>
          <a:bodyPr/>
          <a:lstStyle>
            <a:lvl1pPr>
              <a:defRPr/>
            </a:lvl1pPr>
          </a:lstStyle>
          <a:p>
            <a:pPr>
              <a:defRPr/>
            </a:pPr>
            <a:fld id="{01DD02FA-FAC7-4C9E-BFBE-4430D899AA09}" type="slidenum">
              <a:rPr lang="en-US" altLang="en-US"/>
              <a:pPr>
                <a:defRPr/>
              </a:pPr>
              <a:t>‹#›</a:t>
            </a:fld>
            <a:endParaRPr lang="en-US" altLang="en-US"/>
          </a:p>
        </p:txBody>
      </p:sp>
    </p:spTree>
    <p:extLst>
      <p:ext uri="{BB962C8B-B14F-4D97-AF65-F5344CB8AC3E}">
        <p14:creationId xmlns:p14="http://schemas.microsoft.com/office/powerpoint/2010/main" val="10284670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1182688" y="2017713"/>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5145088" y="2017713"/>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11"/>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12"/>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13"/>
          <p:cNvSpPr>
            <a:spLocks noGrp="1" noChangeArrowheads="1"/>
          </p:cNvSpPr>
          <p:nvPr>
            <p:ph type="sldNum" sz="quarter" idx="12"/>
          </p:nvPr>
        </p:nvSpPr>
        <p:spPr>
          <a:ln/>
        </p:spPr>
        <p:txBody>
          <a:bodyPr/>
          <a:lstStyle>
            <a:lvl1pPr>
              <a:defRPr/>
            </a:lvl1pPr>
          </a:lstStyle>
          <a:p>
            <a:pPr>
              <a:defRPr/>
            </a:pPr>
            <a:fld id="{1F3B9868-2436-46DA-B83F-B0CE6CA0C8C8}" type="slidenum">
              <a:rPr lang="en-US" altLang="en-US"/>
              <a:pPr>
                <a:defRPr/>
              </a:pPr>
              <a:t>‹#›</a:t>
            </a:fld>
            <a:endParaRPr lang="en-US" altLang="en-US"/>
          </a:p>
        </p:txBody>
      </p:sp>
    </p:spTree>
    <p:extLst>
      <p:ext uri="{BB962C8B-B14F-4D97-AF65-F5344CB8AC3E}">
        <p14:creationId xmlns:p14="http://schemas.microsoft.com/office/powerpoint/2010/main" val="409614437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11"/>
          <p:cNvSpPr>
            <a:spLocks noGrp="1" noChangeArrowheads="1"/>
          </p:cNvSpPr>
          <p:nvPr>
            <p:ph type="dt" sz="half" idx="10"/>
          </p:nvPr>
        </p:nvSpPr>
        <p:spPr>
          <a:ln/>
        </p:spPr>
        <p:txBody>
          <a:bodyPr/>
          <a:lstStyle>
            <a:lvl1pPr>
              <a:defRPr/>
            </a:lvl1pPr>
          </a:lstStyle>
          <a:p>
            <a:pPr>
              <a:defRPr/>
            </a:pPr>
            <a:endParaRPr lang="en-US" altLang="en-US"/>
          </a:p>
        </p:txBody>
      </p:sp>
      <p:sp>
        <p:nvSpPr>
          <p:cNvPr id="8" name="Rectangle 12"/>
          <p:cNvSpPr>
            <a:spLocks noGrp="1" noChangeArrowheads="1"/>
          </p:cNvSpPr>
          <p:nvPr>
            <p:ph type="ftr" sz="quarter" idx="11"/>
          </p:nvPr>
        </p:nvSpPr>
        <p:spPr>
          <a:ln/>
        </p:spPr>
        <p:txBody>
          <a:bodyPr/>
          <a:lstStyle>
            <a:lvl1pPr>
              <a:defRPr/>
            </a:lvl1pPr>
          </a:lstStyle>
          <a:p>
            <a:pPr>
              <a:defRPr/>
            </a:pPr>
            <a:endParaRPr lang="en-US" altLang="en-US"/>
          </a:p>
        </p:txBody>
      </p:sp>
      <p:sp>
        <p:nvSpPr>
          <p:cNvPr id="9" name="Rectangle 13"/>
          <p:cNvSpPr>
            <a:spLocks noGrp="1" noChangeArrowheads="1"/>
          </p:cNvSpPr>
          <p:nvPr>
            <p:ph type="sldNum" sz="quarter" idx="12"/>
          </p:nvPr>
        </p:nvSpPr>
        <p:spPr>
          <a:ln/>
        </p:spPr>
        <p:txBody>
          <a:bodyPr/>
          <a:lstStyle>
            <a:lvl1pPr>
              <a:defRPr/>
            </a:lvl1pPr>
          </a:lstStyle>
          <a:p>
            <a:pPr>
              <a:defRPr/>
            </a:pPr>
            <a:fld id="{4DF4E281-38D0-4C0E-90BD-7ED79D6A39C6}" type="slidenum">
              <a:rPr lang="en-US" altLang="en-US"/>
              <a:pPr>
                <a:defRPr/>
              </a:pPr>
              <a:t>‹#›</a:t>
            </a:fld>
            <a:endParaRPr lang="en-US" altLang="en-US"/>
          </a:p>
        </p:txBody>
      </p:sp>
    </p:spTree>
    <p:extLst>
      <p:ext uri="{BB962C8B-B14F-4D97-AF65-F5344CB8AC3E}">
        <p14:creationId xmlns:p14="http://schemas.microsoft.com/office/powerpoint/2010/main" val="818703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11"/>
          <p:cNvSpPr>
            <a:spLocks noGrp="1" noChangeArrowheads="1"/>
          </p:cNvSpPr>
          <p:nvPr>
            <p:ph type="dt" sz="half" idx="10"/>
          </p:nvPr>
        </p:nvSpPr>
        <p:spPr>
          <a:ln/>
        </p:spPr>
        <p:txBody>
          <a:bodyPr/>
          <a:lstStyle>
            <a:lvl1pPr>
              <a:defRPr/>
            </a:lvl1pPr>
          </a:lstStyle>
          <a:p>
            <a:pPr>
              <a:defRPr/>
            </a:pPr>
            <a:endParaRPr lang="en-US" altLang="en-US"/>
          </a:p>
        </p:txBody>
      </p:sp>
      <p:sp>
        <p:nvSpPr>
          <p:cNvPr id="4" name="Rectangle 12"/>
          <p:cNvSpPr>
            <a:spLocks noGrp="1" noChangeArrowheads="1"/>
          </p:cNvSpPr>
          <p:nvPr>
            <p:ph type="ftr" sz="quarter" idx="11"/>
          </p:nvPr>
        </p:nvSpPr>
        <p:spPr>
          <a:ln/>
        </p:spPr>
        <p:txBody>
          <a:bodyPr/>
          <a:lstStyle>
            <a:lvl1pPr>
              <a:defRPr/>
            </a:lvl1pPr>
          </a:lstStyle>
          <a:p>
            <a:pPr>
              <a:defRPr/>
            </a:pPr>
            <a:endParaRPr lang="en-US" altLang="en-US"/>
          </a:p>
        </p:txBody>
      </p:sp>
      <p:sp>
        <p:nvSpPr>
          <p:cNvPr id="5" name="Rectangle 13"/>
          <p:cNvSpPr>
            <a:spLocks noGrp="1" noChangeArrowheads="1"/>
          </p:cNvSpPr>
          <p:nvPr>
            <p:ph type="sldNum" sz="quarter" idx="12"/>
          </p:nvPr>
        </p:nvSpPr>
        <p:spPr>
          <a:ln/>
        </p:spPr>
        <p:txBody>
          <a:bodyPr/>
          <a:lstStyle>
            <a:lvl1pPr>
              <a:defRPr/>
            </a:lvl1pPr>
          </a:lstStyle>
          <a:p>
            <a:pPr>
              <a:defRPr/>
            </a:pPr>
            <a:fld id="{2F5A4F67-84C5-46FD-9699-AE3DD45BDA72}" type="slidenum">
              <a:rPr lang="en-US" altLang="en-US"/>
              <a:pPr>
                <a:defRPr/>
              </a:pPr>
              <a:t>‹#›</a:t>
            </a:fld>
            <a:endParaRPr lang="en-US" altLang="en-US"/>
          </a:p>
        </p:txBody>
      </p:sp>
    </p:spTree>
    <p:extLst>
      <p:ext uri="{BB962C8B-B14F-4D97-AF65-F5344CB8AC3E}">
        <p14:creationId xmlns:p14="http://schemas.microsoft.com/office/powerpoint/2010/main" val="267896863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1"/>
          <p:cNvSpPr>
            <a:spLocks noGrp="1" noChangeArrowheads="1"/>
          </p:cNvSpPr>
          <p:nvPr>
            <p:ph type="dt" sz="half" idx="10"/>
          </p:nvPr>
        </p:nvSpPr>
        <p:spPr>
          <a:ln/>
        </p:spPr>
        <p:txBody>
          <a:bodyPr/>
          <a:lstStyle>
            <a:lvl1pPr>
              <a:defRPr/>
            </a:lvl1pPr>
          </a:lstStyle>
          <a:p>
            <a:pPr>
              <a:defRPr/>
            </a:pPr>
            <a:endParaRPr lang="en-US" altLang="en-US"/>
          </a:p>
        </p:txBody>
      </p:sp>
      <p:sp>
        <p:nvSpPr>
          <p:cNvPr id="3" name="Rectangle 12"/>
          <p:cNvSpPr>
            <a:spLocks noGrp="1" noChangeArrowheads="1"/>
          </p:cNvSpPr>
          <p:nvPr>
            <p:ph type="ftr" sz="quarter" idx="11"/>
          </p:nvPr>
        </p:nvSpPr>
        <p:spPr>
          <a:ln/>
        </p:spPr>
        <p:txBody>
          <a:bodyPr/>
          <a:lstStyle>
            <a:lvl1pPr>
              <a:defRPr/>
            </a:lvl1pPr>
          </a:lstStyle>
          <a:p>
            <a:pPr>
              <a:defRPr/>
            </a:pPr>
            <a:endParaRPr lang="en-US" altLang="en-US"/>
          </a:p>
        </p:txBody>
      </p:sp>
      <p:sp>
        <p:nvSpPr>
          <p:cNvPr id="4" name="Rectangle 13"/>
          <p:cNvSpPr>
            <a:spLocks noGrp="1" noChangeArrowheads="1"/>
          </p:cNvSpPr>
          <p:nvPr>
            <p:ph type="sldNum" sz="quarter" idx="12"/>
          </p:nvPr>
        </p:nvSpPr>
        <p:spPr>
          <a:ln/>
        </p:spPr>
        <p:txBody>
          <a:bodyPr/>
          <a:lstStyle>
            <a:lvl1pPr>
              <a:defRPr/>
            </a:lvl1pPr>
          </a:lstStyle>
          <a:p>
            <a:pPr>
              <a:defRPr/>
            </a:pPr>
            <a:fld id="{CD90D6CC-85C4-4DA5-A0FF-C0BEBD828E1A}" type="slidenum">
              <a:rPr lang="en-US" altLang="en-US"/>
              <a:pPr>
                <a:defRPr/>
              </a:pPr>
              <a:t>‹#›</a:t>
            </a:fld>
            <a:endParaRPr lang="en-US" altLang="en-US"/>
          </a:p>
        </p:txBody>
      </p:sp>
    </p:spTree>
    <p:extLst>
      <p:ext uri="{BB962C8B-B14F-4D97-AF65-F5344CB8AC3E}">
        <p14:creationId xmlns:p14="http://schemas.microsoft.com/office/powerpoint/2010/main" val="272093568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11"/>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12"/>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13"/>
          <p:cNvSpPr>
            <a:spLocks noGrp="1" noChangeArrowheads="1"/>
          </p:cNvSpPr>
          <p:nvPr>
            <p:ph type="sldNum" sz="quarter" idx="12"/>
          </p:nvPr>
        </p:nvSpPr>
        <p:spPr>
          <a:ln/>
        </p:spPr>
        <p:txBody>
          <a:bodyPr/>
          <a:lstStyle>
            <a:lvl1pPr>
              <a:defRPr/>
            </a:lvl1pPr>
          </a:lstStyle>
          <a:p>
            <a:pPr>
              <a:defRPr/>
            </a:pPr>
            <a:fld id="{32DB6A71-7D67-4042-B016-ABC203A9EED0}" type="slidenum">
              <a:rPr lang="en-US" altLang="en-US"/>
              <a:pPr>
                <a:defRPr/>
              </a:pPr>
              <a:t>‹#›</a:t>
            </a:fld>
            <a:endParaRPr lang="en-US" altLang="en-US"/>
          </a:p>
        </p:txBody>
      </p:sp>
    </p:spTree>
    <p:extLst>
      <p:ext uri="{BB962C8B-B14F-4D97-AF65-F5344CB8AC3E}">
        <p14:creationId xmlns:p14="http://schemas.microsoft.com/office/powerpoint/2010/main" val="261020944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11"/>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12"/>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13"/>
          <p:cNvSpPr>
            <a:spLocks noGrp="1" noChangeArrowheads="1"/>
          </p:cNvSpPr>
          <p:nvPr>
            <p:ph type="sldNum" sz="quarter" idx="12"/>
          </p:nvPr>
        </p:nvSpPr>
        <p:spPr>
          <a:ln/>
        </p:spPr>
        <p:txBody>
          <a:bodyPr/>
          <a:lstStyle>
            <a:lvl1pPr>
              <a:defRPr/>
            </a:lvl1pPr>
          </a:lstStyle>
          <a:p>
            <a:pPr>
              <a:defRPr/>
            </a:pPr>
            <a:fld id="{D344EF2C-70C8-481B-B50A-BEC57CE06D36}" type="slidenum">
              <a:rPr lang="en-US" altLang="en-US"/>
              <a:pPr>
                <a:defRPr/>
              </a:pPr>
              <a:t>‹#›</a:t>
            </a:fld>
            <a:endParaRPr lang="en-US" altLang="en-US"/>
          </a:p>
        </p:txBody>
      </p:sp>
    </p:spTree>
    <p:extLst>
      <p:ext uri="{BB962C8B-B14F-4D97-AF65-F5344CB8AC3E}">
        <p14:creationId xmlns:p14="http://schemas.microsoft.com/office/powerpoint/2010/main" val="6235195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11"/>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12"/>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13"/>
          <p:cNvSpPr>
            <a:spLocks noGrp="1" noChangeArrowheads="1"/>
          </p:cNvSpPr>
          <p:nvPr>
            <p:ph type="sldNum" sz="quarter" idx="12"/>
          </p:nvPr>
        </p:nvSpPr>
        <p:spPr>
          <a:ln/>
        </p:spPr>
        <p:txBody>
          <a:bodyPr/>
          <a:lstStyle>
            <a:lvl1pPr>
              <a:defRPr/>
            </a:lvl1pPr>
          </a:lstStyle>
          <a:p>
            <a:pPr>
              <a:defRPr/>
            </a:pPr>
            <a:fld id="{C78CFE14-9850-41E3-81B3-B47F5465B8DA}" type="slidenum">
              <a:rPr lang="en-US" altLang="en-US"/>
              <a:pPr>
                <a:defRPr/>
              </a:pPr>
              <a:t>‹#›</a:t>
            </a:fld>
            <a:endParaRPr lang="en-US" altLang="en-US"/>
          </a:p>
        </p:txBody>
      </p:sp>
    </p:spTree>
    <p:extLst>
      <p:ext uri="{BB962C8B-B14F-4D97-AF65-F5344CB8AC3E}">
        <p14:creationId xmlns:p14="http://schemas.microsoft.com/office/powerpoint/2010/main" val="9683726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04050" y="214313"/>
            <a:ext cx="1951038" cy="59182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1150938" y="214313"/>
            <a:ext cx="5700712" cy="59182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11"/>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12"/>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13"/>
          <p:cNvSpPr>
            <a:spLocks noGrp="1" noChangeArrowheads="1"/>
          </p:cNvSpPr>
          <p:nvPr>
            <p:ph type="sldNum" sz="quarter" idx="12"/>
          </p:nvPr>
        </p:nvSpPr>
        <p:spPr>
          <a:ln/>
        </p:spPr>
        <p:txBody>
          <a:bodyPr/>
          <a:lstStyle>
            <a:lvl1pPr>
              <a:defRPr/>
            </a:lvl1pPr>
          </a:lstStyle>
          <a:p>
            <a:pPr>
              <a:defRPr/>
            </a:pPr>
            <a:fld id="{3F4D6699-CFAD-4FD8-BDBF-46C0BA3FB4E4}" type="slidenum">
              <a:rPr lang="en-US" altLang="en-US"/>
              <a:pPr>
                <a:defRPr/>
              </a:pPr>
              <a:t>‹#›</a:t>
            </a:fld>
            <a:endParaRPr lang="en-US" altLang="en-US"/>
          </a:p>
        </p:txBody>
      </p:sp>
    </p:spTree>
    <p:extLst>
      <p:ext uri="{BB962C8B-B14F-4D97-AF65-F5344CB8AC3E}">
        <p14:creationId xmlns:p14="http://schemas.microsoft.com/office/powerpoint/2010/main" val="15546493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pattFill prst="pct5">
          <a:fgClr>
            <a:schemeClr val="bg2"/>
          </a:fgClr>
          <a:bgClr>
            <a:schemeClr val="bg1"/>
          </a:bgClr>
        </a:patt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smtClean="0"/>
              <a:t>Click to edit Master title style</a:t>
            </a:r>
          </a:p>
        </p:txBody>
      </p:sp>
      <p:sp>
        <p:nvSpPr>
          <p:cNvPr id="1027" name="Rectangle 3"/>
          <p:cNvSpPr>
            <a:spLocks noGrp="1" noChangeArrowheads="1"/>
          </p:cNvSpPr>
          <p:nvPr>
            <p:ph type="body" idx="1"/>
          </p:nvPr>
        </p:nvSpPr>
        <p:spPr bwMode="auto">
          <a:xfrm>
            <a:off x="457200" y="1600200"/>
            <a:ext cx="82296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smtClean="0"/>
            </a:lvl1pPr>
          </a:lstStyle>
          <a:p>
            <a:fld id="{47437F72-247D-4763-AAED-7DA7272993DB}" type="datetime13">
              <a:rPr lang="en-US" smtClean="0"/>
              <a:pPr/>
              <a:t>11:23:11 PM</a:t>
            </a:fld>
            <a:endParaRPr lang="en-US"/>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smtClean="0"/>
            </a:lvl1pPr>
          </a:lstStyle>
          <a:p>
            <a:endParaRPr lang="en-US"/>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smtClean="0"/>
            </a:lvl1pPr>
          </a:lstStyle>
          <a:p>
            <a:fld id="{A6A69957-4B90-43C0-BCD4-148BB97E8AB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4093" r:id="rId1"/>
    <p:sldLayoutId id="2147484094" r:id="rId2"/>
    <p:sldLayoutId id="2147484095" r:id="rId3"/>
    <p:sldLayoutId id="2147484096" r:id="rId4"/>
    <p:sldLayoutId id="2147484097" r:id="rId5"/>
    <p:sldLayoutId id="2147484098" r:id="rId6"/>
    <p:sldLayoutId id="2147484099" r:id="rId7"/>
    <p:sldLayoutId id="2147484100" r:id="rId8"/>
    <p:sldLayoutId id="2147484101" r:id="rId9"/>
    <p:sldLayoutId id="2147484102" r:id="rId10"/>
    <p:sldLayoutId id="2147484103" r:id="rId11"/>
  </p:sldLayoutIdLst>
  <p:transition>
    <p:wheel spokes="1"/>
  </p:transition>
  <p:timing>
    <p:tnLst>
      <p:par>
        <p:cTn id="1" dur="indefinite" restart="never" nodeType="tmRoot"/>
      </p:par>
    </p:tnLst>
  </p:timing>
  <p:hf sldNum="0" hdr="0" ftr="0"/>
  <p:txStyles>
    <p:titleStyle>
      <a:lvl1pPr algn="ctr" rtl="0" eaLnBrk="1" fontAlgn="base" hangingPunct="1">
        <a:spcBef>
          <a:spcPct val="0"/>
        </a:spcBef>
        <a:spcAft>
          <a:spcPct val="0"/>
        </a:spcAft>
        <a:defRPr sz="4400">
          <a:solidFill>
            <a:schemeClr val="tx2"/>
          </a:solidFill>
          <a:latin typeface="+mj-lt"/>
          <a:ea typeface="+mj-ea"/>
          <a:cs typeface="+mj-cs"/>
        </a:defRPr>
      </a:lvl1pPr>
      <a:lvl2pPr algn="ctr" rtl="0" eaLnBrk="1" fontAlgn="base" hangingPunct="1">
        <a:spcBef>
          <a:spcPct val="0"/>
        </a:spcBef>
        <a:spcAft>
          <a:spcPct val="0"/>
        </a:spcAft>
        <a:defRPr sz="4400">
          <a:solidFill>
            <a:schemeClr val="tx2"/>
          </a:solidFill>
          <a:latin typeface="Arial" pitchFamily="34" charset="0"/>
        </a:defRPr>
      </a:lvl2pPr>
      <a:lvl3pPr algn="ctr" rtl="0" eaLnBrk="1" fontAlgn="base" hangingPunct="1">
        <a:spcBef>
          <a:spcPct val="0"/>
        </a:spcBef>
        <a:spcAft>
          <a:spcPct val="0"/>
        </a:spcAft>
        <a:defRPr sz="4400">
          <a:solidFill>
            <a:schemeClr val="tx2"/>
          </a:solidFill>
          <a:latin typeface="Arial" pitchFamily="34" charset="0"/>
        </a:defRPr>
      </a:lvl3pPr>
      <a:lvl4pPr algn="ctr" rtl="0" eaLnBrk="1" fontAlgn="base" hangingPunct="1">
        <a:spcBef>
          <a:spcPct val="0"/>
        </a:spcBef>
        <a:spcAft>
          <a:spcPct val="0"/>
        </a:spcAft>
        <a:defRPr sz="4400">
          <a:solidFill>
            <a:schemeClr val="tx2"/>
          </a:solidFill>
          <a:latin typeface="Arial" pitchFamily="34" charset="0"/>
        </a:defRPr>
      </a:lvl4pPr>
      <a:lvl5pPr algn="ctr" rtl="0" eaLnBrk="1" fontAlgn="base" hangingPunct="1">
        <a:spcBef>
          <a:spcPct val="0"/>
        </a:spcBef>
        <a:spcAft>
          <a:spcPct val="0"/>
        </a:spcAft>
        <a:defRPr sz="4400">
          <a:solidFill>
            <a:schemeClr val="tx2"/>
          </a:solidFill>
          <a:latin typeface="Arial" pitchFamily="34" charset="0"/>
        </a:defRPr>
      </a:lvl5pPr>
      <a:lvl6pPr marL="457200" algn="ctr" rtl="0" eaLnBrk="1" fontAlgn="base" hangingPunct="1">
        <a:spcBef>
          <a:spcPct val="0"/>
        </a:spcBef>
        <a:spcAft>
          <a:spcPct val="0"/>
        </a:spcAft>
        <a:defRPr sz="4400">
          <a:solidFill>
            <a:schemeClr val="tx2"/>
          </a:solidFill>
          <a:latin typeface="Arial" pitchFamily="34" charset="0"/>
        </a:defRPr>
      </a:lvl6pPr>
      <a:lvl7pPr marL="914400" algn="ctr" rtl="0" eaLnBrk="1" fontAlgn="base" hangingPunct="1">
        <a:spcBef>
          <a:spcPct val="0"/>
        </a:spcBef>
        <a:spcAft>
          <a:spcPct val="0"/>
        </a:spcAft>
        <a:defRPr sz="4400">
          <a:solidFill>
            <a:schemeClr val="tx2"/>
          </a:solidFill>
          <a:latin typeface="Arial" pitchFamily="34" charset="0"/>
        </a:defRPr>
      </a:lvl7pPr>
      <a:lvl8pPr marL="1371600" algn="ctr" rtl="0" eaLnBrk="1" fontAlgn="base" hangingPunct="1">
        <a:spcBef>
          <a:spcPct val="0"/>
        </a:spcBef>
        <a:spcAft>
          <a:spcPct val="0"/>
        </a:spcAft>
        <a:defRPr sz="4400">
          <a:solidFill>
            <a:schemeClr val="tx2"/>
          </a:solidFill>
          <a:latin typeface="Arial" pitchFamily="34" charset="0"/>
        </a:defRPr>
      </a:lvl8pPr>
      <a:lvl9pPr marL="1828800" algn="ctr" rtl="0" eaLnBrk="1" fontAlgn="base" hangingPunct="1">
        <a:spcBef>
          <a:spcPct val="0"/>
        </a:spcBef>
        <a:spcAft>
          <a:spcPct val="0"/>
        </a:spcAft>
        <a:defRPr sz="4400">
          <a:solidFill>
            <a:schemeClr val="tx2"/>
          </a:solidFill>
          <a:latin typeface="Arial" pitchFamily="34" charset="0"/>
        </a:defRPr>
      </a:lvl9pPr>
    </p:titleStyle>
    <p:bodyStyle>
      <a:lvl1pPr marL="342900" indent="-342900" algn="l" rtl="0" eaLnBrk="1" fontAlgn="base" hangingPunct="1">
        <a:spcBef>
          <a:spcPct val="20000"/>
        </a:spcBef>
        <a:spcAft>
          <a:spcPct val="0"/>
        </a:spcAft>
        <a:buChar char="•"/>
        <a:defRPr sz="3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a:solidFill>
            <a:schemeClr val="tx1"/>
          </a:solidFill>
          <a:latin typeface="+mn-lt"/>
        </a:defRPr>
      </a:lvl2pPr>
      <a:lvl3pPr marL="1143000" indent="-228600" algn="l" rtl="0" eaLnBrk="1" fontAlgn="base" hangingPunct="1">
        <a:spcBef>
          <a:spcPct val="20000"/>
        </a:spcBef>
        <a:spcAft>
          <a:spcPct val="0"/>
        </a:spcAft>
        <a:buChar char="•"/>
        <a:defRPr sz="2400">
          <a:solidFill>
            <a:schemeClr val="tx1"/>
          </a:solidFill>
          <a:latin typeface="+mn-lt"/>
        </a:defRPr>
      </a:lvl3pPr>
      <a:lvl4pPr marL="1600200" indent="-228600" algn="l" rtl="0" eaLnBrk="1" fontAlgn="base" hangingPunct="1">
        <a:spcBef>
          <a:spcPct val="20000"/>
        </a:spcBef>
        <a:spcAft>
          <a:spcPct val="0"/>
        </a:spcAft>
        <a:buChar char="–"/>
        <a:defRPr sz="2000">
          <a:solidFill>
            <a:schemeClr val="tx1"/>
          </a:solidFill>
          <a:latin typeface="+mn-lt"/>
        </a:defRPr>
      </a:lvl4pPr>
      <a:lvl5pPr marL="2057400" indent="-228600" algn="l" rtl="0" eaLnBrk="1" fontAlgn="base" hangingPunct="1">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pattFill prst="pct5">
          <a:fgClr>
            <a:schemeClr val="bg2"/>
          </a:fgClr>
          <a:bgClr>
            <a:schemeClr val="bg1"/>
          </a:bgClr>
        </a:pattFill>
        <a:effectLst/>
      </p:bgPr>
    </p:bg>
    <p:spTree>
      <p:nvGrpSpPr>
        <p:cNvPr id="1" name=""/>
        <p:cNvGrpSpPr/>
        <p:nvPr/>
      </p:nvGrpSpPr>
      <p:grpSpPr>
        <a:xfrm>
          <a:off x="0" y="0"/>
          <a:ext cx="0" cy="0"/>
          <a:chOff x="0" y="0"/>
          <a:chExt cx="0" cy="0"/>
        </a:xfrm>
      </p:grpSpPr>
      <p:sp>
        <p:nvSpPr>
          <p:cNvPr id="2050" name="Rectangle 2"/>
          <p:cNvSpPr>
            <a:spLocks noChangeArrowheads="1"/>
          </p:cNvSpPr>
          <p:nvPr/>
        </p:nvSpPr>
        <p:spPr bwMode="ltGray">
          <a:xfrm>
            <a:off x="417513" y="10985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a:latin typeface="Tahoma" pitchFamily="34" charset="0"/>
            </a:endParaRPr>
          </a:p>
        </p:txBody>
      </p:sp>
      <p:sp>
        <p:nvSpPr>
          <p:cNvPr id="2051" name="Rectangle 3"/>
          <p:cNvSpPr>
            <a:spLocks noChangeArrowheads="1"/>
          </p:cNvSpPr>
          <p:nvPr/>
        </p:nvSpPr>
        <p:spPr bwMode="ltGray">
          <a:xfrm>
            <a:off x="800100" y="10985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a:latin typeface="Tahoma" pitchFamily="34" charset="0"/>
            </a:endParaRPr>
          </a:p>
        </p:txBody>
      </p:sp>
      <p:sp>
        <p:nvSpPr>
          <p:cNvPr id="2052" name="Rectangle 4"/>
          <p:cNvSpPr>
            <a:spLocks noChangeArrowheads="1"/>
          </p:cNvSpPr>
          <p:nvPr/>
        </p:nvSpPr>
        <p:spPr bwMode="ltGray">
          <a:xfrm>
            <a:off x="541338" y="15208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a:latin typeface="Tahoma" pitchFamily="34" charset="0"/>
            </a:endParaRPr>
          </a:p>
        </p:txBody>
      </p:sp>
      <p:sp>
        <p:nvSpPr>
          <p:cNvPr id="2053" name="Rectangle 5"/>
          <p:cNvSpPr>
            <a:spLocks noChangeArrowheads="1"/>
          </p:cNvSpPr>
          <p:nvPr/>
        </p:nvSpPr>
        <p:spPr bwMode="ltGray">
          <a:xfrm>
            <a:off x="911225" y="15208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a:latin typeface="Tahoma" pitchFamily="34" charset="0"/>
            </a:endParaRPr>
          </a:p>
        </p:txBody>
      </p:sp>
      <p:sp>
        <p:nvSpPr>
          <p:cNvPr id="2054" name="Rectangle 6"/>
          <p:cNvSpPr>
            <a:spLocks noChangeArrowheads="1"/>
          </p:cNvSpPr>
          <p:nvPr/>
        </p:nvSpPr>
        <p:spPr bwMode="ltGray">
          <a:xfrm>
            <a:off x="127000" y="14478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a:latin typeface="Tahoma" pitchFamily="34" charset="0"/>
            </a:endParaRPr>
          </a:p>
        </p:txBody>
      </p:sp>
      <p:sp>
        <p:nvSpPr>
          <p:cNvPr id="2055" name="Rectangle 7"/>
          <p:cNvSpPr>
            <a:spLocks noChangeArrowheads="1"/>
          </p:cNvSpPr>
          <p:nvPr/>
        </p:nvSpPr>
        <p:spPr bwMode="gray">
          <a:xfrm>
            <a:off x="762000" y="99060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a:latin typeface="Tahoma" pitchFamily="34" charset="0"/>
            </a:endParaRPr>
          </a:p>
        </p:txBody>
      </p:sp>
      <p:sp>
        <p:nvSpPr>
          <p:cNvPr id="2056" name="Rectangle 8"/>
          <p:cNvSpPr>
            <a:spLocks noChangeArrowheads="1"/>
          </p:cNvSpPr>
          <p:nvPr/>
        </p:nvSpPr>
        <p:spPr bwMode="gray">
          <a:xfrm>
            <a:off x="442913" y="1781175"/>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2400">
              <a:latin typeface="Tahoma" pitchFamily="34" charset="0"/>
            </a:endParaRPr>
          </a:p>
        </p:txBody>
      </p:sp>
      <p:sp>
        <p:nvSpPr>
          <p:cNvPr id="2057" name="Rectangle 9"/>
          <p:cNvSpPr>
            <a:spLocks noGrp="1" noChangeArrowheads="1"/>
          </p:cNvSpPr>
          <p:nvPr>
            <p:ph type="title"/>
          </p:nvPr>
        </p:nvSpPr>
        <p:spPr bwMode="auto">
          <a:xfrm>
            <a:off x="1150938" y="214313"/>
            <a:ext cx="7793037" cy="1462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en-US" altLang="en-US" smtClean="0"/>
              <a:t>Click to edit Master title style</a:t>
            </a:r>
          </a:p>
        </p:txBody>
      </p:sp>
      <p:sp>
        <p:nvSpPr>
          <p:cNvPr id="2058" name="Rectangle 10"/>
          <p:cNvSpPr>
            <a:spLocks noGrp="1" noChangeArrowheads="1"/>
          </p:cNvSpPr>
          <p:nvPr>
            <p:ph type="body" idx="1"/>
          </p:nvPr>
        </p:nvSpPr>
        <p:spPr bwMode="auto">
          <a:xfrm>
            <a:off x="1182688" y="2017713"/>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29707" name="Rectangle 11"/>
          <p:cNvSpPr>
            <a:spLocks noGrp="1" noChangeArrowheads="1"/>
          </p:cNvSpPr>
          <p:nvPr>
            <p:ph type="dt" sz="half" idx="2"/>
          </p:nvPr>
        </p:nvSpPr>
        <p:spPr bwMode="auto">
          <a:xfrm>
            <a:off x="1162050" y="6243638"/>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400" smtClean="0">
                <a:latin typeface="+mn-lt"/>
              </a:defRPr>
            </a:lvl1pPr>
          </a:lstStyle>
          <a:p>
            <a:pPr>
              <a:defRPr/>
            </a:pPr>
            <a:endParaRPr lang="en-US" altLang="en-US"/>
          </a:p>
        </p:txBody>
      </p:sp>
      <p:sp>
        <p:nvSpPr>
          <p:cNvPr id="29708" name="Rectangle 12"/>
          <p:cNvSpPr>
            <a:spLocks noGrp="1" noChangeArrowheads="1"/>
          </p:cNvSpPr>
          <p:nvPr>
            <p:ph type="ftr" sz="quarter" idx="3"/>
          </p:nvPr>
        </p:nvSpPr>
        <p:spPr bwMode="auto">
          <a:xfrm>
            <a:off x="3657600" y="6243638"/>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ctr">
              <a:defRPr sz="1400" smtClean="0">
                <a:latin typeface="+mn-lt"/>
              </a:defRPr>
            </a:lvl1pPr>
          </a:lstStyle>
          <a:p>
            <a:pPr>
              <a:defRPr/>
            </a:pPr>
            <a:endParaRPr lang="en-US" altLang="en-US"/>
          </a:p>
        </p:txBody>
      </p:sp>
      <p:sp>
        <p:nvSpPr>
          <p:cNvPr id="29709" name="Rectangle 13"/>
          <p:cNvSpPr>
            <a:spLocks noGrp="1" noChangeArrowheads="1"/>
          </p:cNvSpPr>
          <p:nvPr>
            <p:ph type="sldNum" sz="quarter" idx="4"/>
          </p:nvPr>
        </p:nvSpPr>
        <p:spPr bwMode="auto">
          <a:xfrm>
            <a:off x="7042150" y="6243638"/>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400" smtClean="0">
                <a:latin typeface="+mn-lt"/>
              </a:defRPr>
            </a:lvl1pPr>
          </a:lstStyle>
          <a:p>
            <a:pPr>
              <a:defRPr/>
            </a:pPr>
            <a:fld id="{6635BCFF-7DDE-4DE8-8219-17417DA530DF}"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4105" r:id="rId1"/>
    <p:sldLayoutId id="2147484106" r:id="rId2"/>
    <p:sldLayoutId id="2147484107" r:id="rId3"/>
    <p:sldLayoutId id="2147484108" r:id="rId4"/>
    <p:sldLayoutId id="2147484109" r:id="rId5"/>
    <p:sldLayoutId id="2147484110" r:id="rId6"/>
    <p:sldLayoutId id="2147484111" r:id="rId7"/>
    <p:sldLayoutId id="2147484112" r:id="rId8"/>
    <p:sldLayoutId id="2147484113" r:id="rId9"/>
    <p:sldLayoutId id="2147484114" r:id="rId10"/>
    <p:sldLayoutId id="2147484115" r:id="rId11"/>
  </p:sldLayoutIdLst>
  <p:txStyles>
    <p:titleStyle>
      <a:lvl1pPr algn="l" rtl="0" eaLnBrk="1" fontAlgn="base" hangingPunct="1">
        <a:spcBef>
          <a:spcPct val="0"/>
        </a:spcBef>
        <a:spcAft>
          <a:spcPct val="0"/>
        </a:spcAft>
        <a:defRPr sz="4400">
          <a:solidFill>
            <a:schemeClr val="tx2"/>
          </a:solidFill>
          <a:latin typeface="+mj-lt"/>
          <a:ea typeface="+mj-ea"/>
          <a:cs typeface="+mj-cs"/>
        </a:defRPr>
      </a:lvl1pPr>
      <a:lvl2pPr algn="l" rtl="0" eaLnBrk="1" fontAlgn="base" hangingPunct="1">
        <a:spcBef>
          <a:spcPct val="0"/>
        </a:spcBef>
        <a:spcAft>
          <a:spcPct val="0"/>
        </a:spcAft>
        <a:defRPr sz="4400">
          <a:solidFill>
            <a:schemeClr val="tx2"/>
          </a:solidFill>
          <a:latin typeface="Tahoma" pitchFamily="34" charset="0"/>
        </a:defRPr>
      </a:lvl2pPr>
      <a:lvl3pPr algn="l" rtl="0" eaLnBrk="1" fontAlgn="base" hangingPunct="1">
        <a:spcBef>
          <a:spcPct val="0"/>
        </a:spcBef>
        <a:spcAft>
          <a:spcPct val="0"/>
        </a:spcAft>
        <a:defRPr sz="4400">
          <a:solidFill>
            <a:schemeClr val="tx2"/>
          </a:solidFill>
          <a:latin typeface="Tahoma" pitchFamily="34" charset="0"/>
        </a:defRPr>
      </a:lvl3pPr>
      <a:lvl4pPr algn="l" rtl="0" eaLnBrk="1" fontAlgn="base" hangingPunct="1">
        <a:spcBef>
          <a:spcPct val="0"/>
        </a:spcBef>
        <a:spcAft>
          <a:spcPct val="0"/>
        </a:spcAft>
        <a:defRPr sz="4400">
          <a:solidFill>
            <a:schemeClr val="tx2"/>
          </a:solidFill>
          <a:latin typeface="Tahoma" pitchFamily="34" charset="0"/>
        </a:defRPr>
      </a:lvl4pPr>
      <a:lvl5pPr algn="l" rtl="0" eaLnBrk="1" fontAlgn="base" hangingPunct="1">
        <a:spcBef>
          <a:spcPct val="0"/>
        </a:spcBef>
        <a:spcAft>
          <a:spcPct val="0"/>
        </a:spcAft>
        <a:defRPr sz="4400">
          <a:solidFill>
            <a:schemeClr val="tx2"/>
          </a:solidFill>
          <a:latin typeface="Tahoma" pitchFamily="34" charset="0"/>
        </a:defRPr>
      </a:lvl5pPr>
      <a:lvl6pPr marL="457200" algn="l" rtl="0" eaLnBrk="1" fontAlgn="base" hangingPunct="1">
        <a:spcBef>
          <a:spcPct val="0"/>
        </a:spcBef>
        <a:spcAft>
          <a:spcPct val="0"/>
        </a:spcAft>
        <a:defRPr sz="4400">
          <a:solidFill>
            <a:schemeClr val="tx2"/>
          </a:solidFill>
          <a:latin typeface="Tahoma" pitchFamily="34" charset="0"/>
        </a:defRPr>
      </a:lvl6pPr>
      <a:lvl7pPr marL="914400" algn="l" rtl="0" eaLnBrk="1" fontAlgn="base" hangingPunct="1">
        <a:spcBef>
          <a:spcPct val="0"/>
        </a:spcBef>
        <a:spcAft>
          <a:spcPct val="0"/>
        </a:spcAft>
        <a:defRPr sz="4400">
          <a:solidFill>
            <a:schemeClr val="tx2"/>
          </a:solidFill>
          <a:latin typeface="Tahoma" pitchFamily="34" charset="0"/>
        </a:defRPr>
      </a:lvl7pPr>
      <a:lvl8pPr marL="1371600" algn="l" rtl="0" eaLnBrk="1" fontAlgn="base" hangingPunct="1">
        <a:spcBef>
          <a:spcPct val="0"/>
        </a:spcBef>
        <a:spcAft>
          <a:spcPct val="0"/>
        </a:spcAft>
        <a:defRPr sz="4400">
          <a:solidFill>
            <a:schemeClr val="tx2"/>
          </a:solidFill>
          <a:latin typeface="Tahoma" pitchFamily="34" charset="0"/>
        </a:defRPr>
      </a:lvl8pPr>
      <a:lvl9pPr marL="1828800" algn="l" rtl="0" eaLnBrk="1" fontAlgn="base" hangingPunct="1">
        <a:spcBef>
          <a:spcPct val="0"/>
        </a:spcBef>
        <a:spcAft>
          <a:spcPct val="0"/>
        </a:spcAft>
        <a:defRPr sz="4400">
          <a:solidFill>
            <a:schemeClr val="tx2"/>
          </a:solidFill>
          <a:latin typeface="Tahoma" pitchFamily="34" charset="0"/>
        </a:defRPr>
      </a:lvl9pPr>
    </p:titleStyle>
    <p:bodyStyle>
      <a:lvl1pPr marL="342900" indent="-342900" algn="l" rtl="0" eaLnBrk="1" fontAlgn="base" hangingPunct="1">
        <a:spcBef>
          <a:spcPct val="20000"/>
        </a:spcBef>
        <a:spcAft>
          <a:spcPct val="0"/>
        </a:spcAft>
        <a:buClr>
          <a:schemeClr val="folHlink"/>
        </a:buClr>
        <a:buSzPct val="60000"/>
        <a:buFont typeface="Wingdings" pitchFamily="2" charset="2"/>
        <a:buChar char="n"/>
        <a:defRPr sz="3200">
          <a:solidFill>
            <a:schemeClr val="tx1"/>
          </a:solidFill>
          <a:latin typeface="+mn-lt"/>
          <a:ea typeface="+mn-ea"/>
          <a:cs typeface="+mn-cs"/>
        </a:defRPr>
      </a:lvl1pPr>
      <a:lvl2pPr marL="742950" indent="-285750" algn="l" rtl="0" eaLnBrk="1" fontAlgn="base" hangingPunct="1">
        <a:spcBef>
          <a:spcPct val="20000"/>
        </a:spcBef>
        <a:spcAft>
          <a:spcPct val="0"/>
        </a:spcAft>
        <a:buClr>
          <a:schemeClr val="hlink"/>
        </a:buClr>
        <a:buSzPct val="55000"/>
        <a:buFont typeface="Wingdings" pitchFamily="2" charset="2"/>
        <a:buChar char="n"/>
        <a:defRPr sz="2800">
          <a:solidFill>
            <a:schemeClr val="tx1"/>
          </a:solidFill>
          <a:latin typeface="+mn-lt"/>
        </a:defRPr>
      </a:lvl2pPr>
      <a:lvl3pPr marL="1143000" indent="-228600" algn="l" rtl="0" eaLnBrk="1" fontAlgn="base" hangingPunct="1">
        <a:spcBef>
          <a:spcPct val="20000"/>
        </a:spcBef>
        <a:spcAft>
          <a:spcPct val="0"/>
        </a:spcAft>
        <a:buClr>
          <a:schemeClr val="folHlink"/>
        </a:buClr>
        <a:buSzPct val="50000"/>
        <a:buFont typeface="Wingdings" pitchFamily="2" charset="2"/>
        <a:buChar char="n"/>
        <a:defRPr sz="2400">
          <a:solidFill>
            <a:schemeClr val="tx1"/>
          </a:solidFill>
          <a:latin typeface="+mn-lt"/>
        </a:defRPr>
      </a:lvl3pPr>
      <a:lvl4pPr marL="1600200" indent="-228600" algn="l" rtl="0" eaLnBrk="1" fontAlgn="base" hangingPunct="1">
        <a:spcBef>
          <a:spcPct val="20000"/>
        </a:spcBef>
        <a:spcAft>
          <a:spcPct val="0"/>
        </a:spcAft>
        <a:buClr>
          <a:schemeClr val="accent2"/>
        </a:buClr>
        <a:buSzPct val="55000"/>
        <a:buFont typeface="Wingdings" pitchFamily="2" charset="2"/>
        <a:buChar char="n"/>
        <a:defRPr sz="2000">
          <a:solidFill>
            <a:schemeClr val="tx1"/>
          </a:solidFill>
          <a:latin typeface="+mn-lt"/>
        </a:defRPr>
      </a:lvl4pPr>
      <a:lvl5pPr marL="2057400" indent="-228600" algn="l" rtl="0" eaLnBrk="1" fontAlgn="base" hangingPunct="1">
        <a:spcBef>
          <a:spcPct val="20000"/>
        </a:spcBef>
        <a:spcAft>
          <a:spcPct val="0"/>
        </a:spcAft>
        <a:buClr>
          <a:schemeClr val="accent1"/>
        </a:buClr>
        <a:buSzPct val="50000"/>
        <a:buFont typeface="Wingdings" pitchFamily="2" charset="2"/>
        <a:buChar char="n"/>
        <a:defRPr sz="2000">
          <a:solidFill>
            <a:schemeClr val="tx1"/>
          </a:solidFill>
          <a:latin typeface="+mn-lt"/>
        </a:defRPr>
      </a:lvl5pPr>
      <a:lvl6pPr marL="2514600" indent="-228600" algn="l" rtl="0" eaLnBrk="1" fontAlgn="base" hangingPunct="1">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eaLnBrk="1" fontAlgn="base" hangingPunct="1">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eaLnBrk="1" fontAlgn="base" hangingPunct="1">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eaLnBrk="1" fontAlgn="base" hangingPunct="1">
        <a:spcBef>
          <a:spcPct val="20000"/>
        </a:spcBef>
        <a:spcAft>
          <a:spcPct val="0"/>
        </a:spcAft>
        <a:buClr>
          <a:schemeClr val="accent1"/>
        </a:buClr>
        <a:buSzPct val="50000"/>
        <a:buFont typeface="Wingdings" pitchFamily="2" charset="2"/>
        <a:buChar char="n"/>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2.xml"/><Relationship Id="rId1" Type="http://schemas.openxmlformats.org/officeDocument/2006/relationships/vmlDrawing" Target="../drawings/vmlDrawing1.vml"/><Relationship Id="rId5" Type="http://schemas.openxmlformats.org/officeDocument/2006/relationships/image" Target="../media/image1.png"/><Relationship Id="rId4" Type="http://schemas.openxmlformats.org/officeDocument/2006/relationships/oleObject" Target="../embeddings/oleObject1.bin"/></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13.xml"/><Relationship Id="rId1" Type="http://schemas.openxmlformats.org/officeDocument/2006/relationships/vmlDrawing" Target="../drawings/vmlDrawing2.vml"/><Relationship Id="rId5" Type="http://schemas.openxmlformats.org/officeDocument/2006/relationships/image" Target="../media/image3.wmf"/><Relationship Id="rId4" Type="http://schemas.openxmlformats.org/officeDocument/2006/relationships/oleObject" Target="../embeddings/oleObject2.bin"/></Relationships>
</file>

<file path=ppt/slides/_rels/slide3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30.xml"/><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5.xml"/></Relationships>
</file>

<file path=ppt/slides/_rels/slide5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5.xml"/></Relationships>
</file>

<file path=ppt/slides/_rels/slide5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2.xml"/><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5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hyperlink" Target="MONOPOLY%20PROFIT%20MAX.ppt" TargetMode="External"/><Relationship Id="rId1" Type="http://schemas.openxmlformats.org/officeDocument/2006/relationships/slideLayout" Target="../slideLayouts/slideLayout15.xml"/></Relationships>
</file>

<file path=ppt/slides/_rels/slide5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7.xml"/></Relationships>
</file>

<file path=ppt/slides/_rels/slide5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381002"/>
            <a:ext cx="7772400" cy="1066799"/>
          </a:xfrm>
        </p:spPr>
        <p:txBody>
          <a:bodyPr>
            <a:normAutofit/>
          </a:bodyPr>
          <a:lstStyle/>
          <a:p>
            <a:r>
              <a:rPr lang="en-US" dirty="0" smtClean="0"/>
              <a:t>MARKET STRUCTURES</a:t>
            </a:r>
            <a:endParaRPr lang="en-US" dirty="0"/>
          </a:p>
        </p:txBody>
      </p:sp>
      <p:sp>
        <p:nvSpPr>
          <p:cNvPr id="8" name="Subtitle 7"/>
          <p:cNvSpPr>
            <a:spLocks noGrp="1"/>
          </p:cNvSpPr>
          <p:nvPr>
            <p:ph type="subTitle" idx="1"/>
          </p:nvPr>
        </p:nvSpPr>
        <p:spPr>
          <a:xfrm>
            <a:off x="1371600" y="4267200"/>
            <a:ext cx="6400800" cy="1371600"/>
          </a:xfrm>
        </p:spPr>
        <p:txBody>
          <a:bodyPr>
            <a:normAutofit fontScale="92500" lnSpcReduction="20000"/>
          </a:bodyPr>
          <a:lstStyle/>
          <a:p>
            <a:pPr algn="r"/>
            <a:r>
              <a:rPr lang="en-US" b="1" dirty="0" smtClean="0">
                <a:solidFill>
                  <a:schemeClr val="tx1"/>
                </a:solidFill>
              </a:rPr>
              <a:t>Oyugi J.Nyanjong’</a:t>
            </a:r>
          </a:p>
          <a:p>
            <a:pPr algn="r"/>
            <a:r>
              <a:rPr lang="en-US" b="1" dirty="0" smtClean="0">
                <a:solidFill>
                  <a:schemeClr val="tx1"/>
                </a:solidFill>
              </a:rPr>
              <a:t>ECONOMICS DEPT</a:t>
            </a:r>
          </a:p>
          <a:p>
            <a:pPr algn="r"/>
            <a:r>
              <a:rPr lang="en-US" b="1" dirty="0" smtClean="0"/>
              <a:t>Twitter: @</a:t>
            </a:r>
            <a:r>
              <a:rPr lang="en-US" b="1" dirty="0" err="1" smtClean="0"/>
              <a:t>ohyouguy</a:t>
            </a:r>
            <a:endParaRPr lang="en-US" b="1" dirty="0">
              <a:solidFill>
                <a:schemeClr val="tx1"/>
              </a:solidFill>
            </a:endParaRPr>
          </a:p>
        </p:txBody>
      </p:sp>
      <p:sp>
        <p:nvSpPr>
          <p:cNvPr id="10" name="Date Placeholder 9"/>
          <p:cNvSpPr>
            <a:spLocks noGrp="1"/>
          </p:cNvSpPr>
          <p:nvPr>
            <p:ph type="dt" sz="half" idx="10"/>
          </p:nvPr>
        </p:nvSpPr>
        <p:spPr/>
        <p:txBody>
          <a:bodyPr/>
          <a:lstStyle/>
          <a:p>
            <a:fld id="{7702C82E-635A-4327-9F96-2BBE248EDD8E}" type="datetime13">
              <a:rPr lang="en-US" smtClean="0"/>
              <a:pPr/>
              <a:t>11:23:11 PM</a:t>
            </a:fld>
            <a:endParaRPr lang="en-US" dirty="0"/>
          </a:p>
        </p:txBody>
      </p:sp>
      <p:sp>
        <p:nvSpPr>
          <p:cNvPr id="67586" name="Rectangle 2"/>
          <p:cNvSpPr>
            <a:spLocks noChangeArrowheads="1"/>
          </p:cNvSpPr>
          <p:nvPr/>
        </p:nvSpPr>
        <p:spPr bwMode="auto">
          <a:xfrm>
            <a:off x="1" y="0"/>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dirty="0"/>
          </a:p>
        </p:txBody>
      </p:sp>
      <p:graphicFrame>
        <p:nvGraphicFramePr>
          <p:cNvPr id="67585" name="Object 1"/>
          <p:cNvGraphicFramePr>
            <a:graphicFrameLocks noChangeAspect="1"/>
          </p:cNvGraphicFramePr>
          <p:nvPr>
            <p:extLst>
              <p:ext uri="{D42A27DB-BD31-4B8C-83A1-F6EECF244321}">
                <p14:modId xmlns:p14="http://schemas.microsoft.com/office/powerpoint/2010/main" val="207023706"/>
              </p:ext>
            </p:extLst>
          </p:nvPr>
        </p:nvGraphicFramePr>
        <p:xfrm>
          <a:off x="2743201" y="1676400"/>
          <a:ext cx="3348039" cy="2590800"/>
        </p:xfrm>
        <a:graphic>
          <a:graphicData uri="http://schemas.openxmlformats.org/presentationml/2006/ole">
            <mc:AlternateContent xmlns:mc="http://schemas.openxmlformats.org/markup-compatibility/2006">
              <mc:Choice xmlns:v="urn:schemas-microsoft-com:vml" Requires="v">
                <p:oleObj spid="_x0000_s67635" name="Bitmap Image" r:id="rId4" imgW="3086531" imgH="3134162" progId="PBrush">
                  <p:embed/>
                </p:oleObj>
              </mc:Choice>
              <mc:Fallback>
                <p:oleObj name="Bitmap Image" r:id="rId4" imgW="3086531" imgH="3134162" progId="PBrush">
                  <p:embed/>
                  <p:pic>
                    <p:nvPicPr>
                      <p:cNvPr id="0" name="Picture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43201" y="1676400"/>
                        <a:ext cx="3348039" cy="2590800"/>
                      </a:xfrm>
                      <a:prstGeom prst="rect">
                        <a:avLst/>
                      </a:prstGeom>
                      <a:solidFill>
                        <a:schemeClr val="accent3"/>
                      </a:solidFill>
                      <a:extLst/>
                    </p:spPr>
                  </p:pic>
                </p:oleObj>
              </mc:Fallback>
            </mc:AlternateContent>
          </a:graphicData>
        </a:graphic>
      </p:graphicFrame>
    </p:spTree>
  </p:cSld>
  <p:clrMapOvr>
    <a:masterClrMapping/>
  </p:clrMapOvr>
  <p:transition>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67585"/>
                                        </p:tgtEl>
                                        <p:attrNameLst>
                                          <p:attrName>style.visibility</p:attrName>
                                        </p:attrNameLst>
                                      </p:cBhvr>
                                      <p:to>
                                        <p:strVal val="visible"/>
                                      </p:to>
                                    </p:set>
                                    <p:animEffect transition="in" filter="randombar(horizontal)">
                                      <p:cBhvr>
                                        <p:cTn id="7" dur="500"/>
                                        <p:tgtEl>
                                          <p:spTgt spid="6758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8">
                                            <p:txEl>
                                              <p:pRg st="0" end="0"/>
                                            </p:txEl>
                                          </p:spTgt>
                                        </p:tgtEl>
                                        <p:attrNameLst>
                                          <p:attrName>style.visibility</p:attrName>
                                        </p:attrNameLst>
                                      </p:cBhvr>
                                      <p:to>
                                        <p:strVal val="visible"/>
                                      </p:to>
                                    </p:set>
                                    <p:animEffect transition="in" filter="blinds(horizontal)">
                                      <p:cBhvr>
                                        <p:cTn id="12" dur="500"/>
                                        <p:tgtEl>
                                          <p:spTgt spid="8">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8">
                                            <p:txEl>
                                              <p:pRg st="1" end="1"/>
                                            </p:txEl>
                                          </p:spTgt>
                                        </p:tgtEl>
                                        <p:attrNameLst>
                                          <p:attrName>style.visibility</p:attrName>
                                        </p:attrNameLst>
                                      </p:cBhvr>
                                      <p:to>
                                        <p:strVal val="visible"/>
                                      </p:to>
                                    </p:set>
                                    <p:animEffect transition="in" filter="checkerboard(across)">
                                      <p:cBhvr>
                                        <p:cTn id="17" dur="500"/>
                                        <p:tgtEl>
                                          <p:spTgt spid="8">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8">
                                            <p:txEl>
                                              <p:pRg st="2" end="2"/>
                                            </p:txEl>
                                          </p:spTgt>
                                        </p:tgtEl>
                                        <p:attrNameLst>
                                          <p:attrName>style.visibility</p:attrName>
                                        </p:attrNameLst>
                                      </p:cBhvr>
                                      <p:to>
                                        <p:strVal val="visible"/>
                                      </p:to>
                                    </p:set>
                                    <p:animEffect transition="in" filter="checkerboard(across)">
                                      <p:cBhvr>
                                        <p:cTn id="22" dur="500"/>
                                        <p:tgtEl>
                                          <p:spTgt spid="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56060" y="228600"/>
            <a:ext cx="7429499" cy="1143000"/>
          </a:xfrm>
        </p:spPr>
        <p:txBody>
          <a:bodyPr>
            <a:normAutofit/>
          </a:bodyPr>
          <a:lstStyle/>
          <a:p>
            <a:pPr algn="just"/>
            <a:r>
              <a:rPr lang="en-US" dirty="0" smtClean="0"/>
              <a:t>Market Structures </a:t>
            </a:r>
            <a:r>
              <a:rPr lang="en-US" sz="2400" i="1" dirty="0" smtClean="0"/>
              <a:t>definition</a:t>
            </a:r>
            <a:endParaRPr lang="en-US" sz="2400" i="1" dirty="0"/>
          </a:p>
        </p:txBody>
      </p:sp>
      <p:sp>
        <p:nvSpPr>
          <p:cNvPr id="3" name="Subtitle 2"/>
          <p:cNvSpPr>
            <a:spLocks noGrp="1"/>
          </p:cNvSpPr>
          <p:nvPr>
            <p:ph idx="1"/>
          </p:nvPr>
        </p:nvSpPr>
        <p:spPr>
          <a:xfrm>
            <a:off x="0" y="1524000"/>
            <a:ext cx="9296400" cy="4724400"/>
          </a:xfrm>
        </p:spPr>
        <p:txBody>
          <a:bodyPr>
            <a:normAutofit/>
          </a:bodyPr>
          <a:lstStyle/>
          <a:p>
            <a:r>
              <a:rPr lang="en-US" sz="8000" dirty="0" smtClean="0">
                <a:solidFill>
                  <a:schemeClr val="tx1"/>
                </a:solidFill>
              </a:rPr>
              <a:t>the </a:t>
            </a:r>
            <a:r>
              <a:rPr lang="en-US" sz="8000" i="1" dirty="0" smtClean="0">
                <a:solidFill>
                  <a:srgbClr val="FF0000"/>
                </a:solidFill>
              </a:rPr>
              <a:t>interconnected characteristics </a:t>
            </a:r>
            <a:r>
              <a:rPr lang="en-US" sz="8000" dirty="0" smtClean="0">
                <a:solidFill>
                  <a:schemeClr val="tx1"/>
                </a:solidFill>
              </a:rPr>
              <a:t>of the market.</a:t>
            </a:r>
            <a:endParaRPr lang="en-US" sz="8000" dirty="0" smtClean="0"/>
          </a:p>
        </p:txBody>
      </p:sp>
      <p:sp>
        <p:nvSpPr>
          <p:cNvPr id="7" name="Date Placeholder 6"/>
          <p:cNvSpPr>
            <a:spLocks noGrp="1"/>
          </p:cNvSpPr>
          <p:nvPr>
            <p:ph type="dt" sz="half" idx="10"/>
          </p:nvPr>
        </p:nvSpPr>
        <p:spPr/>
        <p:txBody>
          <a:bodyPr/>
          <a:lstStyle/>
          <a:p>
            <a:fld id="{8A69DA51-C850-4435-92B9-24A70FBDC999}" type="datetime13">
              <a:rPr lang="en-US" smtClean="0"/>
              <a:pPr/>
              <a:t>11:23:12 PM</a:t>
            </a:fld>
            <a:endParaRPr lang="en-US" dirty="0"/>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ircle(in)">
                                      <p:cBhvr>
                                        <p:cTn id="7" dur="20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990600"/>
          </a:xfrm>
        </p:spPr>
        <p:txBody>
          <a:bodyPr>
            <a:normAutofit/>
          </a:bodyPr>
          <a:lstStyle/>
          <a:p>
            <a:r>
              <a:rPr lang="en-US" dirty="0" smtClean="0"/>
              <a:t>Market x-</a:t>
            </a:r>
            <a:r>
              <a:rPr lang="en-US" dirty="0" err="1" smtClean="0"/>
              <a:t>stics</a:t>
            </a:r>
            <a:endParaRPr lang="en-US" dirty="0"/>
          </a:p>
        </p:txBody>
      </p:sp>
      <p:sp>
        <p:nvSpPr>
          <p:cNvPr id="3" name="Content Placeholder 2"/>
          <p:cNvSpPr>
            <a:spLocks noGrp="1"/>
          </p:cNvSpPr>
          <p:nvPr>
            <p:ph idx="1"/>
          </p:nvPr>
        </p:nvSpPr>
        <p:spPr>
          <a:xfrm>
            <a:off x="0" y="1600200"/>
            <a:ext cx="9144000" cy="4755360"/>
          </a:xfrm>
        </p:spPr>
        <p:txBody>
          <a:bodyPr>
            <a:noAutofit/>
          </a:bodyPr>
          <a:lstStyle/>
          <a:p>
            <a:pPr algn="just"/>
            <a:r>
              <a:rPr lang="en-US" sz="3200" dirty="0" smtClean="0"/>
              <a:t>Include:</a:t>
            </a:r>
          </a:p>
          <a:p>
            <a:pPr lvl="1"/>
            <a:r>
              <a:rPr lang="en-US" sz="2800" dirty="0" smtClean="0"/>
              <a:t>The number &amp; relative strength of buyers and sellers </a:t>
            </a:r>
          </a:p>
          <a:p>
            <a:pPr lvl="1"/>
            <a:r>
              <a:rPr lang="en-US" sz="2800" dirty="0" smtClean="0"/>
              <a:t>The degree of connection amongst buyers and sellers </a:t>
            </a:r>
          </a:p>
          <a:p>
            <a:pPr lvl="1"/>
            <a:r>
              <a:rPr lang="en-US" sz="2800" dirty="0" smtClean="0"/>
              <a:t>The level and forms of competition within markets </a:t>
            </a:r>
          </a:p>
          <a:p>
            <a:pPr lvl="1"/>
            <a:r>
              <a:rPr lang="en-US" sz="2800" dirty="0" smtClean="0"/>
              <a:t>The extent of product differentiation </a:t>
            </a:r>
          </a:p>
          <a:p>
            <a:pPr lvl="1"/>
            <a:r>
              <a:rPr lang="en-US" sz="2800" dirty="0" smtClean="0"/>
              <a:t>The ease of entry into and exit from the market </a:t>
            </a:r>
          </a:p>
          <a:p>
            <a:pPr algn="just"/>
            <a:endParaRPr lang="en-US" sz="3200" dirty="0" smtClean="0"/>
          </a:p>
          <a:p>
            <a:pPr lvl="2">
              <a:buNone/>
            </a:pPr>
            <a:endParaRPr lang="en-US" sz="3200" dirty="0" smtClean="0"/>
          </a:p>
          <a:p>
            <a:endParaRPr lang="en-US" sz="3200" dirty="0"/>
          </a:p>
        </p:txBody>
      </p:sp>
      <p:sp>
        <p:nvSpPr>
          <p:cNvPr id="7" name="Date Placeholder 6"/>
          <p:cNvSpPr>
            <a:spLocks noGrp="1"/>
          </p:cNvSpPr>
          <p:nvPr>
            <p:ph type="dt" sz="half" idx="10"/>
          </p:nvPr>
        </p:nvSpPr>
        <p:spPr/>
        <p:txBody>
          <a:bodyPr/>
          <a:lstStyle/>
          <a:p>
            <a:fld id="{B8C4A233-D2F9-4B05-8281-F4BE2905D2AD}" type="datetime13">
              <a:rPr lang="en-US" smtClean="0"/>
              <a:pPr/>
              <a:t>11:23:12 PM</a:t>
            </a:fld>
            <a:endParaRPr lang="en-US" dirty="0"/>
          </a:p>
        </p:txBody>
      </p:sp>
    </p:spTree>
  </p:cSld>
  <p:clrMapOvr>
    <a:masterClrMapping/>
  </p:clrMapOvr>
  <p:transition>
    <p:zoom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2000"/>
                                        <p:tgtEl>
                                          <p:spTgt spid="3">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2000"/>
                                        <p:tgtEl>
                                          <p:spTgt spid="3">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2000"/>
                                        <p:tgtEl>
                                          <p:spTgt spid="3">
                                            <p:txEl>
                                              <p:pRg st="3" end="3"/>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fade">
                                      <p:cBhvr>
                                        <p:cTn id="19" dur="2000"/>
                                        <p:tgtEl>
                                          <p:spTgt spid="3">
                                            <p:txEl>
                                              <p:pRg st="4" end="4"/>
                                            </p:txEl>
                                          </p:spTgt>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fade">
                                      <p:cBhvr>
                                        <p:cTn id="22" dur="20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50938" y="214313"/>
            <a:ext cx="7793037" cy="928687"/>
          </a:xfrm>
        </p:spPr>
        <p:txBody>
          <a:bodyPr>
            <a:normAutofit/>
          </a:bodyPr>
          <a:lstStyle/>
          <a:p>
            <a:r>
              <a:rPr lang="en-US" dirty="0" smtClean="0"/>
              <a:t>Market Power</a:t>
            </a:r>
            <a:endParaRPr lang="en-US" dirty="0"/>
          </a:p>
        </p:txBody>
      </p:sp>
      <p:sp>
        <p:nvSpPr>
          <p:cNvPr id="3" name="Content Placeholder 2"/>
          <p:cNvSpPr>
            <a:spLocks noGrp="1"/>
          </p:cNvSpPr>
          <p:nvPr>
            <p:ph idx="1"/>
          </p:nvPr>
        </p:nvSpPr>
        <p:spPr>
          <a:xfrm>
            <a:off x="609600" y="1143000"/>
            <a:ext cx="8077200" cy="5212560"/>
          </a:xfrm>
        </p:spPr>
        <p:txBody>
          <a:bodyPr>
            <a:normAutofit lnSpcReduction="10000"/>
          </a:bodyPr>
          <a:lstStyle/>
          <a:p>
            <a:r>
              <a:rPr lang="en-US" sz="3600" dirty="0" smtClean="0"/>
              <a:t>Useful in delineating the various forms of market structures.</a:t>
            </a:r>
          </a:p>
          <a:p>
            <a:r>
              <a:rPr lang="en-US" sz="3600" dirty="0" smtClean="0"/>
              <a:t>is the ability of a firm or an industry to raise prices without losing all the quantity demanded to their goods and services. </a:t>
            </a:r>
          </a:p>
          <a:p>
            <a:r>
              <a:rPr lang="en-US" sz="3600" dirty="0" smtClean="0"/>
              <a:t> PC markets have zero market power, Monopolies the greatest market power.</a:t>
            </a:r>
          </a:p>
          <a:p>
            <a:endParaRPr lang="en-US" sz="3600" dirty="0" smtClean="0"/>
          </a:p>
          <a:p>
            <a:endParaRPr lang="en-US" sz="3600" dirty="0"/>
          </a:p>
        </p:txBody>
      </p:sp>
      <p:sp>
        <p:nvSpPr>
          <p:cNvPr id="7" name="Date Placeholder 6"/>
          <p:cNvSpPr>
            <a:spLocks noGrp="1"/>
          </p:cNvSpPr>
          <p:nvPr>
            <p:ph type="dt" sz="half" idx="10"/>
          </p:nvPr>
        </p:nvSpPr>
        <p:spPr/>
        <p:txBody>
          <a:bodyPr/>
          <a:lstStyle/>
          <a:p>
            <a:fld id="{597BEBD7-3A75-47F4-B0E8-B1FA567B4BCB}" type="datetime13">
              <a:rPr lang="en-US" smtClean="0"/>
              <a:pPr/>
              <a:t>11:23:12 PM</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down)">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914400"/>
          </a:xfrm>
        </p:spPr>
        <p:txBody>
          <a:bodyPr>
            <a:normAutofit/>
          </a:bodyPr>
          <a:lstStyle/>
          <a:p>
            <a:r>
              <a:rPr lang="en-US" sz="4800" dirty="0" smtClean="0"/>
              <a:t>Types of market structures</a:t>
            </a:r>
            <a:endParaRPr lang="en-US" sz="5400" dirty="0" smtClean="0"/>
          </a:p>
        </p:txBody>
      </p:sp>
      <p:sp>
        <p:nvSpPr>
          <p:cNvPr id="3" name="Content Placeholder 2"/>
          <p:cNvSpPr>
            <a:spLocks noGrp="1"/>
          </p:cNvSpPr>
          <p:nvPr>
            <p:ph idx="1"/>
          </p:nvPr>
        </p:nvSpPr>
        <p:spPr>
          <a:xfrm>
            <a:off x="609600" y="1066800"/>
            <a:ext cx="8077200" cy="5410200"/>
          </a:xfrm>
        </p:spPr>
        <p:txBody>
          <a:bodyPr>
            <a:normAutofit fontScale="92500"/>
          </a:bodyPr>
          <a:lstStyle/>
          <a:p>
            <a:pPr>
              <a:lnSpc>
                <a:spcPct val="90000"/>
              </a:lnSpc>
            </a:pPr>
            <a:r>
              <a:rPr lang="en-US" sz="4400" dirty="0" smtClean="0"/>
              <a:t>Perfectly competitive markets-Many buyers, many sellers</a:t>
            </a:r>
          </a:p>
          <a:p>
            <a:pPr>
              <a:lnSpc>
                <a:spcPct val="90000"/>
              </a:lnSpc>
            </a:pPr>
            <a:r>
              <a:rPr lang="en-US" sz="4400" dirty="0" smtClean="0"/>
              <a:t>Monopolistically competitive markets-Product differentiation</a:t>
            </a:r>
          </a:p>
          <a:p>
            <a:pPr>
              <a:lnSpc>
                <a:spcPct val="90000"/>
              </a:lnSpc>
            </a:pPr>
            <a:r>
              <a:rPr lang="en-US" sz="4400" dirty="0" smtClean="0"/>
              <a:t>Monopolies-single seller of </a:t>
            </a:r>
            <a:r>
              <a:rPr lang="en-US" sz="4400" dirty="0" err="1" smtClean="0"/>
              <a:t>pdt</a:t>
            </a:r>
            <a:r>
              <a:rPr lang="en-US" sz="4400" dirty="0" smtClean="0"/>
              <a:t> with no close substitutes</a:t>
            </a:r>
          </a:p>
          <a:p>
            <a:pPr>
              <a:lnSpc>
                <a:spcPct val="90000"/>
              </a:lnSpc>
            </a:pPr>
            <a:r>
              <a:rPr lang="en-US" sz="4400" dirty="0" err="1" smtClean="0"/>
              <a:t>Oligopolies.X-rized</a:t>
            </a:r>
            <a:r>
              <a:rPr lang="en-US" sz="4400" dirty="0" smtClean="0"/>
              <a:t> by few sellers with significant market share.</a:t>
            </a:r>
          </a:p>
          <a:p>
            <a:pPr>
              <a:lnSpc>
                <a:spcPct val="90000"/>
              </a:lnSpc>
            </a:pPr>
            <a:endParaRPr lang="en-US" sz="3200" b="1" dirty="0" smtClean="0"/>
          </a:p>
        </p:txBody>
      </p:sp>
      <p:sp>
        <p:nvSpPr>
          <p:cNvPr id="7" name="Date Placeholder 6"/>
          <p:cNvSpPr>
            <a:spLocks noGrp="1"/>
          </p:cNvSpPr>
          <p:nvPr>
            <p:ph type="dt" sz="half" idx="10"/>
          </p:nvPr>
        </p:nvSpPr>
        <p:spPr/>
        <p:txBody>
          <a:bodyPr/>
          <a:lstStyle/>
          <a:p>
            <a:fld id="{7C12F1AE-1339-40F4-8871-FC2F89FBF88A}" type="datetime13">
              <a:rPr lang="en-US" smtClean="0"/>
              <a:pPr/>
              <a:t>11:23:12 PM</a:t>
            </a:fld>
            <a:endParaRPr lang="en-US" dirty="0"/>
          </a:p>
        </p:txBody>
      </p:sp>
    </p:spTree>
  </p:cSld>
  <p:clrMapOvr>
    <a:masterClrMapping/>
  </p:clrMapOvr>
  <p:transition spd="slow">
    <p:wheel spokes="3"/>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50938" y="214313"/>
            <a:ext cx="7793037" cy="1004887"/>
          </a:xfrm>
        </p:spPr>
        <p:txBody>
          <a:bodyPr>
            <a:normAutofit/>
          </a:bodyPr>
          <a:lstStyle/>
          <a:p>
            <a:pPr lvl="0"/>
            <a:r>
              <a:rPr lang="en-US" sz="4400" dirty="0" smtClean="0"/>
              <a:t>Perfect  Competition </a:t>
            </a:r>
            <a:endParaRPr lang="en-US" sz="4400" dirty="0"/>
          </a:p>
        </p:txBody>
      </p:sp>
      <p:sp>
        <p:nvSpPr>
          <p:cNvPr id="3" name="Content Placeholder 2"/>
          <p:cNvSpPr>
            <a:spLocks noGrp="1"/>
          </p:cNvSpPr>
          <p:nvPr>
            <p:ph idx="1"/>
          </p:nvPr>
        </p:nvSpPr>
        <p:spPr>
          <a:xfrm>
            <a:off x="685800" y="1219200"/>
            <a:ext cx="8001000" cy="5136360"/>
          </a:xfrm>
        </p:spPr>
        <p:txBody>
          <a:bodyPr>
            <a:normAutofit fontScale="92500" lnSpcReduction="10000"/>
          </a:bodyPr>
          <a:lstStyle/>
          <a:p>
            <a:pPr>
              <a:lnSpc>
                <a:spcPct val="90000"/>
              </a:lnSpc>
            </a:pPr>
            <a:r>
              <a:rPr lang="en-US" sz="3200" b="1" dirty="0" smtClean="0"/>
              <a:t>Characteristics:</a:t>
            </a:r>
          </a:p>
          <a:p>
            <a:pPr>
              <a:buFont typeface="Wingdings" pitchFamily="2" charset="2"/>
              <a:buChar char="Ø"/>
            </a:pPr>
            <a:r>
              <a:rPr lang="en-US" sz="4400" dirty="0" smtClean="0"/>
              <a:t>infinite number of buyers and sellers</a:t>
            </a:r>
          </a:p>
          <a:p>
            <a:pPr>
              <a:buFont typeface="Wingdings" pitchFamily="2" charset="2"/>
              <a:buChar char="Ø"/>
            </a:pPr>
            <a:r>
              <a:rPr lang="en-US" sz="4400" dirty="0" smtClean="0"/>
              <a:t>Perfect factor mobility</a:t>
            </a:r>
          </a:p>
          <a:p>
            <a:pPr>
              <a:buFont typeface="Wingdings" pitchFamily="2" charset="2"/>
              <a:buChar char="Ø"/>
            </a:pPr>
            <a:r>
              <a:rPr lang="en-US" sz="4400" dirty="0" smtClean="0"/>
              <a:t>sole objective for PC firm is profit maximization</a:t>
            </a:r>
          </a:p>
          <a:p>
            <a:pPr>
              <a:buFont typeface="Wingdings" pitchFamily="2" charset="2"/>
              <a:buChar char="Ø"/>
            </a:pPr>
            <a:r>
              <a:rPr lang="en-US" sz="4400" dirty="0" smtClean="0"/>
              <a:t>Constant Returns to Scale</a:t>
            </a:r>
          </a:p>
          <a:p>
            <a:pPr>
              <a:buFont typeface="Wingdings" pitchFamily="2" charset="2"/>
              <a:buChar char="Ø"/>
            </a:pPr>
            <a:r>
              <a:rPr lang="en-US" sz="4400" dirty="0" smtClean="0"/>
              <a:t>no barriers of entry and exit</a:t>
            </a:r>
          </a:p>
          <a:p>
            <a:endParaRPr lang="en-US" sz="3200" dirty="0"/>
          </a:p>
        </p:txBody>
      </p:sp>
      <p:sp>
        <p:nvSpPr>
          <p:cNvPr id="7" name="Date Placeholder 6"/>
          <p:cNvSpPr>
            <a:spLocks noGrp="1"/>
          </p:cNvSpPr>
          <p:nvPr>
            <p:ph type="dt" sz="half" idx="10"/>
          </p:nvPr>
        </p:nvSpPr>
        <p:spPr/>
        <p:txBody>
          <a:bodyPr/>
          <a:lstStyle/>
          <a:p>
            <a:fld id="{BA1AB732-7D20-49FE-9A99-E0B0B1C94E07}" type="datetime13">
              <a:rPr lang="en-US" smtClean="0"/>
              <a:pPr/>
              <a:t>11:23:12 PM</a:t>
            </a:fld>
            <a:endParaRPr lang="en-US"/>
          </a:p>
        </p:txBody>
      </p:sp>
    </p:spTree>
  </p:cSld>
  <p:clrMapOvr>
    <a:masterClrMapping/>
  </p:clrMapOvr>
  <p:transition>
    <p:wheel spokes="2"/>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2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20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20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3">
                                            <p:txEl>
                                              <p:pRg st="0" end="0"/>
                                            </p:txEl>
                                          </p:spTgt>
                                        </p:tgtEl>
                                        <p:attrNameLst>
                                          <p:attrName>style.visibility</p:attrName>
                                        </p:attrNameLst>
                                      </p:cBhvr>
                                      <p:to>
                                        <p:strVal val="visible"/>
                                      </p:to>
                                    </p:set>
                                    <p:animEffect transition="in" filter="blinds(horizontal)">
                                      <p:cBhvr>
                                        <p:cTn id="37" dur="500"/>
                                        <p:tgtEl>
                                          <p:spTgt spid="3">
                                            <p:txEl>
                                              <p:pRg st="0" end="0"/>
                                            </p:txEl>
                                          </p:spTgt>
                                        </p:tgtEl>
                                      </p:cBhvr>
                                    </p:animEffect>
                                  </p:childTnLst>
                                </p:cTn>
                              </p:par>
                              <p:par>
                                <p:cTn id="38" presetID="3" presetClass="entr" presetSubtype="10" fill="hold" nodeType="withEffect">
                                  <p:stCondLst>
                                    <p:cond delay="0"/>
                                  </p:stCondLst>
                                  <p:childTnLst>
                                    <p:set>
                                      <p:cBhvr>
                                        <p:cTn id="39" dur="1" fill="hold">
                                          <p:stCondLst>
                                            <p:cond delay="0"/>
                                          </p:stCondLst>
                                        </p:cTn>
                                        <p:tgtEl>
                                          <p:spTgt spid="3">
                                            <p:txEl>
                                              <p:pRg st="1" end="1"/>
                                            </p:txEl>
                                          </p:spTgt>
                                        </p:tgtEl>
                                        <p:attrNameLst>
                                          <p:attrName>style.visibility</p:attrName>
                                        </p:attrNameLst>
                                      </p:cBhvr>
                                      <p:to>
                                        <p:strVal val="visible"/>
                                      </p:to>
                                    </p:set>
                                    <p:animEffect transition="in" filter="blinds(horizontal)">
                                      <p:cBhvr>
                                        <p:cTn id="40" dur="500"/>
                                        <p:tgtEl>
                                          <p:spTgt spid="3">
                                            <p:txEl>
                                              <p:pRg st="1" end="1"/>
                                            </p:txEl>
                                          </p:spTgt>
                                        </p:tgtEl>
                                      </p:cBhvr>
                                    </p:animEffect>
                                  </p:childTnLst>
                                </p:cTn>
                              </p:par>
                              <p:par>
                                <p:cTn id="41" presetID="3" presetClass="entr" presetSubtype="10" fill="hold" nodeType="withEffect">
                                  <p:stCondLst>
                                    <p:cond delay="0"/>
                                  </p:stCondLst>
                                  <p:childTnLst>
                                    <p:set>
                                      <p:cBhvr>
                                        <p:cTn id="42" dur="1" fill="hold">
                                          <p:stCondLst>
                                            <p:cond delay="0"/>
                                          </p:stCondLst>
                                        </p:cTn>
                                        <p:tgtEl>
                                          <p:spTgt spid="3">
                                            <p:txEl>
                                              <p:pRg st="2" end="2"/>
                                            </p:txEl>
                                          </p:spTgt>
                                        </p:tgtEl>
                                        <p:attrNameLst>
                                          <p:attrName>style.visibility</p:attrName>
                                        </p:attrNameLst>
                                      </p:cBhvr>
                                      <p:to>
                                        <p:strVal val="visible"/>
                                      </p:to>
                                    </p:set>
                                    <p:animEffect transition="in" filter="blinds(horizontal)">
                                      <p:cBhvr>
                                        <p:cTn id="43" dur="500"/>
                                        <p:tgtEl>
                                          <p:spTgt spid="3">
                                            <p:txEl>
                                              <p:pRg st="2" end="2"/>
                                            </p:txEl>
                                          </p:spTgt>
                                        </p:tgtEl>
                                      </p:cBhvr>
                                    </p:animEffect>
                                  </p:childTnLst>
                                </p:cTn>
                              </p:par>
                              <p:par>
                                <p:cTn id="44" presetID="3" presetClass="entr" presetSubtype="10" fill="hold" nodeType="withEffect">
                                  <p:stCondLst>
                                    <p:cond delay="0"/>
                                  </p:stCondLst>
                                  <p:childTnLst>
                                    <p:set>
                                      <p:cBhvr>
                                        <p:cTn id="45" dur="1" fill="hold">
                                          <p:stCondLst>
                                            <p:cond delay="0"/>
                                          </p:stCondLst>
                                        </p:cTn>
                                        <p:tgtEl>
                                          <p:spTgt spid="3">
                                            <p:txEl>
                                              <p:pRg st="3" end="3"/>
                                            </p:txEl>
                                          </p:spTgt>
                                        </p:tgtEl>
                                        <p:attrNameLst>
                                          <p:attrName>style.visibility</p:attrName>
                                        </p:attrNameLst>
                                      </p:cBhvr>
                                      <p:to>
                                        <p:strVal val="visible"/>
                                      </p:to>
                                    </p:set>
                                    <p:animEffect transition="in" filter="blinds(horizontal)">
                                      <p:cBhvr>
                                        <p:cTn id="46" dur="500"/>
                                        <p:tgtEl>
                                          <p:spTgt spid="3">
                                            <p:txEl>
                                              <p:pRg st="3" end="3"/>
                                            </p:txEl>
                                          </p:spTgt>
                                        </p:tgtEl>
                                      </p:cBhvr>
                                    </p:animEffect>
                                  </p:childTnLst>
                                </p:cTn>
                              </p:par>
                              <p:par>
                                <p:cTn id="47" presetID="3" presetClass="entr" presetSubtype="10" fill="hold" nodeType="withEffect">
                                  <p:stCondLst>
                                    <p:cond delay="0"/>
                                  </p:stCondLst>
                                  <p:childTnLst>
                                    <p:set>
                                      <p:cBhvr>
                                        <p:cTn id="48" dur="1" fill="hold">
                                          <p:stCondLst>
                                            <p:cond delay="0"/>
                                          </p:stCondLst>
                                        </p:cTn>
                                        <p:tgtEl>
                                          <p:spTgt spid="3">
                                            <p:txEl>
                                              <p:pRg st="4" end="4"/>
                                            </p:txEl>
                                          </p:spTgt>
                                        </p:tgtEl>
                                        <p:attrNameLst>
                                          <p:attrName>style.visibility</p:attrName>
                                        </p:attrNameLst>
                                      </p:cBhvr>
                                      <p:to>
                                        <p:strVal val="visible"/>
                                      </p:to>
                                    </p:set>
                                    <p:animEffect transition="in" filter="blinds(horizontal)">
                                      <p:cBhvr>
                                        <p:cTn id="49" dur="500"/>
                                        <p:tgtEl>
                                          <p:spTgt spid="3">
                                            <p:txEl>
                                              <p:pRg st="4" end="4"/>
                                            </p:txEl>
                                          </p:spTgt>
                                        </p:tgtEl>
                                      </p:cBhvr>
                                    </p:animEffect>
                                  </p:childTnLst>
                                </p:cTn>
                              </p:par>
                              <p:par>
                                <p:cTn id="50" presetID="3" presetClass="entr" presetSubtype="10" fill="hold" nodeType="withEffect">
                                  <p:stCondLst>
                                    <p:cond delay="0"/>
                                  </p:stCondLst>
                                  <p:childTnLst>
                                    <p:set>
                                      <p:cBhvr>
                                        <p:cTn id="51" dur="1" fill="hold">
                                          <p:stCondLst>
                                            <p:cond delay="0"/>
                                          </p:stCondLst>
                                        </p:cTn>
                                        <p:tgtEl>
                                          <p:spTgt spid="3">
                                            <p:txEl>
                                              <p:pRg st="5" end="5"/>
                                            </p:txEl>
                                          </p:spTgt>
                                        </p:tgtEl>
                                        <p:attrNameLst>
                                          <p:attrName>style.visibility</p:attrName>
                                        </p:attrNameLst>
                                      </p:cBhvr>
                                      <p:to>
                                        <p:strVal val="visible"/>
                                      </p:to>
                                    </p:set>
                                    <p:animEffect transition="in" filter="blinds(horizontal)">
                                      <p:cBhvr>
                                        <p:cTn id="5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57200" y="274638"/>
            <a:ext cx="8229600" cy="868362"/>
          </a:xfrm>
        </p:spPr>
        <p:txBody>
          <a:bodyPr>
            <a:normAutofit/>
          </a:bodyPr>
          <a:lstStyle/>
          <a:p>
            <a:r>
              <a:rPr lang="en-US" sz="4000" dirty="0" smtClean="0"/>
              <a:t>Perfect Competition x-</a:t>
            </a:r>
            <a:r>
              <a:rPr lang="en-US" sz="4000" dirty="0" err="1" smtClean="0"/>
              <a:t>stics</a:t>
            </a:r>
            <a:endParaRPr lang="en-US" dirty="0"/>
          </a:p>
        </p:txBody>
      </p:sp>
      <p:sp>
        <p:nvSpPr>
          <p:cNvPr id="12" name="Content Placeholder 11"/>
          <p:cNvSpPr>
            <a:spLocks noGrp="1"/>
          </p:cNvSpPr>
          <p:nvPr>
            <p:ph idx="1"/>
          </p:nvPr>
        </p:nvSpPr>
        <p:spPr>
          <a:xfrm>
            <a:off x="457200" y="1143000"/>
            <a:ext cx="8229600" cy="5166360"/>
          </a:xfrm>
        </p:spPr>
        <p:txBody>
          <a:bodyPr>
            <a:normAutofit fontScale="92500"/>
          </a:bodyPr>
          <a:lstStyle/>
          <a:p>
            <a:pPr lvl="0"/>
            <a:r>
              <a:rPr lang="en-US" sz="4000" b="1" dirty="0" smtClean="0"/>
              <a:t>Product homogeneity</a:t>
            </a:r>
            <a:r>
              <a:rPr lang="en-US" sz="4000" dirty="0" smtClean="0"/>
              <a:t>-no consumer preference can be inferred </a:t>
            </a:r>
          </a:p>
          <a:p>
            <a:pPr lvl="0"/>
            <a:r>
              <a:rPr lang="en-US" sz="4000" b="1" dirty="0" smtClean="0"/>
              <a:t>Zero transaction costs.</a:t>
            </a:r>
          </a:p>
          <a:p>
            <a:pPr lvl="0"/>
            <a:r>
              <a:rPr lang="en-US" sz="4000" b="1" dirty="0" smtClean="0"/>
              <a:t>Perfect information-</a:t>
            </a:r>
            <a:r>
              <a:rPr lang="en-US" sz="4000" dirty="0" smtClean="0"/>
              <a:t>buyers and sellers all have the same information in regard to the price, quality and availability of a good or service. </a:t>
            </a:r>
          </a:p>
          <a:p>
            <a:endParaRPr lang="en-US" sz="4000" b="1" dirty="0"/>
          </a:p>
        </p:txBody>
      </p:sp>
      <p:sp>
        <p:nvSpPr>
          <p:cNvPr id="18" name="Date Placeholder 17"/>
          <p:cNvSpPr>
            <a:spLocks noGrp="1"/>
          </p:cNvSpPr>
          <p:nvPr>
            <p:ph type="dt" sz="half" idx="10"/>
          </p:nvPr>
        </p:nvSpPr>
        <p:spPr/>
        <p:txBody>
          <a:bodyPr/>
          <a:lstStyle/>
          <a:p>
            <a:fld id="{FE0F145F-859C-4F7A-A404-7B1FCE743485}" type="datetime13">
              <a:rPr lang="en-US" smtClean="0"/>
              <a:pPr/>
              <a:t>11:23:12 PM</a:t>
            </a:fld>
            <a:endParaRPr lang="en-US"/>
          </a:p>
        </p:txBody>
      </p:sp>
    </p:spTree>
  </p:cSld>
  <p:clrMapOvr>
    <a:masterClrMapping/>
  </p:clrMapOvr>
  <p:transition>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iterate type="lt">
                                    <p:tmPct val="0"/>
                                  </p:iterate>
                                  <p:childTnLst>
                                    <p:set>
                                      <p:cBhvr>
                                        <p:cTn id="6" dur="1" fill="hold">
                                          <p:stCondLst>
                                            <p:cond delay="0"/>
                                          </p:stCondLst>
                                        </p:cTn>
                                        <p:tgtEl>
                                          <p:spTgt spid="12">
                                            <p:txEl>
                                              <p:pRg st="0" end="0"/>
                                            </p:txEl>
                                          </p:spTgt>
                                        </p:tgtEl>
                                        <p:attrNameLst>
                                          <p:attrName>style.visibility</p:attrName>
                                        </p:attrNameLst>
                                      </p:cBhvr>
                                      <p:to>
                                        <p:strVal val="visible"/>
                                      </p:to>
                                    </p:set>
                                    <p:animEffect transition="in" filter="fade">
                                      <p:cBhvr>
                                        <p:cTn id="7" dur="2000"/>
                                        <p:tgtEl>
                                          <p:spTgt spid="1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iterate type="lt">
                                    <p:tmPct val="0"/>
                                  </p:iterate>
                                  <p:childTnLst>
                                    <p:set>
                                      <p:cBhvr>
                                        <p:cTn id="11" dur="1" fill="hold">
                                          <p:stCondLst>
                                            <p:cond delay="0"/>
                                          </p:stCondLst>
                                        </p:cTn>
                                        <p:tgtEl>
                                          <p:spTgt spid="12">
                                            <p:txEl>
                                              <p:pRg st="1" end="1"/>
                                            </p:txEl>
                                          </p:spTgt>
                                        </p:tgtEl>
                                        <p:attrNameLst>
                                          <p:attrName>style.visibility</p:attrName>
                                        </p:attrNameLst>
                                      </p:cBhvr>
                                      <p:to>
                                        <p:strVal val="visible"/>
                                      </p:to>
                                    </p:set>
                                    <p:animEffect transition="in" filter="fade">
                                      <p:cBhvr>
                                        <p:cTn id="12" dur="2000"/>
                                        <p:tgtEl>
                                          <p:spTgt spid="1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iterate type="lt">
                                    <p:tmPct val="0"/>
                                  </p:iterate>
                                  <p:childTnLst>
                                    <p:set>
                                      <p:cBhvr>
                                        <p:cTn id="16" dur="1" fill="hold">
                                          <p:stCondLst>
                                            <p:cond delay="0"/>
                                          </p:stCondLst>
                                        </p:cTn>
                                        <p:tgtEl>
                                          <p:spTgt spid="12">
                                            <p:txEl>
                                              <p:pRg st="2" end="2"/>
                                            </p:txEl>
                                          </p:spTgt>
                                        </p:tgtEl>
                                        <p:attrNameLst>
                                          <p:attrName>style.visibility</p:attrName>
                                        </p:attrNameLst>
                                      </p:cBhvr>
                                      <p:to>
                                        <p:strVal val="visible"/>
                                      </p:to>
                                    </p:set>
                                    <p:animEffect transition="in" filter="fade">
                                      <p:cBhvr>
                                        <p:cTn id="17" dur="2000"/>
                                        <p:tgtEl>
                                          <p:spTgt spid="1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7" presetClass="entr" presetSubtype="0" fill="hold" nodeType="clickEffect">
                                  <p:stCondLst>
                                    <p:cond delay="0"/>
                                  </p:stCondLst>
                                  <p:iterate type="lt">
                                    <p:tmPct val="50000"/>
                                  </p:iterate>
                                  <p:childTnLst>
                                    <p:set>
                                      <p:cBhvr>
                                        <p:cTn id="21" dur="1" fill="hold">
                                          <p:stCondLst>
                                            <p:cond delay="0"/>
                                          </p:stCondLst>
                                        </p:cTn>
                                        <p:tgtEl>
                                          <p:spTgt spid="12">
                                            <p:txEl>
                                              <p:pRg st="0" end="0"/>
                                            </p:txEl>
                                          </p:spTgt>
                                        </p:tgtEl>
                                        <p:attrNameLst>
                                          <p:attrName>style.visibility</p:attrName>
                                        </p:attrNameLst>
                                      </p:cBhvr>
                                      <p:to>
                                        <p:strVal val="visible"/>
                                      </p:to>
                                    </p:set>
                                    <p:anim calcmode="discrete" valueType="clr">
                                      <p:cBhvr override="childStyle">
                                        <p:cTn id="22" dur="80"/>
                                        <p:tgtEl>
                                          <p:spTgt spid="12">
                                            <p:txEl>
                                              <p:pRg st="0" end="0"/>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23" dur="80"/>
                                        <p:tgtEl>
                                          <p:spTgt spid="12">
                                            <p:txEl>
                                              <p:pRg st="0" end="0"/>
                                            </p:txEl>
                                          </p:spTgt>
                                        </p:tgtEl>
                                        <p:attrNameLst>
                                          <p:attrName>fillcolor</p:attrName>
                                        </p:attrNameLst>
                                      </p:cBhvr>
                                      <p:tavLst>
                                        <p:tav tm="0">
                                          <p:val>
                                            <p:clrVal>
                                              <a:schemeClr val="accent2"/>
                                            </p:clrVal>
                                          </p:val>
                                        </p:tav>
                                        <p:tav tm="50000">
                                          <p:val>
                                            <p:clrVal>
                                              <a:schemeClr val="hlink"/>
                                            </p:clrVal>
                                          </p:val>
                                        </p:tav>
                                      </p:tavLst>
                                    </p:anim>
                                    <p:set>
                                      <p:cBhvr>
                                        <p:cTn id="24" dur="80"/>
                                        <p:tgtEl>
                                          <p:spTgt spid="12">
                                            <p:txEl>
                                              <p:pRg st="0" end="0"/>
                                            </p:txEl>
                                          </p:spTgt>
                                        </p:tgtEl>
                                        <p:attrNameLst>
                                          <p:attrName>fill.type</p:attrName>
                                        </p:attrNameLst>
                                      </p:cBhvr>
                                      <p:to>
                                        <p:strVal val="solid"/>
                                      </p:to>
                                    </p:set>
                                  </p:childTnLst>
                                </p:cTn>
                              </p:par>
                            </p:childTnLst>
                          </p:cTn>
                        </p:par>
                      </p:childTnLst>
                    </p:cTn>
                  </p:par>
                  <p:par>
                    <p:cTn id="25" fill="hold">
                      <p:stCondLst>
                        <p:cond delay="indefinite"/>
                      </p:stCondLst>
                      <p:childTnLst>
                        <p:par>
                          <p:cTn id="26" fill="hold">
                            <p:stCondLst>
                              <p:cond delay="0"/>
                            </p:stCondLst>
                            <p:childTnLst>
                              <p:par>
                                <p:cTn id="27" presetID="27" presetClass="entr" presetSubtype="0" fill="hold" nodeType="clickEffect">
                                  <p:stCondLst>
                                    <p:cond delay="0"/>
                                  </p:stCondLst>
                                  <p:iterate type="lt">
                                    <p:tmPct val="50000"/>
                                  </p:iterate>
                                  <p:childTnLst>
                                    <p:set>
                                      <p:cBhvr>
                                        <p:cTn id="28" dur="1" fill="hold">
                                          <p:stCondLst>
                                            <p:cond delay="0"/>
                                          </p:stCondLst>
                                        </p:cTn>
                                        <p:tgtEl>
                                          <p:spTgt spid="12">
                                            <p:txEl>
                                              <p:pRg st="1" end="1"/>
                                            </p:txEl>
                                          </p:spTgt>
                                        </p:tgtEl>
                                        <p:attrNameLst>
                                          <p:attrName>style.visibility</p:attrName>
                                        </p:attrNameLst>
                                      </p:cBhvr>
                                      <p:to>
                                        <p:strVal val="visible"/>
                                      </p:to>
                                    </p:set>
                                    <p:anim calcmode="discrete" valueType="clr">
                                      <p:cBhvr override="childStyle">
                                        <p:cTn id="29" dur="80"/>
                                        <p:tgtEl>
                                          <p:spTgt spid="12">
                                            <p:txEl>
                                              <p:pRg st="1" end="1"/>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30" dur="80"/>
                                        <p:tgtEl>
                                          <p:spTgt spid="12">
                                            <p:txEl>
                                              <p:pRg st="1" end="1"/>
                                            </p:txEl>
                                          </p:spTgt>
                                        </p:tgtEl>
                                        <p:attrNameLst>
                                          <p:attrName>fillcolor</p:attrName>
                                        </p:attrNameLst>
                                      </p:cBhvr>
                                      <p:tavLst>
                                        <p:tav tm="0">
                                          <p:val>
                                            <p:clrVal>
                                              <a:schemeClr val="accent2"/>
                                            </p:clrVal>
                                          </p:val>
                                        </p:tav>
                                        <p:tav tm="50000">
                                          <p:val>
                                            <p:clrVal>
                                              <a:schemeClr val="hlink"/>
                                            </p:clrVal>
                                          </p:val>
                                        </p:tav>
                                      </p:tavLst>
                                    </p:anim>
                                    <p:set>
                                      <p:cBhvr>
                                        <p:cTn id="31" dur="80"/>
                                        <p:tgtEl>
                                          <p:spTgt spid="12">
                                            <p:txEl>
                                              <p:pRg st="1" end="1"/>
                                            </p:txEl>
                                          </p:spTgt>
                                        </p:tgtEl>
                                        <p:attrNameLst>
                                          <p:attrName>fill.type</p:attrName>
                                        </p:attrNameLst>
                                      </p:cBhvr>
                                      <p:to>
                                        <p:strVal val="solid"/>
                                      </p:to>
                                    </p:set>
                                  </p:childTnLst>
                                </p:cTn>
                              </p:par>
                              <p:par>
                                <p:cTn id="32" presetID="27" presetClass="entr" presetSubtype="0" fill="hold" nodeType="withEffect">
                                  <p:stCondLst>
                                    <p:cond delay="0"/>
                                  </p:stCondLst>
                                  <p:iterate type="lt">
                                    <p:tmPct val="50000"/>
                                  </p:iterate>
                                  <p:childTnLst>
                                    <p:set>
                                      <p:cBhvr>
                                        <p:cTn id="33" dur="1" fill="hold">
                                          <p:stCondLst>
                                            <p:cond delay="0"/>
                                          </p:stCondLst>
                                        </p:cTn>
                                        <p:tgtEl>
                                          <p:spTgt spid="12">
                                            <p:txEl>
                                              <p:pRg st="2" end="2"/>
                                            </p:txEl>
                                          </p:spTgt>
                                        </p:tgtEl>
                                        <p:attrNameLst>
                                          <p:attrName>style.visibility</p:attrName>
                                        </p:attrNameLst>
                                      </p:cBhvr>
                                      <p:to>
                                        <p:strVal val="visible"/>
                                      </p:to>
                                    </p:set>
                                    <p:anim calcmode="discrete" valueType="clr">
                                      <p:cBhvr override="childStyle">
                                        <p:cTn id="34" dur="80"/>
                                        <p:tgtEl>
                                          <p:spTgt spid="12">
                                            <p:txEl>
                                              <p:pRg st="2" end="2"/>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35" dur="80"/>
                                        <p:tgtEl>
                                          <p:spTgt spid="12">
                                            <p:txEl>
                                              <p:pRg st="2" end="2"/>
                                            </p:txEl>
                                          </p:spTgt>
                                        </p:tgtEl>
                                        <p:attrNameLst>
                                          <p:attrName>fillcolor</p:attrName>
                                        </p:attrNameLst>
                                      </p:cBhvr>
                                      <p:tavLst>
                                        <p:tav tm="0">
                                          <p:val>
                                            <p:clrVal>
                                              <a:schemeClr val="accent2"/>
                                            </p:clrVal>
                                          </p:val>
                                        </p:tav>
                                        <p:tav tm="50000">
                                          <p:val>
                                            <p:clrVal>
                                              <a:schemeClr val="hlink"/>
                                            </p:clrVal>
                                          </p:val>
                                        </p:tav>
                                      </p:tavLst>
                                    </p:anim>
                                    <p:set>
                                      <p:cBhvr>
                                        <p:cTn id="36" dur="80"/>
                                        <p:tgtEl>
                                          <p:spTgt spid="12">
                                            <p:txEl>
                                              <p:pRg st="2" end="2"/>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50938" y="214313"/>
            <a:ext cx="7793037" cy="1157287"/>
          </a:xfrm>
        </p:spPr>
        <p:txBody>
          <a:bodyPr>
            <a:normAutofit/>
          </a:bodyPr>
          <a:lstStyle/>
          <a:p>
            <a:r>
              <a:rPr lang="en-US" sz="4400" dirty="0" smtClean="0"/>
              <a:t>PERFECT COMPETITION</a:t>
            </a:r>
            <a:endParaRPr lang="en-US" dirty="0"/>
          </a:p>
        </p:txBody>
      </p:sp>
      <p:sp>
        <p:nvSpPr>
          <p:cNvPr id="3" name="Content Placeholder 2"/>
          <p:cNvSpPr>
            <a:spLocks noGrp="1"/>
          </p:cNvSpPr>
          <p:nvPr>
            <p:ph idx="1"/>
          </p:nvPr>
        </p:nvSpPr>
        <p:spPr>
          <a:xfrm>
            <a:off x="914400" y="1219200"/>
            <a:ext cx="7772400" cy="5136360"/>
          </a:xfrm>
        </p:spPr>
        <p:txBody>
          <a:bodyPr>
            <a:normAutofit/>
          </a:bodyPr>
          <a:lstStyle/>
          <a:p>
            <a:r>
              <a:rPr lang="en-US" sz="4800" dirty="0" smtClean="0"/>
              <a:t>Examples of PC </a:t>
            </a:r>
            <a:r>
              <a:rPr lang="en-US" sz="4800" dirty="0" err="1" smtClean="0"/>
              <a:t>mkts</a:t>
            </a:r>
            <a:r>
              <a:rPr lang="en-US" sz="4800" dirty="0" smtClean="0"/>
              <a:t> include: </a:t>
            </a:r>
          </a:p>
          <a:p>
            <a:pPr lvl="0"/>
            <a:r>
              <a:rPr lang="en-US" sz="4800" dirty="0" smtClean="0"/>
              <a:t>Financial markets – stock exchange </a:t>
            </a:r>
          </a:p>
          <a:p>
            <a:pPr lvl="0"/>
            <a:r>
              <a:rPr lang="en-US" sz="4800" dirty="0" smtClean="0"/>
              <a:t>Agricultural markets </a:t>
            </a:r>
          </a:p>
          <a:p>
            <a:pPr lvl="0"/>
            <a:r>
              <a:rPr lang="en-US" sz="4800" dirty="0" smtClean="0"/>
              <a:t>Internet e.g. eBay </a:t>
            </a:r>
          </a:p>
          <a:p>
            <a:pPr algn="just">
              <a:buNone/>
            </a:pPr>
            <a:endParaRPr lang="en-US" sz="3200" dirty="0" smtClean="0"/>
          </a:p>
          <a:p>
            <a:pPr algn="just">
              <a:buNone/>
            </a:pPr>
            <a:endParaRPr lang="en-US" sz="3200" dirty="0" smtClean="0"/>
          </a:p>
          <a:p>
            <a:pPr algn="just">
              <a:buNone/>
            </a:pPr>
            <a:endParaRPr lang="en-US" sz="3200" dirty="0" smtClean="0"/>
          </a:p>
          <a:p>
            <a:pPr lvl="1"/>
            <a:endParaRPr lang="en-US" sz="3000" dirty="0" smtClean="0"/>
          </a:p>
          <a:p>
            <a:endParaRPr lang="en-US" dirty="0"/>
          </a:p>
        </p:txBody>
      </p:sp>
      <p:sp>
        <p:nvSpPr>
          <p:cNvPr id="7" name="Date Placeholder 6"/>
          <p:cNvSpPr>
            <a:spLocks noGrp="1"/>
          </p:cNvSpPr>
          <p:nvPr>
            <p:ph type="dt" sz="half" idx="10"/>
          </p:nvPr>
        </p:nvSpPr>
        <p:spPr/>
        <p:txBody>
          <a:bodyPr/>
          <a:lstStyle/>
          <a:p>
            <a:fld id="{B8A471ED-27D4-44DB-8BDA-3B0AE4D54918}" type="datetime13">
              <a:rPr lang="en-US" smtClean="0"/>
              <a:pPr/>
              <a:t>11:23:12 PM</a:t>
            </a:fld>
            <a:endParaRPr lang="en-US"/>
          </a:p>
        </p:txBody>
      </p:sp>
    </p:spTree>
  </p:cSld>
  <p:clrMapOvr>
    <a:masterClrMapping/>
  </p:clrMapOvr>
  <p:transition>
    <p:pull dir="l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down)">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down)">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normAutofit/>
          </a:bodyPr>
          <a:lstStyle/>
          <a:p>
            <a:pPr algn="l"/>
            <a:r>
              <a:rPr lang="en-US" sz="4000" dirty="0" smtClean="0"/>
              <a:t>PERFECT COMPETITION</a:t>
            </a:r>
            <a:endParaRPr lang="en-US" dirty="0"/>
          </a:p>
        </p:txBody>
      </p:sp>
      <p:sp>
        <p:nvSpPr>
          <p:cNvPr id="3" name="Content Placeholder 2"/>
          <p:cNvSpPr>
            <a:spLocks noGrp="1"/>
          </p:cNvSpPr>
          <p:nvPr>
            <p:ph idx="1"/>
          </p:nvPr>
        </p:nvSpPr>
        <p:spPr>
          <a:xfrm>
            <a:off x="533400" y="1143000"/>
            <a:ext cx="8153400" cy="5212560"/>
          </a:xfrm>
        </p:spPr>
        <p:txBody>
          <a:bodyPr>
            <a:normAutofit/>
          </a:bodyPr>
          <a:lstStyle/>
          <a:p>
            <a:r>
              <a:rPr lang="en-US" sz="3600" dirty="0" smtClean="0"/>
              <a:t>Is the most efficient form of a market structure. This is because PC market results in: </a:t>
            </a:r>
          </a:p>
          <a:p>
            <a:pPr lvl="0"/>
            <a:r>
              <a:rPr lang="en-US" sz="3600" dirty="0" smtClean="0"/>
              <a:t>Efficient allocation of resources among firms </a:t>
            </a:r>
          </a:p>
          <a:p>
            <a:pPr lvl="0"/>
            <a:r>
              <a:rPr lang="en-US" sz="3600" dirty="0" smtClean="0"/>
              <a:t>Efficient distribution of goods and services amongst households </a:t>
            </a:r>
          </a:p>
          <a:p>
            <a:pPr lvl="0"/>
            <a:r>
              <a:rPr lang="en-US" sz="3600" dirty="0" smtClean="0"/>
              <a:t>Efficient mix of output amongst firms</a:t>
            </a:r>
            <a:endParaRPr lang="en-US" sz="3600" dirty="0"/>
          </a:p>
        </p:txBody>
      </p:sp>
      <p:sp>
        <p:nvSpPr>
          <p:cNvPr id="7" name="Date Placeholder 6"/>
          <p:cNvSpPr>
            <a:spLocks noGrp="1"/>
          </p:cNvSpPr>
          <p:nvPr>
            <p:ph type="dt" sz="half" idx="10"/>
          </p:nvPr>
        </p:nvSpPr>
        <p:spPr/>
        <p:txBody>
          <a:bodyPr/>
          <a:lstStyle/>
          <a:p>
            <a:fld id="{FC56C353-4A0F-42A1-A3A6-8D64977EF87D}" type="datetime13">
              <a:rPr lang="en-US" smtClean="0"/>
              <a:pPr/>
              <a:t>11:23:12 PM</a:t>
            </a:fld>
            <a:endParaRPr lang="en-US"/>
          </a:p>
        </p:txBody>
      </p:sp>
    </p:spTree>
  </p:cSld>
  <p:clrMapOvr>
    <a:masterClrMapping/>
  </p:clrMapOvr>
  <p:transition spd="slow">
    <p:strips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50938" y="214313"/>
            <a:ext cx="7793037" cy="1081087"/>
          </a:xfrm>
        </p:spPr>
        <p:txBody>
          <a:bodyPr>
            <a:normAutofit/>
          </a:bodyPr>
          <a:lstStyle/>
          <a:p>
            <a:r>
              <a:rPr lang="en-US" dirty="0" smtClean="0"/>
              <a:t>MONOPOLY</a:t>
            </a:r>
            <a:endParaRPr lang="en-US" dirty="0"/>
          </a:p>
        </p:txBody>
      </p:sp>
      <p:sp>
        <p:nvSpPr>
          <p:cNvPr id="5" name="Content Placeholder 4"/>
          <p:cNvSpPr>
            <a:spLocks noGrp="1"/>
          </p:cNvSpPr>
          <p:nvPr>
            <p:ph idx="1"/>
          </p:nvPr>
        </p:nvSpPr>
        <p:spPr>
          <a:xfrm>
            <a:off x="914400" y="1143000"/>
            <a:ext cx="7772400" cy="5212560"/>
          </a:xfrm>
        </p:spPr>
        <p:txBody>
          <a:bodyPr>
            <a:normAutofit/>
          </a:bodyPr>
          <a:lstStyle/>
          <a:p>
            <a:r>
              <a:rPr lang="en-US" sz="3600" dirty="0" smtClean="0"/>
              <a:t>is defined as an industry with the following attributes: </a:t>
            </a:r>
          </a:p>
          <a:p>
            <a:pPr lvl="0"/>
            <a:r>
              <a:rPr lang="en-US" sz="3600" dirty="0" smtClean="0"/>
              <a:t>A single firm that produces a good or service for which there are no </a:t>
            </a:r>
            <a:r>
              <a:rPr lang="en-US" sz="3600" dirty="0" smtClean="0">
                <a:solidFill>
                  <a:srgbClr val="FFFF00"/>
                </a:solidFill>
              </a:rPr>
              <a:t>close substitutes </a:t>
            </a:r>
            <a:r>
              <a:rPr lang="en-US" sz="3600" dirty="0" smtClean="0">
                <a:solidFill>
                  <a:srgbClr val="FF0000"/>
                </a:solidFill>
              </a:rPr>
              <a:t>.</a:t>
            </a:r>
          </a:p>
          <a:p>
            <a:pPr lvl="0"/>
            <a:r>
              <a:rPr lang="en-US" sz="3600" dirty="0" smtClean="0"/>
              <a:t>significant barriers to entry prevents other firms from entering the industry to compete for profits. </a:t>
            </a:r>
          </a:p>
          <a:p>
            <a:endParaRPr lang="en-US" sz="3600" dirty="0"/>
          </a:p>
        </p:txBody>
      </p:sp>
      <p:sp>
        <p:nvSpPr>
          <p:cNvPr id="7" name="Date Placeholder 6"/>
          <p:cNvSpPr>
            <a:spLocks noGrp="1"/>
          </p:cNvSpPr>
          <p:nvPr>
            <p:ph type="dt" sz="half" idx="10"/>
          </p:nvPr>
        </p:nvSpPr>
        <p:spPr/>
        <p:txBody>
          <a:bodyPr/>
          <a:lstStyle/>
          <a:p>
            <a:fld id="{142190C5-AC3B-456D-BDB2-7E64FBF76E55}" type="datetime13">
              <a:rPr lang="en-US" smtClean="0"/>
              <a:pPr/>
              <a:t>11:23:12 PM</a:t>
            </a:fld>
            <a:endParaRPr lang="en-US"/>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20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20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20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50938" y="214313"/>
            <a:ext cx="7793037" cy="1004887"/>
          </a:xfrm>
        </p:spPr>
        <p:txBody>
          <a:bodyPr/>
          <a:lstStyle/>
          <a:p>
            <a:r>
              <a:rPr lang="en-US" dirty="0" smtClean="0"/>
              <a:t>MONOPOLY</a:t>
            </a:r>
            <a:endParaRPr lang="en-US" dirty="0"/>
          </a:p>
        </p:txBody>
      </p:sp>
      <p:sp>
        <p:nvSpPr>
          <p:cNvPr id="3" name="Content Placeholder 2"/>
          <p:cNvSpPr>
            <a:spLocks noGrp="1"/>
          </p:cNvSpPr>
          <p:nvPr>
            <p:ph idx="1"/>
          </p:nvPr>
        </p:nvSpPr>
        <p:spPr>
          <a:xfrm>
            <a:off x="228600" y="1828800"/>
            <a:ext cx="8763000" cy="4526760"/>
          </a:xfrm>
        </p:spPr>
        <p:txBody>
          <a:bodyPr>
            <a:normAutofit fontScale="92500" lnSpcReduction="10000"/>
          </a:bodyPr>
          <a:lstStyle/>
          <a:p>
            <a:pPr lvl="0"/>
            <a:r>
              <a:rPr lang="en-US" sz="4400" dirty="0" smtClean="0"/>
              <a:t>Firms that already have market power can maintain it either by</a:t>
            </a:r>
          </a:p>
          <a:p>
            <a:pPr lvl="1">
              <a:buFont typeface="Wingdings" pitchFamily="2" charset="2"/>
              <a:buChar char="v"/>
            </a:pPr>
            <a:r>
              <a:rPr lang="en-US" sz="4400" dirty="0" smtClean="0"/>
              <a:t> </a:t>
            </a:r>
            <a:r>
              <a:rPr lang="en-US" sz="4400" dirty="0" smtClean="0">
                <a:solidFill>
                  <a:srgbClr val="FF0000"/>
                </a:solidFill>
              </a:rPr>
              <a:t>preventing other firms from producing an exact replica of the product, </a:t>
            </a:r>
            <a:r>
              <a:rPr lang="en-US" sz="4400" dirty="0" smtClean="0">
                <a:solidFill>
                  <a:srgbClr val="FF0000"/>
                </a:solidFill>
              </a:rPr>
              <a:t>or;</a:t>
            </a:r>
            <a:endParaRPr lang="en-US" sz="4400" dirty="0" smtClean="0">
              <a:solidFill>
                <a:srgbClr val="FF0000"/>
              </a:solidFill>
            </a:endParaRPr>
          </a:p>
          <a:p>
            <a:pPr lvl="1">
              <a:buFont typeface="Wingdings" pitchFamily="2" charset="2"/>
              <a:buChar char="v"/>
            </a:pPr>
            <a:r>
              <a:rPr lang="en-US" sz="4400" dirty="0" smtClean="0">
                <a:solidFill>
                  <a:srgbClr val="FF0000"/>
                </a:solidFill>
              </a:rPr>
              <a:t> preventing other firms from entering the market. </a:t>
            </a:r>
          </a:p>
          <a:p>
            <a:endParaRPr lang="en-US" sz="3600" dirty="0"/>
          </a:p>
        </p:txBody>
      </p:sp>
      <p:sp>
        <p:nvSpPr>
          <p:cNvPr id="4" name="Date Placeholder 3"/>
          <p:cNvSpPr>
            <a:spLocks noGrp="1"/>
          </p:cNvSpPr>
          <p:nvPr>
            <p:ph type="dt" sz="half" idx="10"/>
          </p:nvPr>
        </p:nvSpPr>
        <p:spPr/>
        <p:txBody>
          <a:bodyPr/>
          <a:lstStyle/>
          <a:p>
            <a:fld id="{7921004A-F2A1-4A5F-8CF1-9CB1E96F2FFB}" type="datetime13">
              <a:rPr lang="en-US" smtClean="0"/>
              <a:pPr/>
              <a:t>11:23:12 PM</a:t>
            </a:fld>
            <a:endParaRPr lang="en-US"/>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762000"/>
          </a:xfrm>
        </p:spPr>
        <p:txBody>
          <a:bodyPr>
            <a:normAutofit/>
          </a:bodyPr>
          <a:lstStyle/>
          <a:p>
            <a:pPr algn="l"/>
            <a:r>
              <a:rPr lang="en-US" b="1" dirty="0" smtClean="0"/>
              <a:t>BARRIERS TO ENTRY</a:t>
            </a:r>
            <a:endParaRPr lang="en-US" dirty="0"/>
          </a:p>
        </p:txBody>
      </p:sp>
      <p:sp>
        <p:nvSpPr>
          <p:cNvPr id="3" name="Content Placeholder 2"/>
          <p:cNvSpPr>
            <a:spLocks noGrp="1"/>
          </p:cNvSpPr>
          <p:nvPr>
            <p:ph idx="1"/>
          </p:nvPr>
        </p:nvSpPr>
        <p:spPr>
          <a:xfrm>
            <a:off x="152400" y="1905000"/>
            <a:ext cx="8915400" cy="4419600"/>
          </a:xfrm>
        </p:spPr>
        <p:txBody>
          <a:bodyPr>
            <a:normAutofit/>
          </a:bodyPr>
          <a:lstStyle/>
          <a:p>
            <a:pPr lvl="0"/>
            <a:r>
              <a:rPr lang="en-US" sz="3600" dirty="0" smtClean="0"/>
              <a:t>Def: circumstances that prevent or greatly impede a potential competitor's entry into the market or ability to compete in the market.</a:t>
            </a:r>
          </a:p>
          <a:p>
            <a:pPr lvl="0"/>
            <a:r>
              <a:rPr lang="en-US" sz="3600" dirty="0" smtClean="0"/>
              <a:t>Barriers may either be</a:t>
            </a:r>
          </a:p>
          <a:p>
            <a:pPr lvl="1"/>
            <a:r>
              <a:rPr lang="en-US" sz="3200" dirty="0" smtClean="0"/>
              <a:t> Economic </a:t>
            </a:r>
          </a:p>
          <a:p>
            <a:pPr lvl="1"/>
            <a:r>
              <a:rPr lang="en-US" sz="3200" dirty="0" smtClean="0"/>
              <a:t>Legal</a:t>
            </a:r>
          </a:p>
          <a:p>
            <a:endParaRPr lang="en-US" sz="3600" dirty="0" smtClean="0"/>
          </a:p>
        </p:txBody>
      </p:sp>
      <p:sp>
        <p:nvSpPr>
          <p:cNvPr id="7" name="Date Placeholder 6"/>
          <p:cNvSpPr>
            <a:spLocks noGrp="1"/>
          </p:cNvSpPr>
          <p:nvPr>
            <p:ph type="dt" sz="half" idx="10"/>
          </p:nvPr>
        </p:nvSpPr>
        <p:spPr/>
        <p:txBody>
          <a:bodyPr/>
          <a:lstStyle/>
          <a:p>
            <a:fld id="{5C3B7AD7-5B05-4B3F-B7C9-C999B5BD1F76}" type="datetime13">
              <a:rPr lang="en-US" smtClean="0"/>
              <a:pPr/>
              <a:t>11:23:12 PM</a:t>
            </a:fld>
            <a:endParaRPr lang="en-US"/>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par>
                                <p:cTn id="13" presetID="22" presetClass="entr" presetSubtype="4"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down)">
                                      <p:cBhvr>
                                        <p:cTn id="15" dur="500"/>
                                        <p:tgtEl>
                                          <p:spTgt spid="3">
                                            <p:txEl>
                                              <p:pRg st="2" end="2"/>
                                            </p:txEl>
                                          </p:spTgt>
                                        </p:tgtEl>
                                      </p:cBhvr>
                                    </p:animEffect>
                                  </p:childTnLst>
                                </p:cTn>
                              </p:par>
                              <p:par>
                                <p:cTn id="16" presetID="22" presetClass="entr" presetSubtype="4" fill="hold" grpId="0"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wipe(down)">
                                      <p:cBhvr>
                                        <p:cTn id="18" dur="500"/>
                                        <p:tgtEl>
                                          <p:spTgt spid="3">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6" presetClass="emph" presetSubtype="0" fill="hold" nodeType="clickEffect">
                                  <p:stCondLst>
                                    <p:cond delay="0"/>
                                  </p:stCondLst>
                                  <p:childTnLst>
                                    <p:animScale>
                                      <p:cBhvr>
                                        <p:cTn id="22" dur="2000" fill="hold"/>
                                        <p:tgtEl>
                                          <p:spTgt spid="3">
                                            <p:txEl>
                                              <p:pRg st="2" end="2"/>
                                            </p:txEl>
                                          </p:spTgt>
                                        </p:tgtEl>
                                      </p:cBhvr>
                                      <p:by x="150000" y="150000"/>
                                    </p:animScale>
                                  </p:childTnLst>
                                </p:cTn>
                              </p:par>
                            </p:childTnLst>
                          </p:cTn>
                        </p:par>
                      </p:childTnLst>
                    </p:cTn>
                  </p:par>
                  <p:par>
                    <p:cTn id="23" fill="hold">
                      <p:stCondLst>
                        <p:cond delay="indefinite"/>
                      </p:stCondLst>
                      <p:childTnLst>
                        <p:par>
                          <p:cTn id="24" fill="hold">
                            <p:stCondLst>
                              <p:cond delay="0"/>
                            </p:stCondLst>
                            <p:childTnLst>
                              <p:par>
                                <p:cTn id="25" presetID="5" presetClass="emph" presetSubtype="1" nodeType="clickEffect">
                                  <p:stCondLst>
                                    <p:cond delay="0"/>
                                  </p:stCondLst>
                                  <p:childTnLst>
                                    <p:set>
                                      <p:cBhvr override="childStyle">
                                        <p:cTn id="26" dur="indefinite"/>
                                        <p:tgtEl>
                                          <p:spTgt spid="3">
                                            <p:txEl>
                                              <p:pRg st="3" end="3"/>
                                            </p:txEl>
                                          </p:spTgt>
                                        </p:tgtEl>
                                        <p:attrNameLst>
                                          <p:attrName>style.fontStyle</p:attrName>
                                        </p:attrNameLst>
                                      </p:cBhvr>
                                      <p:to>
                                        <p:strVal val="normal"/>
                                      </p:to>
                                    </p:set>
                                    <p:set>
                                      <p:cBhvr override="childStyle">
                                        <p:cTn id="27" dur="indefinite"/>
                                        <p:tgtEl>
                                          <p:spTgt spid="3">
                                            <p:txEl>
                                              <p:pRg st="3" end="3"/>
                                            </p:txEl>
                                          </p:spTgt>
                                        </p:tgtEl>
                                        <p:attrNameLst>
                                          <p:attrName>style.fontWeight</p:attrName>
                                        </p:attrNameLst>
                                      </p:cBhvr>
                                      <p:to>
                                        <p:strVal val="bold"/>
                                      </p:to>
                                    </p:set>
                                    <p:set>
                                      <p:cBhvr override="childStyle">
                                        <p:cTn id="28" dur="indefinite"/>
                                        <p:tgtEl>
                                          <p:spTgt spid="3">
                                            <p:txEl>
                                              <p:pRg st="3" end="3"/>
                                            </p:txEl>
                                          </p:spTgt>
                                        </p:tgtEl>
                                        <p:attrNameLst>
                                          <p:attrName>style.textDecorationUnderline</p:attrName>
                                        </p:attrNameLst>
                                      </p:cBhvr>
                                      <p:to>
                                        <p:strVal val="false"/>
                                      </p:to>
                                    </p:set>
                                  </p:childTnLst>
                                </p:cTn>
                              </p:par>
                            </p:childTnLst>
                          </p:cTn>
                        </p:par>
                      </p:childTnLst>
                    </p:cTn>
                  </p:par>
                  <p:par>
                    <p:cTn id="29" fill="hold">
                      <p:stCondLst>
                        <p:cond delay="indefinite"/>
                      </p:stCondLst>
                      <p:childTnLst>
                        <p:par>
                          <p:cTn id="30" fill="hold">
                            <p:stCondLst>
                              <p:cond delay="0"/>
                            </p:stCondLst>
                            <p:childTnLst>
                              <p:par>
                                <p:cTn id="31" presetID="6" presetClass="emph" presetSubtype="0" fill="hold" nodeType="clickEffect">
                                  <p:stCondLst>
                                    <p:cond delay="0"/>
                                  </p:stCondLst>
                                  <p:childTnLst>
                                    <p:animScale>
                                      <p:cBhvr>
                                        <p:cTn id="32" dur="2000" fill="hold"/>
                                        <p:tgtEl>
                                          <p:spTgt spid="3">
                                            <p:txEl>
                                              <p:pRg st="3" end="3"/>
                                            </p:txEl>
                                          </p:spTgt>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noAutofit/>
          </a:bodyPr>
          <a:lstStyle/>
          <a:p>
            <a:r>
              <a:rPr lang="en-US" sz="4000" dirty="0" smtClean="0"/>
              <a:t>ECONOMIC BARRIERS</a:t>
            </a:r>
          </a:p>
        </p:txBody>
      </p:sp>
      <p:sp>
        <p:nvSpPr>
          <p:cNvPr id="5" name="Content Placeholder 4"/>
          <p:cNvSpPr>
            <a:spLocks noGrp="1"/>
          </p:cNvSpPr>
          <p:nvPr>
            <p:ph idx="1"/>
          </p:nvPr>
        </p:nvSpPr>
        <p:spPr>
          <a:xfrm>
            <a:off x="0" y="1981200"/>
            <a:ext cx="9067800" cy="4374360"/>
          </a:xfrm>
        </p:spPr>
        <p:txBody>
          <a:bodyPr>
            <a:noAutofit/>
          </a:bodyPr>
          <a:lstStyle/>
          <a:p>
            <a:pPr lvl="0"/>
            <a:r>
              <a:rPr lang="en-US" sz="2800" b="1" dirty="0" smtClean="0"/>
              <a:t>Economies of Scale </a:t>
            </a:r>
            <a:r>
              <a:rPr lang="en-US" sz="2800" dirty="0" smtClean="0"/>
              <a:t>: Some products can only be produced efficiently only in large capital intensive production facilities. </a:t>
            </a:r>
          </a:p>
          <a:p>
            <a:pPr lvl="0"/>
            <a:r>
              <a:rPr lang="en-US" sz="2800" b="1" dirty="0" smtClean="0"/>
              <a:t>Ownership of scarce factor</a:t>
            </a:r>
            <a:r>
              <a:rPr lang="en-US" sz="2800" dirty="0" smtClean="0"/>
              <a:t> of production </a:t>
            </a:r>
            <a:r>
              <a:rPr lang="en-US" sz="2800" dirty="0" err="1" smtClean="0"/>
              <a:t>e.g.mining</a:t>
            </a:r>
            <a:endParaRPr lang="en-US" sz="2800" dirty="0" smtClean="0"/>
          </a:p>
          <a:p>
            <a:pPr lvl="0"/>
            <a:r>
              <a:rPr lang="en-US" sz="2800" b="1" dirty="0" smtClean="0"/>
              <a:t>Technological superiority</a:t>
            </a:r>
            <a:r>
              <a:rPr lang="en-US" sz="2800" dirty="0" smtClean="0"/>
              <a:t>: A monopoly may be better able to acquire, integrate and use the best possible technology in producing its goods while entrants do not have the size or financial muscle to use the best available technology</a:t>
            </a:r>
          </a:p>
          <a:p>
            <a:pPr>
              <a:buNone/>
            </a:pPr>
            <a:r>
              <a:rPr lang="en-US" sz="2800" dirty="0" smtClean="0"/>
              <a:t> </a:t>
            </a:r>
          </a:p>
        </p:txBody>
      </p:sp>
      <p:sp>
        <p:nvSpPr>
          <p:cNvPr id="7" name="Date Placeholder 6"/>
          <p:cNvSpPr>
            <a:spLocks noGrp="1"/>
          </p:cNvSpPr>
          <p:nvPr>
            <p:ph type="dt" sz="half" idx="10"/>
          </p:nvPr>
        </p:nvSpPr>
        <p:spPr/>
        <p:txBody>
          <a:bodyPr/>
          <a:lstStyle/>
          <a:p>
            <a:fld id="{C4EBF9E1-5DB3-4256-90AB-FB7ED3C516E3}" type="datetime13">
              <a:rPr lang="en-US" smtClean="0"/>
              <a:pPr/>
              <a:t>11:23:12 PM</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down)">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wipe(down)">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wipe(down)">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wipe(down)">
                                      <p:cBhvr>
                                        <p:cTn id="22" dur="500"/>
                                        <p:tgtEl>
                                          <p:spTgt spid="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50938" y="214313"/>
            <a:ext cx="7793037" cy="1004887"/>
          </a:xfrm>
        </p:spPr>
        <p:txBody>
          <a:bodyPr>
            <a:normAutofit/>
          </a:bodyPr>
          <a:lstStyle/>
          <a:p>
            <a:r>
              <a:rPr lang="en-US" sz="4400" dirty="0" smtClean="0"/>
              <a:t>LEGAL BARRIERS</a:t>
            </a:r>
            <a:endParaRPr lang="en-US" dirty="0"/>
          </a:p>
        </p:txBody>
      </p:sp>
      <p:sp>
        <p:nvSpPr>
          <p:cNvPr id="3" name="Content Placeholder 2"/>
          <p:cNvSpPr>
            <a:spLocks noGrp="1"/>
          </p:cNvSpPr>
          <p:nvPr>
            <p:ph idx="1"/>
          </p:nvPr>
        </p:nvSpPr>
        <p:spPr>
          <a:xfrm>
            <a:off x="152400" y="1981200"/>
            <a:ext cx="9220200" cy="4374360"/>
          </a:xfrm>
        </p:spPr>
        <p:txBody>
          <a:bodyPr>
            <a:normAutofit lnSpcReduction="10000"/>
          </a:bodyPr>
          <a:lstStyle/>
          <a:p>
            <a:pPr lvl="0"/>
            <a:r>
              <a:rPr lang="en-US" sz="4000" b="1" dirty="0" smtClean="0"/>
              <a:t>Government franchises </a:t>
            </a:r>
            <a:r>
              <a:rPr lang="en-US" sz="4000" dirty="0" smtClean="0"/>
              <a:t>– monopoly by government directive e.g. provision of public utility e.g. KPLC,water provision</a:t>
            </a:r>
          </a:p>
          <a:p>
            <a:pPr lvl="0"/>
            <a:r>
              <a:rPr lang="en-US" sz="4000" b="1" dirty="0" smtClean="0"/>
              <a:t>Patents</a:t>
            </a:r>
            <a:r>
              <a:rPr lang="en-US" sz="4000" dirty="0" smtClean="0"/>
              <a:t> – a barrier to entry that grants exclusive use of the patented products or process to the inventor.</a:t>
            </a:r>
          </a:p>
          <a:p>
            <a:endParaRPr lang="en-US" dirty="0"/>
          </a:p>
        </p:txBody>
      </p:sp>
      <p:sp>
        <p:nvSpPr>
          <p:cNvPr id="4" name="Date Placeholder 3"/>
          <p:cNvSpPr>
            <a:spLocks noGrp="1"/>
          </p:cNvSpPr>
          <p:nvPr>
            <p:ph type="dt" sz="half" idx="10"/>
          </p:nvPr>
        </p:nvSpPr>
        <p:spPr/>
        <p:txBody>
          <a:bodyPr/>
          <a:lstStyle/>
          <a:p>
            <a:fld id="{7921004A-F2A1-4A5F-8CF1-9CB1E96F2FFB}" type="datetime13">
              <a:rPr lang="en-US" smtClean="0"/>
              <a:pPr/>
              <a:t>11:23:12 PM</a:t>
            </a:fld>
            <a:endParaRPr lang="en-US"/>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lvl="0"/>
            <a:r>
              <a:rPr lang="en-US" dirty="0" smtClean="0"/>
              <a:t>MONOPOLISTIC COMPETITION </a:t>
            </a:r>
            <a:br>
              <a:rPr lang="en-US" dirty="0" smtClean="0"/>
            </a:br>
            <a:endParaRPr lang="en-US" dirty="0"/>
          </a:p>
        </p:txBody>
      </p:sp>
      <p:sp>
        <p:nvSpPr>
          <p:cNvPr id="3" name="Content Placeholder 2"/>
          <p:cNvSpPr>
            <a:spLocks noGrp="1"/>
          </p:cNvSpPr>
          <p:nvPr>
            <p:ph idx="1"/>
          </p:nvPr>
        </p:nvSpPr>
        <p:spPr>
          <a:xfrm>
            <a:off x="152400" y="1828800"/>
            <a:ext cx="8915400" cy="5029200"/>
          </a:xfrm>
        </p:spPr>
        <p:txBody>
          <a:bodyPr>
            <a:noAutofit/>
          </a:bodyPr>
          <a:lstStyle/>
          <a:p>
            <a:r>
              <a:rPr lang="en-US" dirty="0" smtClean="0"/>
              <a:t>Formulated by the Seminal work, “</a:t>
            </a:r>
            <a:r>
              <a:rPr lang="en-US" i="1" dirty="0" smtClean="0">
                <a:solidFill>
                  <a:srgbClr val="FF0000"/>
                </a:solidFill>
              </a:rPr>
              <a:t>Theory of Monopolistic Competition</a:t>
            </a:r>
            <a:r>
              <a:rPr lang="en-US" dirty="0" smtClean="0"/>
              <a:t>” </a:t>
            </a:r>
            <a:r>
              <a:rPr lang="en-US" dirty="0"/>
              <a:t>by Chamberlain </a:t>
            </a:r>
            <a:r>
              <a:rPr lang="en-US" dirty="0" smtClean="0"/>
              <a:t>E.H..(1932).</a:t>
            </a:r>
          </a:p>
          <a:p>
            <a:r>
              <a:rPr lang="en-US" dirty="0" smtClean="0"/>
              <a:t>is a form of imperfect competition where many competing producers sell products that are </a:t>
            </a:r>
            <a:r>
              <a:rPr lang="en-US" dirty="0" smtClean="0">
                <a:solidFill>
                  <a:srgbClr val="FF0000"/>
                </a:solidFill>
              </a:rPr>
              <a:t>differentiated</a:t>
            </a:r>
            <a:r>
              <a:rPr lang="en-US" dirty="0" smtClean="0"/>
              <a:t> from one another (that is, the products are substitutes, but, with differences such as branding, are not exactly alike).</a:t>
            </a:r>
            <a:endParaRPr lang="en-US" dirty="0"/>
          </a:p>
        </p:txBody>
      </p:sp>
      <p:sp>
        <p:nvSpPr>
          <p:cNvPr id="4" name="Date Placeholder 3"/>
          <p:cNvSpPr>
            <a:spLocks noGrp="1"/>
          </p:cNvSpPr>
          <p:nvPr>
            <p:ph type="dt" sz="half" idx="10"/>
          </p:nvPr>
        </p:nvSpPr>
        <p:spPr/>
        <p:txBody>
          <a:bodyPr/>
          <a:lstStyle/>
          <a:p>
            <a:fld id="{7921004A-F2A1-4A5F-8CF1-9CB1E96F2FFB}" type="datetime13">
              <a:rPr lang="en-US" smtClean="0"/>
              <a:pPr/>
              <a:t>11:23:12 PM</a:t>
            </a:fld>
            <a:endParaRPr lang="en-US"/>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0"/>
            <a:ext cx="7793037" cy="928687"/>
          </a:xfrm>
        </p:spPr>
        <p:txBody>
          <a:bodyPr/>
          <a:lstStyle/>
          <a:p>
            <a:r>
              <a:rPr lang="en-US" dirty="0" smtClean="0"/>
              <a:t>Product Differentiation</a:t>
            </a:r>
            <a:endParaRPr lang="en-US" dirty="0"/>
          </a:p>
        </p:txBody>
      </p:sp>
      <p:sp>
        <p:nvSpPr>
          <p:cNvPr id="3" name="Content Placeholder 2"/>
          <p:cNvSpPr>
            <a:spLocks noGrp="1"/>
          </p:cNvSpPr>
          <p:nvPr>
            <p:ph idx="1"/>
          </p:nvPr>
        </p:nvSpPr>
        <p:spPr>
          <a:xfrm>
            <a:off x="228599" y="1676400"/>
            <a:ext cx="8707437" cy="4679160"/>
          </a:xfrm>
        </p:spPr>
        <p:txBody>
          <a:bodyPr>
            <a:normAutofit/>
          </a:bodyPr>
          <a:lstStyle/>
          <a:p>
            <a:r>
              <a:rPr lang="en-US" sz="3200" dirty="0" smtClean="0"/>
              <a:t>– </a:t>
            </a:r>
            <a:r>
              <a:rPr lang="en-US" sz="3600" dirty="0" smtClean="0"/>
              <a:t>is a strategy that firms use to achieve market power and which is accomplished by firms producing goods and services that are </a:t>
            </a:r>
            <a:r>
              <a:rPr lang="en-US" sz="3600" i="1" dirty="0" smtClean="0">
                <a:solidFill>
                  <a:srgbClr val="FF0000"/>
                </a:solidFill>
              </a:rPr>
              <a:t>distinctive</a:t>
            </a:r>
            <a:r>
              <a:rPr lang="en-US" sz="3600" dirty="0" smtClean="0"/>
              <a:t>, and provide a </a:t>
            </a:r>
            <a:r>
              <a:rPr lang="en-US" sz="3600" i="1" dirty="0" smtClean="0">
                <a:solidFill>
                  <a:srgbClr val="FF0000"/>
                </a:solidFill>
              </a:rPr>
              <a:t>positive identity(attribute)</a:t>
            </a:r>
            <a:r>
              <a:rPr lang="en-US" sz="3600" dirty="0" smtClean="0">
                <a:solidFill>
                  <a:srgbClr val="FFFF00"/>
                </a:solidFill>
              </a:rPr>
              <a:t> </a:t>
            </a:r>
            <a:r>
              <a:rPr lang="en-US" sz="3600" dirty="0" smtClean="0"/>
              <a:t>in consumers’ mind.</a:t>
            </a:r>
          </a:p>
          <a:p>
            <a:r>
              <a:rPr lang="en-US" sz="3600" dirty="0" smtClean="0"/>
              <a:t>achieved through advertising.</a:t>
            </a:r>
          </a:p>
          <a:p>
            <a:endParaRPr lang="en-US" dirty="0"/>
          </a:p>
        </p:txBody>
      </p:sp>
      <p:sp>
        <p:nvSpPr>
          <p:cNvPr id="4" name="Date Placeholder 3"/>
          <p:cNvSpPr>
            <a:spLocks noGrp="1"/>
          </p:cNvSpPr>
          <p:nvPr>
            <p:ph type="dt" sz="half" idx="10"/>
          </p:nvPr>
        </p:nvSpPr>
        <p:spPr/>
        <p:txBody>
          <a:bodyPr/>
          <a:lstStyle/>
          <a:p>
            <a:fld id="{7921004A-F2A1-4A5F-8CF1-9CB1E96F2FFB}" type="datetime13">
              <a:rPr lang="en-US" smtClean="0"/>
              <a:pPr/>
              <a:t>11:23:12 PM</a:t>
            </a:fld>
            <a:endParaRPr lang="en-US"/>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512064"/>
            <a:ext cx="8458200" cy="914400"/>
          </a:xfrm>
        </p:spPr>
        <p:txBody>
          <a:bodyPr>
            <a:normAutofit fontScale="90000"/>
          </a:bodyPr>
          <a:lstStyle/>
          <a:p>
            <a:r>
              <a:rPr lang="en-US" dirty="0" smtClean="0"/>
              <a:t>MONOPOLISTIC COMPETITION </a:t>
            </a:r>
            <a:r>
              <a:rPr lang="en-US" sz="2700" i="1" dirty="0" smtClean="0"/>
              <a:t>x-</a:t>
            </a:r>
            <a:r>
              <a:rPr lang="en-US" sz="2700" i="1" dirty="0" err="1" smtClean="0"/>
              <a:t>stics</a:t>
            </a:r>
            <a:endParaRPr lang="en-US" sz="2700" i="1" dirty="0"/>
          </a:p>
        </p:txBody>
      </p:sp>
      <p:sp>
        <p:nvSpPr>
          <p:cNvPr id="4" name="Content Placeholder 3"/>
          <p:cNvSpPr>
            <a:spLocks noGrp="1"/>
          </p:cNvSpPr>
          <p:nvPr>
            <p:ph idx="1"/>
          </p:nvPr>
        </p:nvSpPr>
        <p:spPr>
          <a:xfrm>
            <a:off x="381000" y="1905000"/>
            <a:ext cx="8385048" cy="4648200"/>
          </a:xfrm>
        </p:spPr>
        <p:txBody>
          <a:bodyPr>
            <a:normAutofit fontScale="85000" lnSpcReduction="10000"/>
          </a:bodyPr>
          <a:lstStyle/>
          <a:p>
            <a:pPr lvl="0"/>
            <a:r>
              <a:rPr lang="en-US" sz="4300" dirty="0" smtClean="0"/>
              <a:t>firms take the prices charged by its rival as given but ignore the impact of its own prices on the prices of other firms(</a:t>
            </a:r>
            <a:r>
              <a:rPr lang="en-US" sz="4300" dirty="0" smtClean="0">
                <a:solidFill>
                  <a:srgbClr val="FF0000"/>
                </a:solidFill>
              </a:rPr>
              <a:t>Unlike oligopolies</a:t>
            </a:r>
            <a:r>
              <a:rPr lang="en-US" sz="4300" dirty="0" smtClean="0"/>
              <a:t>).</a:t>
            </a:r>
          </a:p>
          <a:p>
            <a:r>
              <a:rPr lang="en-US" sz="4300" dirty="0" smtClean="0"/>
              <a:t>There are many producers and many consumers in a given market, and no business has total control over the market price (</a:t>
            </a:r>
            <a:r>
              <a:rPr lang="en-US" sz="4300" dirty="0" smtClean="0">
                <a:solidFill>
                  <a:srgbClr val="FF0000"/>
                </a:solidFill>
              </a:rPr>
              <a:t>Unlike monopolies</a:t>
            </a:r>
            <a:r>
              <a:rPr lang="en-US" sz="4300" dirty="0" smtClean="0"/>
              <a:t>).</a:t>
            </a:r>
          </a:p>
          <a:p>
            <a:pPr lvl="0"/>
            <a:endParaRPr lang="en-US" dirty="0"/>
          </a:p>
        </p:txBody>
      </p:sp>
      <p:sp>
        <p:nvSpPr>
          <p:cNvPr id="3" name="Date Placeholder 2"/>
          <p:cNvSpPr>
            <a:spLocks noGrp="1"/>
          </p:cNvSpPr>
          <p:nvPr>
            <p:ph type="dt" sz="half" idx="10"/>
          </p:nvPr>
        </p:nvSpPr>
        <p:spPr>
          <a:xfrm>
            <a:off x="5592691" y="6172200"/>
            <a:ext cx="2057400" cy="381000"/>
          </a:xfrm>
        </p:spPr>
        <p:txBody>
          <a:bodyPr/>
          <a:lstStyle/>
          <a:p>
            <a:fld id="{7921004A-F2A1-4A5F-8CF1-9CB1E96F2FFB}" type="datetime13">
              <a:rPr lang="en-US" smtClean="0"/>
              <a:pPr/>
              <a:t>11:23:12 PM</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down)">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wipe(down)">
                                      <p:cBhvr>
                                        <p:cTn id="12" dur="500"/>
                                        <p:tgtEl>
                                          <p:spTgt spid="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228600"/>
            <a:ext cx="8610600" cy="838200"/>
          </a:xfrm>
        </p:spPr>
        <p:txBody>
          <a:bodyPr>
            <a:normAutofit fontScale="90000"/>
          </a:bodyPr>
          <a:lstStyle/>
          <a:p>
            <a:r>
              <a:rPr lang="en-US" dirty="0" smtClean="0"/>
              <a:t>MONOPOLISTIC COMPETITION </a:t>
            </a:r>
            <a:r>
              <a:rPr lang="en-US" sz="2700" i="1" dirty="0" smtClean="0"/>
              <a:t>x-</a:t>
            </a:r>
            <a:r>
              <a:rPr lang="en-US" sz="2700" i="1" dirty="0" err="1" smtClean="0"/>
              <a:t>stics</a:t>
            </a:r>
            <a:endParaRPr lang="en-US" sz="2700" i="1" dirty="0"/>
          </a:p>
        </p:txBody>
      </p:sp>
      <p:sp>
        <p:nvSpPr>
          <p:cNvPr id="4" name="Content Placeholder 3"/>
          <p:cNvSpPr>
            <a:spLocks noGrp="1"/>
          </p:cNvSpPr>
          <p:nvPr>
            <p:ph idx="1"/>
          </p:nvPr>
        </p:nvSpPr>
        <p:spPr>
          <a:xfrm>
            <a:off x="304800" y="2057400"/>
            <a:ext cx="8382000" cy="4298160"/>
          </a:xfrm>
        </p:spPr>
        <p:txBody>
          <a:bodyPr>
            <a:noAutofit/>
          </a:bodyPr>
          <a:lstStyle/>
          <a:p>
            <a:r>
              <a:rPr lang="en-US" sz="4000" dirty="0" smtClean="0"/>
              <a:t>Consumers perceive that there are non-price differences among the competitors' products.</a:t>
            </a:r>
          </a:p>
          <a:p>
            <a:r>
              <a:rPr lang="en-US" sz="4000" dirty="0" smtClean="0"/>
              <a:t> Distinction will be </a:t>
            </a:r>
            <a:r>
              <a:rPr lang="en-US" sz="4000" dirty="0" err="1" smtClean="0"/>
              <a:t>w.r.t</a:t>
            </a:r>
            <a:r>
              <a:rPr lang="en-US" sz="4000" dirty="0" smtClean="0"/>
              <a:t> type, style, quality, reputation, appearance, and location.</a:t>
            </a:r>
          </a:p>
          <a:p>
            <a:endParaRPr lang="en-US" sz="4000" dirty="0"/>
          </a:p>
        </p:txBody>
      </p:sp>
      <p:sp>
        <p:nvSpPr>
          <p:cNvPr id="3" name="Date Placeholder 2"/>
          <p:cNvSpPr>
            <a:spLocks noGrp="1"/>
          </p:cNvSpPr>
          <p:nvPr>
            <p:ph type="dt" sz="half" idx="10"/>
          </p:nvPr>
        </p:nvSpPr>
        <p:spPr/>
        <p:txBody>
          <a:bodyPr/>
          <a:lstStyle/>
          <a:p>
            <a:fld id="{7921004A-F2A1-4A5F-8CF1-9CB1E96F2FFB}" type="datetime13">
              <a:rPr lang="en-US" smtClean="0"/>
              <a:pPr/>
              <a:t>11:23:12 PM</a:t>
            </a:fld>
            <a:endParaRPr lang="en-US" dirty="0"/>
          </a:p>
        </p:txBody>
      </p:sp>
    </p:spTree>
  </p:cSld>
  <p:clrMapOvr>
    <a:masterClrMapping/>
  </p:clrMapOvr>
  <p:transition>
    <p:zoom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xEl>
                                              <p:pRg st="1" end="1"/>
                                            </p:txEl>
                                          </p:spTgt>
                                        </p:tgtEl>
                                        <p:attrNameLst>
                                          <p:attrName>style.visibility</p:attrName>
                                        </p:attrNameLst>
                                      </p:cBhvr>
                                      <p:to>
                                        <p:strVal val="visible"/>
                                      </p:to>
                                    </p:set>
                                    <p:anim calcmode="lin" valueType="num">
                                      <p:cBhvr additive="base">
                                        <p:cTn id="13"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214313"/>
            <a:ext cx="8382000" cy="1309687"/>
          </a:xfrm>
        </p:spPr>
        <p:txBody>
          <a:bodyPr>
            <a:normAutofit/>
          </a:bodyPr>
          <a:lstStyle/>
          <a:p>
            <a:r>
              <a:rPr lang="en-US" dirty="0" smtClean="0"/>
              <a:t>MONOPOLISTIC COMPETITION </a:t>
            </a:r>
            <a:r>
              <a:rPr lang="en-US" sz="2400" i="1" dirty="0" smtClean="0"/>
              <a:t>x-</a:t>
            </a:r>
            <a:r>
              <a:rPr lang="en-US" sz="2400" i="1" dirty="0" err="1" smtClean="0"/>
              <a:t>stics</a:t>
            </a:r>
            <a:endParaRPr lang="en-US" sz="2400" i="1" dirty="0"/>
          </a:p>
        </p:txBody>
      </p:sp>
      <p:sp>
        <p:nvSpPr>
          <p:cNvPr id="4" name="Content Placeholder 3"/>
          <p:cNvSpPr>
            <a:spLocks noGrp="1"/>
          </p:cNvSpPr>
          <p:nvPr>
            <p:ph idx="1"/>
          </p:nvPr>
        </p:nvSpPr>
        <p:spPr>
          <a:xfrm>
            <a:off x="304800" y="2209800"/>
            <a:ext cx="8650288" cy="3922713"/>
          </a:xfrm>
          <a:noFill/>
        </p:spPr>
        <p:txBody>
          <a:bodyPr/>
          <a:lstStyle/>
          <a:p>
            <a:r>
              <a:rPr lang="en-US" sz="4000" dirty="0" smtClean="0"/>
              <a:t>Perfect information.</a:t>
            </a:r>
          </a:p>
          <a:p>
            <a:r>
              <a:rPr lang="en-US" sz="4000" dirty="0" smtClean="0"/>
              <a:t>There are few barriers to entry and exit.</a:t>
            </a:r>
          </a:p>
          <a:p>
            <a:r>
              <a:rPr lang="en-US" sz="4000" dirty="0" smtClean="0"/>
              <a:t>Producers have a degree of control over price.</a:t>
            </a:r>
          </a:p>
          <a:p>
            <a:endParaRPr lang="en-US" dirty="0"/>
          </a:p>
        </p:txBody>
      </p:sp>
      <p:sp>
        <p:nvSpPr>
          <p:cNvPr id="3" name="Date Placeholder 2"/>
          <p:cNvSpPr>
            <a:spLocks noGrp="1"/>
          </p:cNvSpPr>
          <p:nvPr>
            <p:ph type="dt" sz="half" idx="10"/>
          </p:nvPr>
        </p:nvSpPr>
        <p:spPr/>
        <p:txBody>
          <a:bodyPr/>
          <a:lstStyle/>
          <a:p>
            <a:fld id="{7921004A-F2A1-4A5F-8CF1-9CB1E96F2FFB}" type="datetime13">
              <a:rPr lang="en-US" sz="2400" smtClean="0"/>
              <a:pPr/>
              <a:t>11:23:12 PM</a:t>
            </a:fld>
            <a:endParaRPr lang="en-US" sz="2400" dirty="0"/>
          </a:p>
        </p:txBody>
      </p:sp>
    </p:spTree>
  </p:cSld>
  <p:clrMapOvr>
    <a:masterClrMapping/>
  </p:clrMapOvr>
  <p:transition>
    <p:newsfla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20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20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INEFFICENCY IN MC MARKETS</a:t>
            </a:r>
            <a:endParaRPr lang="en-US" dirty="0"/>
          </a:p>
        </p:txBody>
      </p:sp>
      <p:sp>
        <p:nvSpPr>
          <p:cNvPr id="4" name="Content Placeholder 3"/>
          <p:cNvSpPr>
            <a:spLocks noGrp="1"/>
          </p:cNvSpPr>
          <p:nvPr>
            <p:ph idx="1"/>
          </p:nvPr>
        </p:nvSpPr>
        <p:spPr>
          <a:xfrm>
            <a:off x="533400" y="1828800"/>
            <a:ext cx="8153400" cy="4526760"/>
          </a:xfrm>
        </p:spPr>
        <p:txBody>
          <a:bodyPr>
            <a:normAutofit/>
          </a:bodyPr>
          <a:lstStyle/>
          <a:p>
            <a:r>
              <a:rPr lang="en-US" sz="4000" dirty="0" smtClean="0"/>
              <a:t>Due to:</a:t>
            </a:r>
          </a:p>
          <a:p>
            <a:pPr lvl="2"/>
            <a:r>
              <a:rPr lang="en-US" sz="3400" dirty="0" smtClean="0"/>
              <a:t>Advertising distorting the price mechanism.-thro creation of brand names.</a:t>
            </a:r>
          </a:p>
          <a:p>
            <a:pPr lvl="2"/>
            <a:r>
              <a:rPr lang="en-US" sz="3400" dirty="0" smtClean="0"/>
              <a:t>High transaction costs compared to other market structures.</a:t>
            </a:r>
          </a:p>
          <a:p>
            <a:pPr lvl="2"/>
            <a:r>
              <a:rPr lang="en-US" sz="3400" dirty="0" smtClean="0"/>
              <a:t>P&lt;MC in the long run.</a:t>
            </a:r>
            <a:endParaRPr lang="en-US" sz="3400" dirty="0"/>
          </a:p>
        </p:txBody>
      </p:sp>
      <p:sp>
        <p:nvSpPr>
          <p:cNvPr id="3" name="Date Placeholder 2"/>
          <p:cNvSpPr>
            <a:spLocks noGrp="1"/>
          </p:cNvSpPr>
          <p:nvPr>
            <p:ph type="dt" sz="half" idx="10"/>
          </p:nvPr>
        </p:nvSpPr>
        <p:spPr/>
        <p:txBody>
          <a:bodyPr/>
          <a:lstStyle/>
          <a:p>
            <a:fld id="{7921004A-F2A1-4A5F-8CF1-9CB1E96F2FFB}" type="datetime13">
              <a:rPr lang="en-US" smtClean="0"/>
              <a:pPr/>
              <a:t>11:23:12 PM</a:t>
            </a:fld>
            <a:endParaRPr lang="en-US"/>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down)">
                                      <p:cBhvr>
                                        <p:cTn id="7" dur="500"/>
                                        <p:tgtEl>
                                          <p:spTgt spid="4">
                                            <p:txEl>
                                              <p:pRg st="0" end="0"/>
                                            </p:txEl>
                                          </p:spTgt>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4">
                                            <p:txEl>
                                              <p:pRg st="1" end="1"/>
                                            </p:txEl>
                                          </p:spTgt>
                                        </p:tgtEl>
                                        <p:attrNameLst>
                                          <p:attrName>style.visibility</p:attrName>
                                        </p:attrNameLst>
                                      </p:cBhvr>
                                      <p:to>
                                        <p:strVal val="visible"/>
                                      </p:to>
                                    </p:set>
                                    <p:animEffect transition="in" filter="wipe(down)">
                                      <p:cBhvr>
                                        <p:cTn id="10" dur="500"/>
                                        <p:tgtEl>
                                          <p:spTgt spid="4">
                                            <p:txEl>
                                              <p:pRg st="1" end="1"/>
                                            </p:txEl>
                                          </p:spTgt>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animEffect transition="in" filter="wipe(down)">
                                      <p:cBhvr>
                                        <p:cTn id="13" dur="500"/>
                                        <p:tgtEl>
                                          <p:spTgt spid="4">
                                            <p:txEl>
                                              <p:pRg st="2" end="2"/>
                                            </p:txEl>
                                          </p:spTgt>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4">
                                            <p:txEl>
                                              <p:pRg st="3" end="3"/>
                                            </p:txEl>
                                          </p:spTgt>
                                        </p:tgtEl>
                                        <p:attrNameLst>
                                          <p:attrName>style.visibility</p:attrName>
                                        </p:attrNameLst>
                                      </p:cBhvr>
                                      <p:to>
                                        <p:strVal val="visible"/>
                                      </p:to>
                                    </p:set>
                                    <p:animEffect transition="in" filter="wipe(down)">
                                      <p:cBhvr>
                                        <p:cTn id="16" dur="500"/>
                                        <p:tgtEl>
                                          <p:spTgt spid="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50938" y="214313"/>
            <a:ext cx="7793037" cy="928687"/>
          </a:xfrm>
        </p:spPr>
        <p:txBody>
          <a:bodyPr/>
          <a:lstStyle/>
          <a:p>
            <a:r>
              <a:rPr lang="en-US" dirty="0" smtClean="0"/>
              <a:t>EXAMPLES OF MC MARKETS</a:t>
            </a:r>
            <a:endParaRPr lang="en-US" dirty="0"/>
          </a:p>
        </p:txBody>
      </p:sp>
      <p:sp>
        <p:nvSpPr>
          <p:cNvPr id="4" name="Content Placeholder 3"/>
          <p:cNvSpPr>
            <a:spLocks noGrp="1"/>
          </p:cNvSpPr>
          <p:nvPr>
            <p:ph idx="1"/>
          </p:nvPr>
        </p:nvSpPr>
        <p:spPr>
          <a:xfrm>
            <a:off x="228600" y="1905000"/>
            <a:ext cx="8458200" cy="4450560"/>
          </a:xfrm>
        </p:spPr>
        <p:txBody>
          <a:bodyPr>
            <a:normAutofit fontScale="55000" lnSpcReduction="20000"/>
          </a:bodyPr>
          <a:lstStyle/>
          <a:p>
            <a:r>
              <a:rPr lang="en-US" dirty="0" smtClean="0"/>
              <a:t> </a:t>
            </a:r>
            <a:r>
              <a:rPr lang="en-US" sz="6000" dirty="0" smtClean="0"/>
              <a:t>Restaurants.</a:t>
            </a:r>
          </a:p>
          <a:p>
            <a:r>
              <a:rPr lang="en-US" sz="6000" dirty="0" smtClean="0"/>
              <a:t>Detergent co.</a:t>
            </a:r>
          </a:p>
          <a:p>
            <a:r>
              <a:rPr lang="en-US" sz="6000" dirty="0" smtClean="0"/>
              <a:t>Computer co</a:t>
            </a:r>
            <a:endParaRPr lang="en-US" sz="6000" dirty="0" smtClean="0"/>
          </a:p>
          <a:p>
            <a:r>
              <a:rPr lang="en-US" sz="6000" dirty="0" smtClean="0"/>
              <a:t>Clothing </a:t>
            </a:r>
            <a:r>
              <a:rPr lang="en-US" sz="6000" dirty="0" smtClean="0"/>
              <a:t>co.</a:t>
            </a:r>
            <a:endParaRPr lang="en-US" sz="6000" dirty="0" smtClean="0"/>
          </a:p>
          <a:p>
            <a:r>
              <a:rPr lang="en-US" sz="6000" dirty="0" smtClean="0"/>
              <a:t>Shoe </a:t>
            </a:r>
            <a:r>
              <a:rPr lang="en-US" sz="6000" dirty="0" smtClean="0"/>
              <a:t>co (thru’ sponsorship deals with Messi, </a:t>
            </a:r>
            <a:r>
              <a:rPr lang="en-US" sz="6000" dirty="0" err="1" smtClean="0"/>
              <a:t>Lebron</a:t>
            </a:r>
            <a:r>
              <a:rPr lang="en-US" sz="6000" dirty="0" smtClean="0"/>
              <a:t>, </a:t>
            </a:r>
            <a:r>
              <a:rPr lang="en-US" sz="6000" dirty="0" err="1" smtClean="0"/>
              <a:t>etc</a:t>
            </a:r>
            <a:r>
              <a:rPr lang="en-US" sz="6000" dirty="0" smtClean="0"/>
              <a:t>)</a:t>
            </a:r>
            <a:endParaRPr lang="en-US" sz="6000" dirty="0" smtClean="0"/>
          </a:p>
          <a:p>
            <a:r>
              <a:rPr lang="en-US" sz="6000" dirty="0" smtClean="0"/>
              <a:t>Publishing co.</a:t>
            </a:r>
          </a:p>
          <a:p>
            <a:r>
              <a:rPr lang="en-US" sz="6000" dirty="0" smtClean="0"/>
              <a:t>Furniture co..</a:t>
            </a:r>
            <a:endParaRPr lang="en-US" dirty="0"/>
          </a:p>
        </p:txBody>
      </p:sp>
      <p:sp>
        <p:nvSpPr>
          <p:cNvPr id="3" name="Date Placeholder 2"/>
          <p:cNvSpPr>
            <a:spLocks noGrp="1"/>
          </p:cNvSpPr>
          <p:nvPr>
            <p:ph type="dt" sz="half" idx="10"/>
          </p:nvPr>
        </p:nvSpPr>
        <p:spPr/>
        <p:txBody>
          <a:bodyPr/>
          <a:lstStyle/>
          <a:p>
            <a:fld id="{7921004A-F2A1-4A5F-8CF1-9CB1E96F2FFB}" type="datetime13">
              <a:rPr lang="en-US" smtClean="0"/>
              <a:pPr/>
              <a:t>11:23:12 PM</a:t>
            </a:fld>
            <a:endParaRPr lang="en-US"/>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down)">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wipe(down)">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wipe(down)">
                                      <p:cBhvr>
                                        <p:cTn id="17" dur="5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wipe(down)">
                                      <p:cBhvr>
                                        <p:cTn id="22" dur="500"/>
                                        <p:tgtEl>
                                          <p:spTgt spid="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animEffect transition="in" filter="wipe(down)">
                                      <p:cBhvr>
                                        <p:cTn id="27" dur="500"/>
                                        <p:tgtEl>
                                          <p:spTgt spid="4">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4">
                                            <p:txEl>
                                              <p:pRg st="5" end="5"/>
                                            </p:txEl>
                                          </p:spTgt>
                                        </p:tgtEl>
                                        <p:attrNameLst>
                                          <p:attrName>style.visibility</p:attrName>
                                        </p:attrNameLst>
                                      </p:cBhvr>
                                      <p:to>
                                        <p:strVal val="visible"/>
                                      </p:to>
                                    </p:set>
                                    <p:animEffect transition="in" filter="wipe(down)">
                                      <p:cBhvr>
                                        <p:cTn id="32" dur="500"/>
                                        <p:tgtEl>
                                          <p:spTgt spid="4">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4">
                                            <p:txEl>
                                              <p:pRg st="6" end="6"/>
                                            </p:txEl>
                                          </p:spTgt>
                                        </p:tgtEl>
                                        <p:attrNameLst>
                                          <p:attrName>style.visibility</p:attrName>
                                        </p:attrNameLst>
                                      </p:cBhvr>
                                      <p:to>
                                        <p:strVal val="visible"/>
                                      </p:to>
                                    </p:set>
                                    <p:animEffect transition="in" filter="wipe(down)">
                                      <p:cBhvr>
                                        <p:cTn id="37" dur="500"/>
                                        <p:tgtEl>
                                          <p:spTgt spid="4">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50938" y="214313"/>
            <a:ext cx="7793037" cy="1004887"/>
          </a:xfrm>
        </p:spPr>
        <p:txBody>
          <a:bodyPr/>
          <a:lstStyle/>
          <a:p>
            <a:r>
              <a:rPr lang="en-US" dirty="0" smtClean="0"/>
              <a:t>Oligopoly </a:t>
            </a:r>
            <a:r>
              <a:rPr lang="en-US" sz="2400" i="1" dirty="0" smtClean="0"/>
              <a:t>definition</a:t>
            </a:r>
            <a:endParaRPr lang="en-US" sz="2400" i="1" dirty="0"/>
          </a:p>
        </p:txBody>
      </p:sp>
      <p:sp>
        <p:nvSpPr>
          <p:cNvPr id="3" name="Content Placeholder 2"/>
          <p:cNvSpPr>
            <a:spLocks noGrp="1"/>
          </p:cNvSpPr>
          <p:nvPr>
            <p:ph idx="1"/>
          </p:nvPr>
        </p:nvSpPr>
        <p:spPr>
          <a:xfrm>
            <a:off x="0" y="2057400"/>
            <a:ext cx="8933688" cy="4191000"/>
          </a:xfrm>
        </p:spPr>
        <p:txBody>
          <a:bodyPr>
            <a:noAutofit/>
          </a:bodyPr>
          <a:lstStyle/>
          <a:p>
            <a:r>
              <a:rPr lang="en-US" sz="3600" dirty="0" smtClean="0">
                <a:latin typeface="+mj-lt"/>
              </a:rPr>
              <a:t>Name derived from the Greek word, “</a:t>
            </a:r>
            <a:r>
              <a:rPr lang="en-US" sz="3600" dirty="0" err="1" smtClean="0">
                <a:latin typeface="+mj-lt"/>
              </a:rPr>
              <a:t>Olig</a:t>
            </a:r>
            <a:r>
              <a:rPr lang="en-US" sz="3600" dirty="0" smtClean="0">
                <a:latin typeface="+mj-lt"/>
              </a:rPr>
              <a:t>” meaning “few”.</a:t>
            </a:r>
          </a:p>
          <a:p>
            <a:r>
              <a:rPr lang="en-US" sz="3600" b="1" dirty="0" smtClean="0">
                <a:latin typeface="+mj-lt"/>
              </a:rPr>
              <a:t>Oligopoly</a:t>
            </a:r>
            <a:r>
              <a:rPr lang="en-US" sz="3600" dirty="0" smtClean="0">
                <a:latin typeface="+mj-lt"/>
              </a:rPr>
              <a:t> is a market structure featuring a small number of sellers that together account for a large fraction of market share.</a:t>
            </a:r>
            <a:endParaRPr lang="en-US" sz="3600" dirty="0">
              <a:latin typeface="+mj-lt"/>
            </a:endParaRPr>
          </a:p>
        </p:txBody>
      </p:sp>
      <p:sp>
        <p:nvSpPr>
          <p:cNvPr id="4" name="Date Placeholder 3"/>
          <p:cNvSpPr>
            <a:spLocks noGrp="1"/>
          </p:cNvSpPr>
          <p:nvPr>
            <p:ph type="dt" sz="half" idx="10"/>
          </p:nvPr>
        </p:nvSpPr>
        <p:spPr/>
        <p:txBody>
          <a:bodyPr/>
          <a:lstStyle/>
          <a:p>
            <a:fld id="{7921004A-F2A1-4A5F-8CF1-9CB1E96F2FFB}" type="datetime13">
              <a:rPr lang="en-US" smtClean="0"/>
              <a:pPr/>
              <a:t>11:23:12 PM</a:t>
            </a:fld>
            <a:endParaRPr lang="en-US"/>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214313"/>
            <a:ext cx="8258175" cy="1004887"/>
          </a:xfrm>
        </p:spPr>
        <p:txBody>
          <a:bodyPr/>
          <a:lstStyle/>
          <a:p>
            <a:r>
              <a:rPr lang="en-US" dirty="0" smtClean="0"/>
              <a:t>Types </a:t>
            </a:r>
            <a:r>
              <a:rPr lang="en-US" dirty="0" smtClean="0"/>
              <a:t>of </a:t>
            </a:r>
            <a:r>
              <a:rPr lang="en-US" dirty="0" smtClean="0"/>
              <a:t>oligopoly: </a:t>
            </a:r>
            <a:r>
              <a:rPr lang="en-US" sz="2400" i="1" dirty="0" smtClean="0"/>
              <a:t>Pure oligopoly</a:t>
            </a:r>
            <a:endParaRPr lang="en-US" sz="2400" i="1" dirty="0"/>
          </a:p>
        </p:txBody>
      </p:sp>
      <p:sp>
        <p:nvSpPr>
          <p:cNvPr id="3" name="Content Placeholder 2"/>
          <p:cNvSpPr>
            <a:spLocks noGrp="1"/>
          </p:cNvSpPr>
          <p:nvPr>
            <p:ph idx="1"/>
          </p:nvPr>
        </p:nvSpPr>
        <p:spPr>
          <a:xfrm>
            <a:off x="381000" y="1828800"/>
            <a:ext cx="8476488" cy="4648200"/>
          </a:xfrm>
        </p:spPr>
        <p:txBody>
          <a:bodyPr>
            <a:normAutofit/>
          </a:bodyPr>
          <a:lstStyle/>
          <a:p>
            <a:pPr lvl="2"/>
            <a:r>
              <a:rPr lang="en-US" sz="3600" dirty="0" smtClean="0"/>
              <a:t>Product </a:t>
            </a:r>
            <a:r>
              <a:rPr lang="en-US" sz="3600" dirty="0" smtClean="0"/>
              <a:t>sold is homogeneous, implying that market power is derived from the fact that there is lack of competition.(hence pure in that sense</a:t>
            </a:r>
            <a:r>
              <a:rPr lang="en-US" sz="3600" dirty="0" smtClean="0"/>
              <a:t>)</a:t>
            </a:r>
            <a:endParaRPr lang="en-US" sz="3600" dirty="0"/>
          </a:p>
          <a:p>
            <a:pPr lvl="2"/>
            <a:r>
              <a:rPr lang="en-US" sz="3600" dirty="0"/>
              <a:t>(</a:t>
            </a:r>
            <a:r>
              <a:rPr lang="en-US" sz="3600" i="1" dirty="0"/>
              <a:t>e.g. extractive(Steel, cement, copper)industries</a:t>
            </a:r>
            <a:r>
              <a:rPr lang="en-US" sz="3600" dirty="0"/>
              <a:t>)</a:t>
            </a:r>
            <a:endParaRPr lang="en-US" sz="3600" dirty="0" smtClean="0"/>
          </a:p>
        </p:txBody>
      </p:sp>
      <p:sp>
        <p:nvSpPr>
          <p:cNvPr id="4" name="Date Placeholder 3"/>
          <p:cNvSpPr>
            <a:spLocks noGrp="1"/>
          </p:cNvSpPr>
          <p:nvPr>
            <p:ph type="dt" sz="half" idx="10"/>
          </p:nvPr>
        </p:nvSpPr>
        <p:spPr/>
        <p:txBody>
          <a:bodyPr/>
          <a:lstStyle/>
          <a:p>
            <a:fld id="{7921004A-F2A1-4A5F-8CF1-9CB1E96F2FFB}" type="datetime13">
              <a:rPr lang="en-US" smtClean="0"/>
              <a:pPr/>
              <a:t>11:32:46 PM</a:t>
            </a:fld>
            <a:endParaRPr lang="en-US"/>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nodeType="clickEffect">
                                  <p:stCondLst>
                                    <p:cond delay="0"/>
                                  </p:stCondLst>
                                  <p:iterate type="lt">
                                    <p:tmPct val="50000"/>
                                  </p:iterate>
                                  <p:childTnLst>
                                    <p:set>
                                      <p:cBhvr>
                                        <p:cTn id="6" dur="1" fill="hold">
                                          <p:stCondLst>
                                            <p:cond delay="0"/>
                                          </p:stCondLst>
                                        </p:cTn>
                                        <p:tgtEl>
                                          <p:spTgt spid="3">
                                            <p:txEl>
                                              <p:pRg st="0" end="0"/>
                                            </p:txEl>
                                          </p:spTgt>
                                        </p:tgtEl>
                                        <p:attrNameLst>
                                          <p:attrName>style.visibility</p:attrName>
                                        </p:attrNameLst>
                                      </p:cBhvr>
                                      <p:to>
                                        <p:strVal val="visible"/>
                                      </p:to>
                                    </p:set>
                                    <p:anim calcmode="discrete" valueType="clr">
                                      <p:cBhvr override="childStyle">
                                        <p:cTn id="7" dur="80"/>
                                        <p:tgtEl>
                                          <p:spTgt spid="3">
                                            <p:txEl>
                                              <p:pRg st="0" end="0"/>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3">
                                            <p:txEl>
                                              <p:pRg st="0" end="0"/>
                                            </p:txEl>
                                          </p:spTgt>
                                        </p:tgtEl>
                                        <p:attrNameLst>
                                          <p:attrName>fillcolor</p:attrName>
                                        </p:attrNameLst>
                                      </p:cBhvr>
                                      <p:tavLst>
                                        <p:tav tm="0">
                                          <p:val>
                                            <p:clrVal>
                                              <a:schemeClr val="accent2"/>
                                            </p:clrVal>
                                          </p:val>
                                        </p:tav>
                                        <p:tav tm="50000">
                                          <p:val>
                                            <p:clrVal>
                                              <a:schemeClr val="hlink"/>
                                            </p:clrVal>
                                          </p:val>
                                        </p:tav>
                                      </p:tavLst>
                                    </p:anim>
                                    <p:set>
                                      <p:cBhvr>
                                        <p:cTn id="9" dur="80"/>
                                        <p:tgtEl>
                                          <p:spTgt spid="3">
                                            <p:txEl>
                                              <p:pRg st="0" end="0"/>
                                            </p:txEl>
                                          </p:spTgt>
                                        </p:tgtEl>
                                        <p:attrNameLst>
                                          <p:attrName>fill.type</p:attrName>
                                        </p:attrNameLst>
                                      </p:cBhvr>
                                      <p:to>
                                        <p:strVal val="solid"/>
                                      </p:to>
                                    </p:set>
                                  </p:childTnLst>
                                </p:cTn>
                              </p:par>
                            </p:childTnLst>
                          </p:cTn>
                        </p:par>
                      </p:childTnLst>
                    </p:cTn>
                  </p:par>
                  <p:par>
                    <p:cTn id="10" fill="hold">
                      <p:stCondLst>
                        <p:cond delay="indefinite"/>
                      </p:stCondLst>
                      <p:childTnLst>
                        <p:par>
                          <p:cTn id="11" fill="hold">
                            <p:stCondLst>
                              <p:cond delay="0"/>
                            </p:stCondLst>
                            <p:childTnLst>
                              <p:par>
                                <p:cTn id="12" presetID="27" presetClass="entr" presetSubtype="0" fill="hold" nodeType="clickEffect">
                                  <p:stCondLst>
                                    <p:cond delay="0"/>
                                  </p:stCondLst>
                                  <p:iterate type="lt">
                                    <p:tmPct val="50000"/>
                                  </p:iterate>
                                  <p:childTnLst>
                                    <p:set>
                                      <p:cBhvr>
                                        <p:cTn id="13" dur="1" fill="hold">
                                          <p:stCondLst>
                                            <p:cond delay="0"/>
                                          </p:stCondLst>
                                        </p:cTn>
                                        <p:tgtEl>
                                          <p:spTgt spid="3">
                                            <p:txEl>
                                              <p:pRg st="1" end="1"/>
                                            </p:txEl>
                                          </p:spTgt>
                                        </p:tgtEl>
                                        <p:attrNameLst>
                                          <p:attrName>style.visibility</p:attrName>
                                        </p:attrNameLst>
                                      </p:cBhvr>
                                      <p:to>
                                        <p:strVal val="visible"/>
                                      </p:to>
                                    </p:set>
                                    <p:anim calcmode="discrete" valueType="clr">
                                      <p:cBhvr override="childStyle">
                                        <p:cTn id="14" dur="80"/>
                                        <p:tgtEl>
                                          <p:spTgt spid="3">
                                            <p:txEl>
                                              <p:pRg st="1" end="1"/>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15" dur="80"/>
                                        <p:tgtEl>
                                          <p:spTgt spid="3">
                                            <p:txEl>
                                              <p:pRg st="1" end="1"/>
                                            </p:txEl>
                                          </p:spTgt>
                                        </p:tgtEl>
                                        <p:attrNameLst>
                                          <p:attrName>fillcolor</p:attrName>
                                        </p:attrNameLst>
                                      </p:cBhvr>
                                      <p:tavLst>
                                        <p:tav tm="0">
                                          <p:val>
                                            <p:clrVal>
                                              <a:schemeClr val="accent2"/>
                                            </p:clrVal>
                                          </p:val>
                                        </p:tav>
                                        <p:tav tm="50000">
                                          <p:val>
                                            <p:clrVal>
                                              <a:schemeClr val="hlink"/>
                                            </p:clrVal>
                                          </p:val>
                                        </p:tav>
                                      </p:tavLst>
                                    </p:anim>
                                    <p:set>
                                      <p:cBhvr>
                                        <p:cTn id="16" dur="80"/>
                                        <p:tgtEl>
                                          <p:spTgt spid="3">
                                            <p:txEl>
                                              <p:pRg st="1" end="1"/>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Types of </a:t>
            </a:r>
            <a:r>
              <a:rPr lang="en-US" dirty="0" smtClean="0"/>
              <a:t>oligopoly </a:t>
            </a:r>
            <a:r>
              <a:rPr lang="en-US" sz="2400" i="1" dirty="0" smtClean="0"/>
              <a:t>Impure </a:t>
            </a:r>
            <a:r>
              <a:rPr lang="en-US" sz="2400" i="1" dirty="0" err="1" smtClean="0"/>
              <a:t>oligopolu</a:t>
            </a:r>
            <a:endParaRPr lang="en-US" sz="2400" i="1" dirty="0"/>
          </a:p>
        </p:txBody>
      </p:sp>
      <p:sp>
        <p:nvSpPr>
          <p:cNvPr id="3" name="Content Placeholder 2"/>
          <p:cNvSpPr>
            <a:spLocks noGrp="1"/>
          </p:cNvSpPr>
          <p:nvPr>
            <p:ph idx="1"/>
          </p:nvPr>
        </p:nvSpPr>
        <p:spPr>
          <a:xfrm>
            <a:off x="228600" y="2017713"/>
            <a:ext cx="8839200" cy="4114800"/>
          </a:xfrm>
        </p:spPr>
        <p:txBody>
          <a:bodyPr/>
          <a:lstStyle/>
          <a:p>
            <a:r>
              <a:rPr lang="en-US" sz="4000" dirty="0" smtClean="0"/>
              <a:t>Product </a:t>
            </a:r>
            <a:r>
              <a:rPr lang="en-US" sz="4000" dirty="0"/>
              <a:t>sold is differentiated, implying that market power is derived from both the lack of competition and product differentiation</a:t>
            </a:r>
            <a:r>
              <a:rPr lang="en-US" sz="4000" dirty="0" smtClean="0"/>
              <a:t>.</a:t>
            </a:r>
          </a:p>
          <a:p>
            <a:r>
              <a:rPr lang="en-US" sz="4000" dirty="0"/>
              <a:t>(e.g. </a:t>
            </a:r>
            <a:r>
              <a:rPr lang="en-US" sz="4000" i="1" dirty="0"/>
              <a:t>auto </a:t>
            </a:r>
            <a:r>
              <a:rPr lang="en-US" sz="4000" i="1" dirty="0" smtClean="0"/>
              <a:t>industries, airlines, electrical appliances)</a:t>
            </a:r>
            <a:endParaRPr lang="en-US" sz="4000" i="1" dirty="0"/>
          </a:p>
          <a:p>
            <a:endParaRPr lang="en-US" i="1" dirty="0"/>
          </a:p>
        </p:txBody>
      </p:sp>
    </p:spTree>
    <p:extLst>
      <p:ext uri="{BB962C8B-B14F-4D97-AF65-F5344CB8AC3E}">
        <p14:creationId xmlns:p14="http://schemas.microsoft.com/office/powerpoint/2010/main" val="348856270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50938" y="214313"/>
            <a:ext cx="7793037" cy="928687"/>
          </a:xfrm>
        </p:spPr>
        <p:txBody>
          <a:bodyPr/>
          <a:lstStyle/>
          <a:p>
            <a:r>
              <a:rPr lang="en-US" dirty="0" smtClean="0"/>
              <a:t>Features of oligopoly </a:t>
            </a:r>
            <a:r>
              <a:rPr lang="en-US" sz="2400" i="1" dirty="0" smtClean="0"/>
              <a:t>continued</a:t>
            </a:r>
            <a:endParaRPr lang="en-US" sz="2400" i="1" dirty="0"/>
          </a:p>
        </p:txBody>
      </p:sp>
      <p:sp>
        <p:nvSpPr>
          <p:cNvPr id="3" name="Content Placeholder 2"/>
          <p:cNvSpPr>
            <a:spLocks noGrp="1"/>
          </p:cNvSpPr>
          <p:nvPr>
            <p:ph idx="1"/>
          </p:nvPr>
        </p:nvSpPr>
        <p:spPr>
          <a:xfrm>
            <a:off x="381000" y="990600"/>
            <a:ext cx="8552688" cy="5486400"/>
          </a:xfrm>
        </p:spPr>
        <p:txBody>
          <a:bodyPr>
            <a:normAutofit/>
          </a:bodyPr>
          <a:lstStyle/>
          <a:p>
            <a:pPr>
              <a:buFont typeface="Monotype Sorts" charset="2"/>
              <a:buChar char="u"/>
            </a:pPr>
            <a:r>
              <a:rPr lang="en-US" sz="3600" dirty="0" smtClean="0"/>
              <a:t>few firms</a:t>
            </a:r>
          </a:p>
          <a:p>
            <a:pPr>
              <a:buFont typeface="Monotype Sorts" charset="2"/>
              <a:buChar char="u"/>
            </a:pPr>
            <a:r>
              <a:rPr lang="en-US" sz="3600" dirty="0" smtClean="0"/>
              <a:t>either  homogeneous or differentiated products</a:t>
            </a:r>
          </a:p>
          <a:p>
            <a:pPr>
              <a:buFont typeface="Monotype Sorts" charset="2"/>
              <a:buChar char="u"/>
            </a:pPr>
            <a:r>
              <a:rPr lang="en-US" sz="3600" dirty="0" smtClean="0"/>
              <a:t>interdependence of firms - policies of one firm affect the other firms</a:t>
            </a:r>
          </a:p>
          <a:p>
            <a:pPr lvl="2">
              <a:buFont typeface="Monotype Sorts" charset="2"/>
              <a:buChar char="u"/>
            </a:pPr>
            <a:r>
              <a:rPr lang="en-US" dirty="0" smtClean="0"/>
              <a:t>High degree of collusion in setting of prices</a:t>
            </a:r>
          </a:p>
          <a:p>
            <a:pPr>
              <a:buFont typeface="Monotype Sorts" charset="2"/>
              <a:buChar char="u"/>
            </a:pPr>
            <a:r>
              <a:rPr lang="en-US" sz="3600" dirty="0" smtClean="0"/>
              <a:t>substantial barriers to entry</a:t>
            </a:r>
          </a:p>
          <a:p>
            <a:pPr>
              <a:buFont typeface="Monotype Sorts" charset="2"/>
              <a:buChar char="u"/>
            </a:pPr>
            <a:r>
              <a:rPr lang="en-US" sz="3600" dirty="0" smtClean="0"/>
              <a:t>Repeated interactions between firms</a:t>
            </a:r>
            <a:endParaRPr lang="en-US" sz="3600" dirty="0"/>
          </a:p>
        </p:txBody>
      </p:sp>
      <p:sp>
        <p:nvSpPr>
          <p:cNvPr id="4" name="Date Placeholder 3"/>
          <p:cNvSpPr>
            <a:spLocks noGrp="1"/>
          </p:cNvSpPr>
          <p:nvPr>
            <p:ph type="dt" sz="half" idx="10"/>
          </p:nvPr>
        </p:nvSpPr>
        <p:spPr/>
        <p:txBody>
          <a:bodyPr/>
          <a:lstStyle/>
          <a:p>
            <a:fld id="{7921004A-F2A1-4A5F-8CF1-9CB1E96F2FFB}" type="datetime13">
              <a:rPr lang="en-US" smtClean="0"/>
              <a:pPr/>
              <a:t>11:23:12 PM</a:t>
            </a:fld>
            <a:endParaRPr lang="en-US"/>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000"/>
                                        <p:tgtEl>
                                          <p:spTgt spid="3">
                                            <p:txEl>
                                              <p:pRg st="2" end="2"/>
                                            </p:txEl>
                                          </p:spTgt>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2000"/>
                                        <p:tgtEl>
                                          <p:spTgt spid="3">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fade">
                                      <p:cBhvr>
                                        <p:cTn id="25" dur="2000"/>
                                        <p:tgtEl>
                                          <p:spTgt spid="3">
                                            <p:txEl>
                                              <p:pRg st="4" end="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3">
                                            <p:txEl>
                                              <p:pRg st="5" end="5"/>
                                            </p:txEl>
                                          </p:spTgt>
                                        </p:tgtEl>
                                        <p:attrNameLst>
                                          <p:attrName>style.visibility</p:attrName>
                                        </p:attrNameLst>
                                      </p:cBhvr>
                                      <p:to>
                                        <p:strVal val="visible"/>
                                      </p:to>
                                    </p:set>
                                    <p:animEffect transition="in" filter="fade">
                                      <p:cBhvr>
                                        <p:cTn id="30" dur="20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50938" y="214313"/>
            <a:ext cx="7793037" cy="1081087"/>
          </a:xfrm>
        </p:spPr>
        <p:txBody>
          <a:bodyPr/>
          <a:lstStyle/>
          <a:p>
            <a:r>
              <a:rPr lang="en-US" dirty="0" smtClean="0"/>
              <a:t>Collusion and Competition</a:t>
            </a:r>
            <a:endParaRPr lang="en-US" dirty="0"/>
          </a:p>
        </p:txBody>
      </p:sp>
      <p:sp>
        <p:nvSpPr>
          <p:cNvPr id="3" name="Content Placeholder 2"/>
          <p:cNvSpPr>
            <a:spLocks noGrp="1"/>
          </p:cNvSpPr>
          <p:nvPr>
            <p:ph idx="1"/>
          </p:nvPr>
        </p:nvSpPr>
        <p:spPr>
          <a:xfrm>
            <a:off x="152400" y="1981200"/>
            <a:ext cx="8791575" cy="4419600"/>
          </a:xfrm>
        </p:spPr>
        <p:txBody>
          <a:bodyPr>
            <a:normAutofit lnSpcReduction="10000"/>
          </a:bodyPr>
          <a:lstStyle/>
          <a:p>
            <a:pPr>
              <a:buFont typeface="Monotype Sorts" charset="2"/>
              <a:buNone/>
            </a:pPr>
            <a:r>
              <a:rPr lang="en-US" sz="3600" dirty="0" smtClean="0"/>
              <a:t>Oligopoly firms may collude (act as a monopoly) and earn positive profits.</a:t>
            </a:r>
            <a:br>
              <a:rPr lang="en-US" sz="3600" dirty="0" smtClean="0"/>
            </a:br>
            <a:endParaRPr lang="en-US" sz="3600" dirty="0" smtClean="0"/>
          </a:p>
          <a:p>
            <a:pPr algn="ctr">
              <a:buFont typeface="Monotype Sorts" charset="2"/>
              <a:buNone/>
            </a:pPr>
            <a:r>
              <a:rPr lang="en-US" sz="3600" dirty="0" smtClean="0"/>
              <a:t>OR</a:t>
            </a:r>
            <a:br>
              <a:rPr lang="en-US" sz="3600" dirty="0" smtClean="0"/>
            </a:br>
            <a:endParaRPr lang="en-US" sz="3600" dirty="0" smtClean="0"/>
          </a:p>
          <a:p>
            <a:pPr>
              <a:buFont typeface="Monotype Sorts" charset="2"/>
              <a:buNone/>
            </a:pPr>
            <a:r>
              <a:rPr lang="en-US" sz="3600" dirty="0" err="1" smtClean="0"/>
              <a:t>Oligopolists</a:t>
            </a:r>
            <a:r>
              <a:rPr lang="en-US" sz="3600" dirty="0" smtClean="0"/>
              <a:t> may compete with each other and drive prices down to zero economic profits.</a:t>
            </a:r>
          </a:p>
          <a:p>
            <a:endParaRPr lang="en-US" sz="3600" dirty="0"/>
          </a:p>
        </p:txBody>
      </p:sp>
      <p:sp>
        <p:nvSpPr>
          <p:cNvPr id="4" name="Date Placeholder 3"/>
          <p:cNvSpPr>
            <a:spLocks noGrp="1"/>
          </p:cNvSpPr>
          <p:nvPr>
            <p:ph type="dt" sz="half" idx="10"/>
          </p:nvPr>
        </p:nvSpPr>
        <p:spPr/>
        <p:txBody>
          <a:bodyPr/>
          <a:lstStyle/>
          <a:p>
            <a:fld id="{7921004A-F2A1-4A5F-8CF1-9CB1E96F2FFB}" type="datetime13">
              <a:rPr lang="en-US" smtClean="0"/>
              <a:pPr/>
              <a:t>11:23:12 PM</a:t>
            </a:fld>
            <a:endParaRPr lang="en-US"/>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50938" y="214313"/>
            <a:ext cx="7793037" cy="1004887"/>
          </a:xfrm>
        </p:spPr>
        <p:txBody>
          <a:bodyPr>
            <a:normAutofit/>
          </a:bodyPr>
          <a:lstStyle/>
          <a:p>
            <a:r>
              <a:rPr lang="en-US" dirty="0" smtClean="0"/>
              <a:t>Cheating is good</a:t>
            </a:r>
            <a:endParaRPr lang="en-US" sz="2200" i="1" dirty="0"/>
          </a:p>
        </p:txBody>
      </p:sp>
      <p:sp>
        <p:nvSpPr>
          <p:cNvPr id="3" name="Content Placeholder 2"/>
          <p:cNvSpPr>
            <a:spLocks noGrp="1"/>
          </p:cNvSpPr>
          <p:nvPr>
            <p:ph idx="1"/>
          </p:nvPr>
        </p:nvSpPr>
        <p:spPr>
          <a:xfrm>
            <a:off x="457200" y="1981200"/>
            <a:ext cx="8686800" cy="4495800"/>
          </a:xfrm>
        </p:spPr>
        <p:txBody>
          <a:bodyPr>
            <a:normAutofit lnSpcReduction="10000"/>
          </a:bodyPr>
          <a:lstStyle/>
          <a:p>
            <a:pPr>
              <a:buFont typeface="Monotype Sorts" charset="2"/>
              <a:buNone/>
            </a:pPr>
            <a:r>
              <a:rPr lang="en-US" sz="3600" dirty="0" smtClean="0"/>
              <a:t>While it pays for firms to collude, in order to earn positive profits, it also pays to cheat on the collusive agreement.   If one firm cuts its price to slightly below the others, it could gain a lot of business.</a:t>
            </a:r>
          </a:p>
          <a:p>
            <a:pPr>
              <a:buFont typeface="Monotype Sorts" charset="2"/>
              <a:buNone/>
            </a:pPr>
            <a:r>
              <a:rPr lang="en-US" sz="3600" dirty="0" smtClean="0"/>
              <a:t>If everyone cheats on the agreement, however, the agreement falls apart.</a:t>
            </a:r>
          </a:p>
          <a:p>
            <a:endParaRPr lang="en-US" sz="3600" dirty="0"/>
          </a:p>
        </p:txBody>
      </p:sp>
      <p:sp>
        <p:nvSpPr>
          <p:cNvPr id="4" name="Date Placeholder 3"/>
          <p:cNvSpPr>
            <a:spLocks noGrp="1"/>
          </p:cNvSpPr>
          <p:nvPr>
            <p:ph type="dt" sz="half" idx="10"/>
          </p:nvPr>
        </p:nvSpPr>
        <p:spPr/>
        <p:txBody>
          <a:bodyPr/>
          <a:lstStyle/>
          <a:p>
            <a:fld id="{7921004A-F2A1-4A5F-8CF1-9CB1E96F2FFB}" type="datetime13">
              <a:rPr lang="en-US" smtClean="0"/>
              <a:pPr/>
              <a:t>11:23:12 PM</a:t>
            </a:fld>
            <a:endParaRPr lang="en-US"/>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nodeType="clickEffect">
                                  <p:stCondLst>
                                    <p:cond delay="0"/>
                                  </p:stCondLst>
                                  <p:iterate type="lt">
                                    <p:tmPct val="50000"/>
                                  </p:iterate>
                                  <p:childTnLst>
                                    <p:set>
                                      <p:cBhvr>
                                        <p:cTn id="6" dur="1" fill="hold">
                                          <p:stCondLst>
                                            <p:cond delay="0"/>
                                          </p:stCondLst>
                                        </p:cTn>
                                        <p:tgtEl>
                                          <p:spTgt spid="3">
                                            <p:txEl>
                                              <p:pRg st="0" end="0"/>
                                            </p:txEl>
                                          </p:spTgt>
                                        </p:tgtEl>
                                        <p:attrNameLst>
                                          <p:attrName>style.visibility</p:attrName>
                                        </p:attrNameLst>
                                      </p:cBhvr>
                                      <p:to>
                                        <p:strVal val="visible"/>
                                      </p:to>
                                    </p:set>
                                    <p:anim calcmode="discrete" valueType="clr">
                                      <p:cBhvr override="childStyle">
                                        <p:cTn id="7" dur="80"/>
                                        <p:tgtEl>
                                          <p:spTgt spid="3">
                                            <p:txEl>
                                              <p:pRg st="0" end="0"/>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3">
                                            <p:txEl>
                                              <p:pRg st="0" end="0"/>
                                            </p:txEl>
                                          </p:spTgt>
                                        </p:tgtEl>
                                        <p:attrNameLst>
                                          <p:attrName>fillcolor</p:attrName>
                                        </p:attrNameLst>
                                      </p:cBhvr>
                                      <p:tavLst>
                                        <p:tav tm="0">
                                          <p:val>
                                            <p:clrVal>
                                              <a:schemeClr val="accent2"/>
                                            </p:clrVal>
                                          </p:val>
                                        </p:tav>
                                        <p:tav tm="50000">
                                          <p:val>
                                            <p:clrVal>
                                              <a:schemeClr val="hlink"/>
                                            </p:clrVal>
                                          </p:val>
                                        </p:tav>
                                      </p:tavLst>
                                    </p:anim>
                                    <p:set>
                                      <p:cBhvr>
                                        <p:cTn id="9" dur="80"/>
                                        <p:tgtEl>
                                          <p:spTgt spid="3">
                                            <p:txEl>
                                              <p:pRg st="0" end="0"/>
                                            </p:txEl>
                                          </p:spTgt>
                                        </p:tgtEl>
                                        <p:attrNameLst>
                                          <p:attrName>fill.type</p:attrName>
                                        </p:attrNameLst>
                                      </p:cBhvr>
                                      <p:to>
                                        <p:strVal val="solid"/>
                                      </p:to>
                                    </p:set>
                                  </p:childTnLst>
                                </p:cTn>
                              </p:par>
                            </p:childTnLst>
                          </p:cTn>
                        </p:par>
                      </p:childTnLst>
                    </p:cTn>
                  </p:par>
                  <p:par>
                    <p:cTn id="10" fill="hold">
                      <p:stCondLst>
                        <p:cond delay="indefinite"/>
                      </p:stCondLst>
                      <p:childTnLst>
                        <p:par>
                          <p:cTn id="11" fill="hold">
                            <p:stCondLst>
                              <p:cond delay="0"/>
                            </p:stCondLst>
                            <p:childTnLst>
                              <p:par>
                                <p:cTn id="12" presetID="51" presetClass="entr" presetSubtype="0" fill="hold" nodeType="clickEffect">
                                  <p:stCondLst>
                                    <p:cond delay="0"/>
                                  </p:stCondLst>
                                  <p:iterate type="lt">
                                    <p:tmPct val="0"/>
                                  </p:iterate>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770" decel="100000"/>
                                        <p:tgtEl>
                                          <p:spTgt spid="3">
                                            <p:txEl>
                                              <p:pRg st="1" end="1"/>
                                            </p:txEl>
                                          </p:spTgt>
                                        </p:tgtEl>
                                      </p:cBhvr>
                                    </p:animEffect>
                                    <p:animScale>
                                      <p:cBhvr>
                                        <p:cTn id="15" dur="770" decel="100000"/>
                                        <p:tgtEl>
                                          <p:spTgt spid="3">
                                            <p:txEl>
                                              <p:pRg st="1" end="1"/>
                                            </p:txEl>
                                          </p:spTgt>
                                        </p:tgtEl>
                                      </p:cBhvr>
                                      <p:from x="10000" y="10000"/>
                                      <p:to x="200000" y="450000"/>
                                    </p:animScale>
                                    <p:animScale>
                                      <p:cBhvr>
                                        <p:cTn id="16" dur="1230" accel="100000" fill="hold">
                                          <p:stCondLst>
                                            <p:cond delay="770"/>
                                          </p:stCondLst>
                                        </p:cTn>
                                        <p:tgtEl>
                                          <p:spTgt spid="3">
                                            <p:txEl>
                                              <p:pRg st="1" end="1"/>
                                            </p:txEl>
                                          </p:spTgt>
                                        </p:tgtEl>
                                      </p:cBhvr>
                                      <p:from x="200000" y="450000"/>
                                      <p:to x="100000" y="100000"/>
                                    </p:animScale>
                                    <p:set>
                                      <p:cBhvr>
                                        <p:cTn id="17" dur="770" fill="hold"/>
                                        <p:tgtEl>
                                          <p:spTgt spid="3">
                                            <p:txEl>
                                              <p:pRg st="1" end="1"/>
                                            </p:txEl>
                                          </p:spTgt>
                                        </p:tgtEl>
                                        <p:attrNameLst>
                                          <p:attrName>ppt_x</p:attrName>
                                        </p:attrNameLst>
                                      </p:cBhvr>
                                      <p:to>
                                        <p:strVal val="(0.5)"/>
                                      </p:to>
                                    </p:set>
                                    <p:anim from="(0.5)" to="(#ppt_x)" calcmode="lin" valueType="num">
                                      <p:cBhvr>
                                        <p:cTn id="18" dur="1230" accel="100000" fill="hold">
                                          <p:stCondLst>
                                            <p:cond delay="770"/>
                                          </p:stCondLst>
                                        </p:cTn>
                                        <p:tgtEl>
                                          <p:spTgt spid="3">
                                            <p:txEl>
                                              <p:pRg st="1" end="1"/>
                                            </p:txEl>
                                          </p:spTgt>
                                        </p:tgtEl>
                                        <p:attrNameLst>
                                          <p:attrName>ppt_x</p:attrName>
                                        </p:attrNameLst>
                                      </p:cBhvr>
                                    </p:anim>
                                    <p:set>
                                      <p:cBhvr>
                                        <p:cTn id="19" dur="770" fill="hold"/>
                                        <p:tgtEl>
                                          <p:spTgt spid="3">
                                            <p:txEl>
                                              <p:pRg st="1" end="1"/>
                                            </p:txEl>
                                          </p:spTgt>
                                        </p:tgtEl>
                                        <p:attrNameLst>
                                          <p:attrName>ppt_y</p:attrName>
                                        </p:attrNameLst>
                                      </p:cBhvr>
                                      <p:to>
                                        <p:strVal val="(#ppt_y+0.4)"/>
                                      </p:to>
                                    </p:set>
                                    <p:anim from="(#ppt_y+0.4)" to="(#ppt_y)" calcmode="lin" valueType="num">
                                      <p:cBhvr>
                                        <p:cTn id="20" dur="1230" accel="100000" fill="hold">
                                          <p:stCondLst>
                                            <p:cond delay="770"/>
                                          </p:stCondLst>
                                        </p:cTn>
                                        <p:tgtEl>
                                          <p:spTgt spid="3">
                                            <p:txEl>
                                              <p:pRg st="1" end="1"/>
                                            </p:txEl>
                                          </p:spTgt>
                                        </p:tgtEl>
                                        <p:attrNameLst>
                                          <p:attrName>ppt_y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56060" y="304800"/>
            <a:ext cx="7429499" cy="1143000"/>
          </a:xfrm>
        </p:spPr>
        <p:txBody>
          <a:bodyPr>
            <a:normAutofit fontScale="90000"/>
          </a:bodyPr>
          <a:lstStyle/>
          <a:p>
            <a:r>
              <a:rPr lang="en-US" sz="4400" dirty="0" smtClean="0"/>
              <a:t>Collusive agreements less likely to succeed when </a:t>
            </a:r>
            <a:endParaRPr lang="en-US" dirty="0"/>
          </a:p>
        </p:txBody>
      </p:sp>
      <p:sp>
        <p:nvSpPr>
          <p:cNvPr id="3" name="Content Placeholder 2"/>
          <p:cNvSpPr>
            <a:spLocks noGrp="1"/>
          </p:cNvSpPr>
          <p:nvPr>
            <p:ph idx="1"/>
          </p:nvPr>
        </p:nvSpPr>
        <p:spPr>
          <a:xfrm>
            <a:off x="228600" y="2057400"/>
            <a:ext cx="8610600" cy="4191001"/>
          </a:xfrm>
        </p:spPr>
        <p:txBody>
          <a:bodyPr>
            <a:normAutofit fontScale="92500" lnSpcReduction="10000"/>
          </a:bodyPr>
          <a:lstStyle/>
          <a:p>
            <a:pPr>
              <a:buFont typeface="Monotype Sorts" charset="2"/>
              <a:buChar char="u"/>
            </a:pPr>
            <a:r>
              <a:rPr lang="en-US" sz="3600" dirty="0" smtClean="0"/>
              <a:t>secret price cuts are difficult and costly to detect. (Quality changes are difficult to monitor.)</a:t>
            </a:r>
          </a:p>
          <a:p>
            <a:pPr>
              <a:buFont typeface="Monotype Sorts" charset="2"/>
              <a:buChar char="u"/>
            </a:pPr>
            <a:r>
              <a:rPr lang="en-US" sz="3600" dirty="0" smtClean="0"/>
              <a:t>market conditions are unstable.  (Differences in expectations make it difficult to reach an agreement.)</a:t>
            </a:r>
          </a:p>
          <a:p>
            <a:pPr>
              <a:buFont typeface="Monotype Sorts" charset="2"/>
              <a:buChar char="u"/>
            </a:pPr>
            <a:r>
              <a:rPr lang="en-US" sz="3600" dirty="0" smtClean="0"/>
              <a:t>vigorous antitrust action increases the cost of collusion. </a:t>
            </a:r>
          </a:p>
          <a:p>
            <a:endParaRPr lang="en-US" dirty="0"/>
          </a:p>
        </p:txBody>
      </p:sp>
      <p:sp>
        <p:nvSpPr>
          <p:cNvPr id="4" name="Date Placeholder 3"/>
          <p:cNvSpPr>
            <a:spLocks noGrp="1"/>
          </p:cNvSpPr>
          <p:nvPr>
            <p:ph type="dt" sz="half" idx="10"/>
          </p:nvPr>
        </p:nvSpPr>
        <p:spPr/>
        <p:txBody>
          <a:bodyPr/>
          <a:lstStyle/>
          <a:p>
            <a:fld id="{7921004A-F2A1-4A5F-8CF1-9CB1E96F2FFB}" type="datetime13">
              <a:rPr lang="en-US" smtClean="0"/>
              <a:pPr/>
              <a:t>11:23:12 PM</a:t>
            </a:fld>
            <a:endParaRPr lang="en-US"/>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down)">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150938" y="214313"/>
            <a:ext cx="7793037" cy="1004887"/>
          </a:xfrm>
        </p:spPr>
        <p:txBody>
          <a:bodyPr/>
          <a:lstStyle/>
          <a:p>
            <a:r>
              <a:rPr lang="en-US" dirty="0" smtClean="0"/>
              <a:t>Sticky Prices</a:t>
            </a:r>
            <a:endParaRPr lang="en-US" dirty="0"/>
          </a:p>
        </p:txBody>
      </p:sp>
      <p:sp>
        <p:nvSpPr>
          <p:cNvPr id="5" name="Content Placeholder 4"/>
          <p:cNvSpPr>
            <a:spLocks noGrp="1"/>
          </p:cNvSpPr>
          <p:nvPr>
            <p:ph idx="1"/>
          </p:nvPr>
        </p:nvSpPr>
        <p:spPr>
          <a:xfrm>
            <a:off x="0" y="1905000"/>
            <a:ext cx="8991600" cy="4221163"/>
          </a:xfrm>
        </p:spPr>
        <p:txBody>
          <a:bodyPr>
            <a:normAutofit/>
          </a:bodyPr>
          <a:lstStyle/>
          <a:p>
            <a:r>
              <a:rPr lang="en-US" sz="5400" dirty="0"/>
              <a:t>One characteristic of informal collusive behavior is that prices tend to be </a:t>
            </a:r>
            <a:r>
              <a:rPr lang="en-US" sz="5400" dirty="0">
                <a:solidFill>
                  <a:srgbClr val="FF0000"/>
                </a:solidFill>
              </a:rPr>
              <a:t>sticky</a:t>
            </a:r>
            <a:r>
              <a:rPr lang="en-US" sz="5400" dirty="0"/>
              <a:t> – they don’t change frequently</a:t>
            </a:r>
          </a:p>
          <a:p>
            <a:endParaRPr lang="en-US" dirty="0"/>
          </a:p>
        </p:txBody>
      </p:sp>
      <p:sp>
        <p:nvSpPr>
          <p:cNvPr id="3" name="Date Placeholder 2"/>
          <p:cNvSpPr>
            <a:spLocks noGrp="1"/>
          </p:cNvSpPr>
          <p:nvPr>
            <p:ph type="dt" sz="half" idx="10"/>
          </p:nvPr>
        </p:nvSpPr>
        <p:spPr/>
        <p:txBody>
          <a:bodyPr/>
          <a:lstStyle/>
          <a:p>
            <a:fld id="{630E1155-3522-43E7-B4DD-88ABF56411D6}" type="datetime13">
              <a:rPr lang="en-US" smtClean="0"/>
              <a:pPr/>
              <a:t>11:23:12 PM</a:t>
            </a:fld>
            <a:endParaRPr lang="en-US"/>
          </a:p>
        </p:txBody>
      </p:sp>
    </p:spTree>
    <p:extLst>
      <p:ext uri="{BB962C8B-B14F-4D97-AF65-F5344CB8AC3E}">
        <p14:creationId xmlns:p14="http://schemas.microsoft.com/office/powerpoint/2010/main" val="200421469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56060" y="228600"/>
            <a:ext cx="7429499" cy="990600"/>
          </a:xfrm>
        </p:spPr>
        <p:txBody>
          <a:bodyPr/>
          <a:lstStyle/>
          <a:p>
            <a:r>
              <a:rPr lang="en-US" dirty="0"/>
              <a:t>Reasons for sticky prices</a:t>
            </a:r>
          </a:p>
        </p:txBody>
      </p:sp>
      <p:sp>
        <p:nvSpPr>
          <p:cNvPr id="5" name="Content Placeholder 4"/>
          <p:cNvSpPr>
            <a:spLocks noGrp="1"/>
          </p:cNvSpPr>
          <p:nvPr>
            <p:ph idx="1"/>
          </p:nvPr>
        </p:nvSpPr>
        <p:spPr>
          <a:xfrm>
            <a:off x="408432" y="2057400"/>
            <a:ext cx="7904559" cy="5181601"/>
          </a:xfrm>
        </p:spPr>
        <p:txBody>
          <a:bodyPr>
            <a:normAutofit/>
          </a:bodyPr>
          <a:lstStyle/>
          <a:p>
            <a:r>
              <a:rPr lang="en-US" sz="3200" dirty="0" smtClean="0"/>
              <a:t>Informal </a:t>
            </a:r>
            <a:r>
              <a:rPr lang="en-US" sz="3200" dirty="0"/>
              <a:t>collusion is an important reason why prices are sticky</a:t>
            </a:r>
            <a:endParaRPr lang="en-US" sz="3200" dirty="0">
              <a:cs typeface="Arial" charset="0"/>
            </a:endParaRPr>
          </a:p>
          <a:p>
            <a:r>
              <a:rPr lang="en-US" sz="3200" dirty="0"/>
              <a:t>Another is the kinked demand curve</a:t>
            </a:r>
            <a:endParaRPr lang="en-US" sz="3200" dirty="0">
              <a:solidFill>
                <a:srgbClr val="000000"/>
              </a:solidFill>
            </a:endParaRPr>
          </a:p>
          <a:p>
            <a:pPr lvl="1">
              <a:buFont typeface="Arial" charset="0"/>
              <a:buChar char="•"/>
            </a:pPr>
            <a:r>
              <a:rPr lang="en-US" sz="2800" dirty="0"/>
              <a:t>If a firm increases price, others won’t go along, so demand is very elastic for price increases</a:t>
            </a:r>
          </a:p>
          <a:p>
            <a:pPr lvl="1">
              <a:buFont typeface="Arial" charset="0"/>
              <a:buChar char="•"/>
            </a:pPr>
            <a:r>
              <a:rPr lang="en-US" sz="2800" dirty="0"/>
              <a:t>If a firm lowers price, other firms match the decrease, so demand is inelastic for price decreases</a:t>
            </a:r>
            <a:endParaRPr lang="en-US" sz="2800" dirty="0">
              <a:solidFill>
                <a:srgbClr val="000000"/>
              </a:solidFill>
            </a:endParaRPr>
          </a:p>
          <a:p>
            <a:endParaRPr lang="en-US" dirty="0"/>
          </a:p>
        </p:txBody>
      </p:sp>
      <p:sp>
        <p:nvSpPr>
          <p:cNvPr id="3" name="Date Placeholder 2"/>
          <p:cNvSpPr>
            <a:spLocks noGrp="1"/>
          </p:cNvSpPr>
          <p:nvPr>
            <p:ph type="dt" sz="half" idx="10"/>
          </p:nvPr>
        </p:nvSpPr>
        <p:spPr/>
        <p:txBody>
          <a:bodyPr/>
          <a:lstStyle/>
          <a:p>
            <a:fld id="{630E1155-3522-43E7-B4DD-88ABF56411D6}" type="datetime13">
              <a:rPr lang="en-US" smtClean="0"/>
              <a:pPr/>
              <a:t>11:23:12 PM</a:t>
            </a:fld>
            <a:endParaRPr lang="en-US"/>
          </a:p>
        </p:txBody>
      </p:sp>
    </p:spTree>
    <p:extLst>
      <p:ext uri="{BB962C8B-B14F-4D97-AF65-F5344CB8AC3E}">
        <p14:creationId xmlns:p14="http://schemas.microsoft.com/office/powerpoint/2010/main" val="224830275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57200" y="274638"/>
            <a:ext cx="7467600" cy="868362"/>
          </a:xfrm>
        </p:spPr>
        <p:txBody>
          <a:bodyPr>
            <a:normAutofit fontScale="90000"/>
          </a:bodyPr>
          <a:lstStyle/>
          <a:p>
            <a:r>
              <a:rPr lang="en-US" dirty="0"/>
              <a:t>Reasons for sticky </a:t>
            </a:r>
            <a:r>
              <a:rPr lang="en-US" dirty="0" smtClean="0"/>
              <a:t>prices </a:t>
            </a:r>
            <a:r>
              <a:rPr lang="en-US" sz="2700" i="1" dirty="0" smtClean="0"/>
              <a:t>continued</a:t>
            </a:r>
            <a:endParaRPr lang="en-US" sz="2700" i="1" dirty="0"/>
          </a:p>
        </p:txBody>
      </p:sp>
      <p:sp>
        <p:nvSpPr>
          <p:cNvPr id="7" name="Content Placeholder 6"/>
          <p:cNvSpPr>
            <a:spLocks noGrp="1"/>
          </p:cNvSpPr>
          <p:nvPr>
            <p:ph idx="1"/>
          </p:nvPr>
        </p:nvSpPr>
        <p:spPr>
          <a:xfrm>
            <a:off x="609600" y="1981200"/>
            <a:ext cx="8153400" cy="4144963"/>
          </a:xfrm>
        </p:spPr>
        <p:txBody>
          <a:bodyPr>
            <a:normAutofit fontScale="92500" lnSpcReduction="10000"/>
          </a:bodyPr>
          <a:lstStyle/>
          <a:p>
            <a:r>
              <a:rPr lang="en-US" sz="3600" dirty="0" smtClean="0"/>
              <a:t>long-term </a:t>
            </a:r>
            <a:r>
              <a:rPr lang="en-US" sz="3600" dirty="0"/>
              <a:t>contracts between firms </a:t>
            </a:r>
            <a:r>
              <a:rPr lang="en-US" sz="3600" dirty="0" smtClean="0"/>
              <a:t>and customers</a:t>
            </a:r>
            <a:endParaRPr lang="en-US" sz="3600" dirty="0"/>
          </a:p>
          <a:p>
            <a:r>
              <a:rPr lang="en-US" sz="3600" dirty="0"/>
              <a:t>menu costs</a:t>
            </a:r>
          </a:p>
          <a:p>
            <a:r>
              <a:rPr lang="en-US" sz="3600" dirty="0"/>
              <a:t>firms not wishing to annoy customers with frequent price changes</a:t>
            </a:r>
          </a:p>
          <a:p>
            <a:r>
              <a:rPr lang="en-US" sz="3600" dirty="0"/>
              <a:t>Assumption:</a:t>
            </a:r>
          </a:p>
          <a:p>
            <a:pPr lvl="1"/>
            <a:r>
              <a:rPr lang="en-US" sz="3600" dirty="0"/>
              <a:t>Firms set their own prices </a:t>
            </a:r>
            <a:br>
              <a:rPr lang="en-US" sz="3600" dirty="0"/>
            </a:br>
            <a:r>
              <a:rPr lang="en-US" sz="3600" dirty="0"/>
              <a:t>(</a:t>
            </a:r>
            <a:r>
              <a:rPr lang="en-US" sz="3600" i="1" dirty="0"/>
              <a:t>i.e., firms have some market power</a:t>
            </a:r>
            <a:r>
              <a:rPr lang="en-US" sz="3600" dirty="0"/>
              <a:t>)</a:t>
            </a:r>
          </a:p>
          <a:p>
            <a:endParaRPr lang="en-US" dirty="0"/>
          </a:p>
        </p:txBody>
      </p:sp>
      <p:sp>
        <p:nvSpPr>
          <p:cNvPr id="3" name="Date Placeholder 2"/>
          <p:cNvSpPr>
            <a:spLocks noGrp="1"/>
          </p:cNvSpPr>
          <p:nvPr>
            <p:ph type="dt" sz="half" idx="10"/>
          </p:nvPr>
        </p:nvSpPr>
        <p:spPr/>
        <p:txBody>
          <a:bodyPr/>
          <a:lstStyle/>
          <a:p>
            <a:fld id="{630E1155-3522-43E7-B4DD-88ABF56411D6}" type="datetime13">
              <a:rPr lang="en-US" smtClean="0"/>
              <a:pPr/>
              <a:t>11:23:12 PM</a:t>
            </a:fld>
            <a:endParaRPr lang="en-US"/>
          </a:p>
        </p:txBody>
      </p:sp>
    </p:spTree>
    <p:extLst>
      <p:ext uri="{BB962C8B-B14F-4D97-AF65-F5344CB8AC3E}">
        <p14:creationId xmlns:p14="http://schemas.microsoft.com/office/powerpoint/2010/main" val="70363633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57200" y="274320"/>
            <a:ext cx="8534400" cy="1021080"/>
          </a:xfrm>
        </p:spPr>
        <p:txBody>
          <a:bodyPr>
            <a:normAutofit fontScale="90000"/>
          </a:bodyPr>
          <a:lstStyle/>
          <a:p>
            <a:r>
              <a:rPr lang="en-US" dirty="0" smtClean="0"/>
              <a:t>Sticky Price leads to Kinked </a:t>
            </a:r>
            <a:r>
              <a:rPr lang="en-US" dirty="0" err="1" smtClean="0"/>
              <a:t>dd</a:t>
            </a:r>
            <a:r>
              <a:rPr lang="en-US" dirty="0" smtClean="0"/>
              <a:t> curves</a:t>
            </a:r>
            <a:endParaRPr lang="en-US" dirty="0"/>
          </a:p>
        </p:txBody>
      </p:sp>
      <p:sp>
        <p:nvSpPr>
          <p:cNvPr id="4" name="Date Placeholder 3"/>
          <p:cNvSpPr>
            <a:spLocks noGrp="1"/>
          </p:cNvSpPr>
          <p:nvPr>
            <p:ph type="dt" sz="half" idx="10"/>
          </p:nvPr>
        </p:nvSpPr>
        <p:spPr/>
        <p:txBody>
          <a:bodyPr/>
          <a:lstStyle/>
          <a:p>
            <a:fld id="{7921004A-F2A1-4A5F-8CF1-9CB1E96F2FFB}" type="datetime13">
              <a:rPr lang="en-US" smtClean="0"/>
              <a:pPr/>
              <a:t>11:23:12 PM</a:t>
            </a:fld>
            <a:endParaRPr lang="en-US"/>
          </a:p>
        </p:txBody>
      </p:sp>
      <p:pic>
        <p:nvPicPr>
          <p:cNvPr id="84993" name="Picture 1" descr="C:\Users\Oyugi\Desktop\olig.jpeg"/>
          <p:cNvPicPr>
            <a:picLocks noChangeAspect="1" noChangeArrowheads="1"/>
          </p:cNvPicPr>
          <p:nvPr/>
        </p:nvPicPr>
        <p:blipFill>
          <a:blip r:embed="rId2"/>
          <a:srcRect/>
          <a:stretch>
            <a:fillRect/>
          </a:stretch>
        </p:blipFill>
        <p:spPr bwMode="auto">
          <a:xfrm>
            <a:off x="762000" y="1905000"/>
            <a:ext cx="7162800" cy="4495800"/>
          </a:xfrm>
          <a:prstGeom prst="rect">
            <a:avLst/>
          </a:prstGeom>
          <a:ln>
            <a:noFill/>
          </a:ln>
          <a:effectLst>
            <a:outerShdw blurRad="292100" dist="139700" dir="2700000" algn="tl" rotWithShape="0">
              <a:srgbClr val="333333">
                <a:alpha val="65000"/>
              </a:srgbClr>
            </a:outerShdw>
          </a:effectLst>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84993"/>
                                        </p:tgtEl>
                                        <p:attrNameLst>
                                          <p:attrName>style.visibility</p:attrName>
                                        </p:attrNameLst>
                                      </p:cBhvr>
                                      <p:to>
                                        <p:strVal val="visible"/>
                                      </p:to>
                                    </p:set>
                                    <p:animEffect transition="in" filter="circle(in)">
                                      <p:cBhvr>
                                        <p:cTn id="7" dur="2000"/>
                                        <p:tgtEl>
                                          <p:spTgt spid="849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l-GR" dirty="0" smtClean="0">
                <a:latin typeface="Calibri"/>
              </a:rPr>
              <a:t>Π</a:t>
            </a:r>
            <a:r>
              <a:rPr lang="en-US" dirty="0" smtClean="0">
                <a:latin typeface="Calibri"/>
              </a:rPr>
              <a:t> MAXIMIZATION IN PC MARKETS</a:t>
            </a:r>
            <a:endParaRPr lang="en-US" dirty="0"/>
          </a:p>
        </p:txBody>
      </p:sp>
      <p:sp>
        <p:nvSpPr>
          <p:cNvPr id="3" name="Content Placeholder 2"/>
          <p:cNvSpPr>
            <a:spLocks noGrp="1"/>
          </p:cNvSpPr>
          <p:nvPr>
            <p:ph idx="1"/>
          </p:nvPr>
        </p:nvSpPr>
        <p:spPr>
          <a:xfrm>
            <a:off x="914400" y="1981200"/>
            <a:ext cx="7772400" cy="4724400"/>
          </a:xfrm>
        </p:spPr>
        <p:txBody>
          <a:bodyPr>
            <a:normAutofit fontScale="92500" lnSpcReduction="10000"/>
          </a:bodyPr>
          <a:lstStyle/>
          <a:p>
            <a:r>
              <a:rPr lang="en-US" sz="3600" dirty="0" smtClean="0"/>
              <a:t>Key concepts:</a:t>
            </a:r>
          </a:p>
          <a:p>
            <a:r>
              <a:rPr lang="en-US" sz="3600" b="1" dirty="0" smtClean="0"/>
              <a:t>Total Revenue (TR)</a:t>
            </a:r>
            <a:r>
              <a:rPr lang="en-US" sz="3600" dirty="0" smtClean="0"/>
              <a:t> –total receipts from a firm’s sales within a specified period of time.</a:t>
            </a:r>
          </a:p>
          <a:p>
            <a:pPr lvl="1"/>
            <a:r>
              <a:rPr lang="en-US" sz="3600" dirty="0" smtClean="0"/>
              <a:t>TR  =  Price(P)</a:t>
            </a:r>
            <a:r>
              <a:rPr lang="en-US" sz="3600" dirty="0" err="1" smtClean="0"/>
              <a:t>XQuantity</a:t>
            </a:r>
            <a:r>
              <a:rPr lang="en-US" sz="3600" dirty="0" smtClean="0"/>
              <a:t> sold(Q)</a:t>
            </a:r>
          </a:p>
          <a:p>
            <a:r>
              <a:rPr lang="en-US" sz="3600" b="1" dirty="0" smtClean="0"/>
              <a:t>Average revenue (AR) – </a:t>
            </a:r>
            <a:r>
              <a:rPr lang="en-US" sz="3600" dirty="0" smtClean="0"/>
              <a:t>are the total receipts divided by the number of unit of a good or service sold. </a:t>
            </a:r>
          </a:p>
          <a:p>
            <a:pPr marL="320040" lvl="1" indent="-320040">
              <a:spcBef>
                <a:spcPts val="700"/>
              </a:spcBef>
              <a:buClr>
                <a:schemeClr val="accent2"/>
              </a:buClr>
              <a:buSzPct val="60000"/>
              <a:buFont typeface="Wingdings"/>
              <a:buChar char=""/>
            </a:pPr>
            <a:r>
              <a:rPr lang="en-US" sz="3600" dirty="0" smtClean="0"/>
              <a:t>AR  =TR/Q  P.Q/Q=P</a:t>
            </a:r>
          </a:p>
          <a:p>
            <a:endParaRPr lang="en-US" dirty="0" smtClean="0"/>
          </a:p>
          <a:p>
            <a:pPr lvl="1">
              <a:buNone/>
            </a:pPr>
            <a:endParaRPr lang="en-US" dirty="0" smtClean="0"/>
          </a:p>
          <a:p>
            <a:pPr lvl="1">
              <a:buNone/>
            </a:pPr>
            <a:endParaRPr lang="en-US" dirty="0"/>
          </a:p>
        </p:txBody>
      </p:sp>
      <p:sp>
        <p:nvSpPr>
          <p:cNvPr id="4" name="Date Placeholder 3"/>
          <p:cNvSpPr>
            <a:spLocks noGrp="1"/>
          </p:cNvSpPr>
          <p:nvPr>
            <p:ph type="dt" sz="half" idx="10"/>
          </p:nvPr>
        </p:nvSpPr>
        <p:spPr/>
        <p:txBody>
          <a:bodyPr/>
          <a:lstStyle/>
          <a:p>
            <a:fld id="{7921004A-F2A1-4A5F-8CF1-9CB1E96F2FFB}" type="datetime13">
              <a:rPr lang="en-US" smtClean="0"/>
              <a:pPr/>
              <a:t>11:23:12 PM</a:t>
            </a:fld>
            <a:endParaRPr lang="en-US"/>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50938" y="214313"/>
            <a:ext cx="7993062" cy="1004887"/>
          </a:xfrm>
        </p:spPr>
        <p:txBody>
          <a:bodyPr>
            <a:normAutofit/>
          </a:bodyPr>
          <a:lstStyle/>
          <a:p>
            <a:r>
              <a:rPr lang="el-GR" dirty="0" smtClean="0">
                <a:latin typeface="Calibri"/>
              </a:rPr>
              <a:t>Π</a:t>
            </a:r>
            <a:r>
              <a:rPr lang="en-US" dirty="0" smtClean="0">
                <a:latin typeface="Calibri"/>
              </a:rPr>
              <a:t> MAXIMIZATION IN PC MARKETS</a:t>
            </a:r>
            <a:endParaRPr lang="en-US" dirty="0"/>
          </a:p>
        </p:txBody>
      </p:sp>
      <p:sp>
        <p:nvSpPr>
          <p:cNvPr id="3" name="Content Placeholder 2"/>
          <p:cNvSpPr>
            <a:spLocks noGrp="1"/>
          </p:cNvSpPr>
          <p:nvPr>
            <p:ph idx="1"/>
          </p:nvPr>
        </p:nvSpPr>
        <p:spPr>
          <a:xfrm>
            <a:off x="609600" y="1219200"/>
            <a:ext cx="8077200" cy="5136360"/>
          </a:xfrm>
        </p:spPr>
        <p:txBody>
          <a:bodyPr>
            <a:normAutofit fontScale="85000" lnSpcReduction="20000"/>
          </a:bodyPr>
          <a:lstStyle/>
          <a:p>
            <a:pPr algn="just"/>
            <a:r>
              <a:rPr lang="en-US" sz="4000" b="1" dirty="0" smtClean="0"/>
              <a:t>Marginal revenue (MR)</a:t>
            </a:r>
            <a:r>
              <a:rPr lang="en-US" sz="4000" dirty="0" smtClean="0"/>
              <a:t> – this is the additional revenue accruing from sales of an additional unit of a good or service.</a:t>
            </a:r>
          </a:p>
          <a:p>
            <a:pPr algn="just"/>
            <a:endParaRPr lang="en-US" sz="4000" dirty="0" smtClean="0"/>
          </a:p>
          <a:p>
            <a:pPr algn="just"/>
            <a:endParaRPr lang="en-US" sz="4000" dirty="0" smtClean="0"/>
          </a:p>
          <a:p>
            <a:pPr algn="just"/>
            <a:r>
              <a:rPr lang="en-US" sz="4000" dirty="0" smtClean="0"/>
              <a:t> </a:t>
            </a:r>
          </a:p>
          <a:p>
            <a:pPr algn="just"/>
            <a:r>
              <a:rPr lang="en-US" sz="4000" dirty="0" smtClean="0"/>
              <a:t>Profit is maximized at the point where; </a:t>
            </a:r>
          </a:p>
          <a:p>
            <a:pPr algn="just"/>
            <a:r>
              <a:rPr lang="en-US" sz="4000" dirty="0" smtClean="0"/>
              <a:t>	P = MR = MC</a:t>
            </a:r>
          </a:p>
          <a:p>
            <a:pPr algn="just"/>
            <a:r>
              <a:rPr lang="en-US" sz="4000" dirty="0" smtClean="0"/>
              <a:t> </a:t>
            </a:r>
            <a:endParaRPr lang="en-US" dirty="0"/>
          </a:p>
        </p:txBody>
      </p:sp>
      <p:sp>
        <p:nvSpPr>
          <p:cNvPr id="4" name="Date Placeholder 3"/>
          <p:cNvSpPr>
            <a:spLocks noGrp="1"/>
          </p:cNvSpPr>
          <p:nvPr>
            <p:ph type="dt" sz="half" idx="10"/>
          </p:nvPr>
        </p:nvSpPr>
        <p:spPr/>
        <p:txBody>
          <a:bodyPr/>
          <a:lstStyle/>
          <a:p>
            <a:fld id="{7921004A-F2A1-4A5F-8CF1-9CB1E96F2FFB}" type="datetime13">
              <a:rPr lang="en-US" smtClean="0"/>
              <a:pPr/>
              <a:t>11:23:12 PM</a:t>
            </a:fld>
            <a:endParaRPr lang="en-US"/>
          </a:p>
        </p:txBody>
      </p:sp>
      <p:graphicFrame>
        <p:nvGraphicFramePr>
          <p:cNvPr id="5" name="Object 4"/>
          <p:cNvGraphicFramePr>
            <a:graphicFrameLocks noChangeAspect="1"/>
          </p:cNvGraphicFramePr>
          <p:nvPr>
            <p:extLst>
              <p:ext uri="{D42A27DB-BD31-4B8C-83A1-F6EECF244321}">
                <p14:modId xmlns:p14="http://schemas.microsoft.com/office/powerpoint/2010/main" val="1010594883"/>
              </p:ext>
            </p:extLst>
          </p:nvPr>
        </p:nvGraphicFramePr>
        <p:xfrm>
          <a:off x="3238500" y="2667000"/>
          <a:ext cx="2819400" cy="1295400"/>
        </p:xfrm>
        <a:graphic>
          <a:graphicData uri="http://schemas.openxmlformats.org/presentationml/2006/ole">
            <mc:AlternateContent xmlns:mc="http://schemas.openxmlformats.org/markup-compatibility/2006">
              <mc:Choice xmlns:v="urn:schemas-microsoft-com:vml" Requires="v">
                <p:oleObj spid="_x0000_s81977" name="Equation" r:id="rId4" imgW="711000" imgH="419040" progId="Equation.3">
                  <p:embed/>
                </p:oleObj>
              </mc:Choice>
              <mc:Fallback>
                <p:oleObj name="Equation" r:id="rId4" imgW="711000" imgH="419040" progId="Equation.3">
                  <p:embed/>
                  <p:pic>
                    <p:nvPicPr>
                      <p:cNvPr id="0" name="Picture 2"/>
                      <p:cNvPicPr>
                        <a:picLocks noChangeAspect="1" noChangeArrowheads="1"/>
                      </p:cNvPicPr>
                      <p:nvPr/>
                    </p:nvPicPr>
                    <p:blipFill>
                      <a:blip r:embed="rId5"/>
                      <a:srcRect/>
                      <a:stretch>
                        <a:fillRect/>
                      </a:stretch>
                    </p:blipFill>
                    <p:spPr bwMode="auto">
                      <a:xfrm>
                        <a:off x="3238500" y="2667000"/>
                        <a:ext cx="2819400" cy="1295400"/>
                      </a:xfrm>
                      <a:prstGeom prst="rect">
                        <a:avLst/>
                      </a:prstGeom>
                      <a:solidFill>
                        <a:srgbClr val="FFFF99"/>
                      </a:solidFill>
                    </p:spPr>
                  </p:pic>
                </p:oleObj>
              </mc:Fallback>
            </mc:AlternateContent>
          </a:graphicData>
        </a:graphic>
      </p:graphicFrame>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28600"/>
            <a:ext cx="7772400" cy="685800"/>
          </a:xfrm>
        </p:spPr>
        <p:txBody>
          <a:bodyPr/>
          <a:lstStyle/>
          <a:p>
            <a:r>
              <a:rPr lang="en-US" sz="3600" dirty="0" smtClean="0">
                <a:latin typeface="Calibri"/>
              </a:rPr>
              <a:t>PROFIT  MAXIMIZATION IN PC  MARKETS</a:t>
            </a:r>
            <a:endParaRPr lang="en-US" sz="3600" dirty="0"/>
          </a:p>
        </p:txBody>
      </p:sp>
      <p:sp>
        <p:nvSpPr>
          <p:cNvPr id="4" name="Date Placeholder 3"/>
          <p:cNvSpPr>
            <a:spLocks noGrp="1"/>
          </p:cNvSpPr>
          <p:nvPr>
            <p:ph type="dt" sz="half" idx="10"/>
          </p:nvPr>
        </p:nvSpPr>
        <p:spPr/>
        <p:txBody>
          <a:bodyPr/>
          <a:lstStyle/>
          <a:p>
            <a:fld id="{7921004A-F2A1-4A5F-8CF1-9CB1E96F2FFB}" type="datetime13">
              <a:rPr lang="en-US" smtClean="0"/>
              <a:pPr/>
              <a:t>11:23:12 PM</a:t>
            </a:fld>
            <a:endParaRPr lang="en-US"/>
          </a:p>
        </p:txBody>
      </p:sp>
      <p:pic>
        <p:nvPicPr>
          <p:cNvPr id="3" name="Picture 2" descr="C:\Users\Oyugis\Pictures\PCM.png"/>
          <p:cNvPicPr>
            <a:picLocks noChangeAspect="1" noChangeArrowheads="1"/>
          </p:cNvPicPr>
          <p:nvPr/>
        </p:nvPicPr>
        <p:blipFill>
          <a:blip r:embed="rId3" cstate="print"/>
          <a:srcRect/>
          <a:stretch>
            <a:fillRect/>
          </a:stretch>
        </p:blipFill>
        <p:spPr bwMode="auto">
          <a:xfrm>
            <a:off x="1295400" y="1905000"/>
            <a:ext cx="6629400" cy="4419600"/>
          </a:xfrm>
          <a:prstGeom prst="rect">
            <a:avLst/>
          </a:prstGeom>
          <a:ln>
            <a:noFill/>
          </a:ln>
          <a:effectLst>
            <a:outerShdw blurRad="292100" dist="139700" dir="2700000" algn="tl" rotWithShape="0">
              <a:srgbClr val="333333">
                <a:alpha val="65000"/>
              </a:srgbClr>
            </a:outerShdw>
          </a:effectLst>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80">
                                          <p:stCondLst>
                                            <p:cond delay="0"/>
                                          </p:stCondLst>
                                        </p:cTn>
                                        <p:tgtEl>
                                          <p:spTgt spid="3"/>
                                        </p:tgtEl>
                                      </p:cBhvr>
                                    </p:animEffect>
                                    <p:anim calcmode="lin" valueType="num">
                                      <p:cBhvr>
                                        <p:cTn id="8" dur="1822" tmFilter="0,0; 0.14,0.36; 0.43,0.73; 0.71,0.91; 1.0,1.0">
                                          <p:stCondLst>
                                            <p:cond delay="0"/>
                                          </p:stCondLst>
                                        </p:cTn>
                                        <p:tgtEl>
                                          <p:spTgt spid="3"/>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3"/>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3"/>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3"/>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3"/>
                                        </p:tgtEl>
                                        <p:attrNameLst>
                                          <p:attrName>ppt_y</p:attrName>
                                        </p:attrNameLst>
                                      </p:cBhvr>
                                      <p:tavLst>
                                        <p:tav tm="0" fmla="#ppt_y-sin(pi*$)/81">
                                          <p:val>
                                            <p:fltVal val="0"/>
                                          </p:val>
                                        </p:tav>
                                        <p:tav tm="100000">
                                          <p:val>
                                            <p:fltVal val="1"/>
                                          </p:val>
                                        </p:tav>
                                      </p:tavLst>
                                    </p:anim>
                                    <p:animScale>
                                      <p:cBhvr>
                                        <p:cTn id="13" dur="26">
                                          <p:stCondLst>
                                            <p:cond delay="650"/>
                                          </p:stCondLst>
                                        </p:cTn>
                                        <p:tgtEl>
                                          <p:spTgt spid="3"/>
                                        </p:tgtEl>
                                      </p:cBhvr>
                                      <p:to x="100000" y="60000"/>
                                    </p:animScale>
                                    <p:animScale>
                                      <p:cBhvr>
                                        <p:cTn id="14" dur="166" decel="50000">
                                          <p:stCondLst>
                                            <p:cond delay="676"/>
                                          </p:stCondLst>
                                        </p:cTn>
                                        <p:tgtEl>
                                          <p:spTgt spid="3"/>
                                        </p:tgtEl>
                                      </p:cBhvr>
                                      <p:to x="100000" y="100000"/>
                                    </p:animScale>
                                    <p:animScale>
                                      <p:cBhvr>
                                        <p:cTn id="15" dur="26">
                                          <p:stCondLst>
                                            <p:cond delay="1312"/>
                                          </p:stCondLst>
                                        </p:cTn>
                                        <p:tgtEl>
                                          <p:spTgt spid="3"/>
                                        </p:tgtEl>
                                      </p:cBhvr>
                                      <p:to x="100000" y="80000"/>
                                    </p:animScale>
                                    <p:animScale>
                                      <p:cBhvr>
                                        <p:cTn id="16" dur="166" decel="50000">
                                          <p:stCondLst>
                                            <p:cond delay="1338"/>
                                          </p:stCondLst>
                                        </p:cTn>
                                        <p:tgtEl>
                                          <p:spTgt spid="3"/>
                                        </p:tgtEl>
                                      </p:cBhvr>
                                      <p:to x="100000" y="100000"/>
                                    </p:animScale>
                                    <p:animScale>
                                      <p:cBhvr>
                                        <p:cTn id="17" dur="26">
                                          <p:stCondLst>
                                            <p:cond delay="1642"/>
                                          </p:stCondLst>
                                        </p:cTn>
                                        <p:tgtEl>
                                          <p:spTgt spid="3"/>
                                        </p:tgtEl>
                                      </p:cBhvr>
                                      <p:to x="100000" y="90000"/>
                                    </p:animScale>
                                    <p:animScale>
                                      <p:cBhvr>
                                        <p:cTn id="18" dur="166" decel="50000">
                                          <p:stCondLst>
                                            <p:cond delay="1668"/>
                                          </p:stCondLst>
                                        </p:cTn>
                                        <p:tgtEl>
                                          <p:spTgt spid="3"/>
                                        </p:tgtEl>
                                      </p:cBhvr>
                                      <p:to x="100000" y="100000"/>
                                    </p:animScale>
                                    <p:animScale>
                                      <p:cBhvr>
                                        <p:cTn id="19" dur="26">
                                          <p:stCondLst>
                                            <p:cond delay="1808"/>
                                          </p:stCondLst>
                                        </p:cTn>
                                        <p:tgtEl>
                                          <p:spTgt spid="3"/>
                                        </p:tgtEl>
                                      </p:cBhvr>
                                      <p:to x="100000" y="95000"/>
                                    </p:animScale>
                                    <p:animScale>
                                      <p:cBhvr>
                                        <p:cTn id="20" dur="166" decel="50000">
                                          <p:stCondLst>
                                            <p:cond delay="1834"/>
                                          </p:stCondLst>
                                        </p:cTn>
                                        <p:tgtEl>
                                          <p:spTgt spid="3"/>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214313"/>
            <a:ext cx="8991600" cy="928687"/>
          </a:xfrm>
        </p:spPr>
        <p:txBody>
          <a:bodyPr>
            <a:normAutofit/>
          </a:bodyPr>
          <a:lstStyle/>
          <a:p>
            <a:r>
              <a:rPr lang="el-GR" dirty="0" smtClean="0"/>
              <a:t>Π</a:t>
            </a:r>
            <a:r>
              <a:rPr lang="en-US" dirty="0" smtClean="0"/>
              <a:t> Maximization: </a:t>
            </a:r>
            <a:r>
              <a:rPr lang="en-US" sz="2400" i="1" dirty="0" smtClean="0"/>
              <a:t>Necessary &amp; Sufficiency Conditions</a:t>
            </a:r>
            <a:endParaRPr lang="en-US" sz="2400" i="1"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81000" y="2017713"/>
                <a:ext cx="8574088" cy="4114800"/>
              </a:xfrm>
            </p:spPr>
            <p:txBody>
              <a:bodyPr/>
              <a:lstStyle/>
              <a:p>
                <a:pPr algn="just"/>
                <a14:m>
                  <m:oMath xmlns:m="http://schemas.openxmlformats.org/officeDocument/2006/math">
                    <m:r>
                      <a:rPr lang="en-US" sz="4400" i="1">
                        <a:latin typeface="Cambria Math"/>
                      </a:rPr>
                      <m:t>𝑛𝑒𝑐𝑒𝑠𝑠𝑎𝑟𝑦</m:t>
                    </m:r>
                    <m:r>
                      <a:rPr lang="en-US" sz="4400" i="1">
                        <a:latin typeface="Cambria Math"/>
                      </a:rPr>
                      <m:t> </m:t>
                    </m:r>
                    <m:r>
                      <a:rPr lang="en-US" sz="4400" i="1">
                        <a:latin typeface="Cambria Math"/>
                      </a:rPr>
                      <m:t>𝑐𝑜𝑛𝑑𝑖𝑡𝑖𝑜𝑛</m:t>
                    </m:r>
                    <m:r>
                      <a:rPr lang="en-US" sz="4400" i="1">
                        <a:latin typeface="Cambria Math"/>
                      </a:rPr>
                      <m:t>=</m:t>
                    </m:r>
                    <m:f>
                      <m:fPr>
                        <m:ctrlPr>
                          <a:rPr lang="en-US" sz="4400" i="1">
                            <a:latin typeface="Cambria Math" panose="02040503050406030204" pitchFamily="18" charset="0"/>
                          </a:rPr>
                        </m:ctrlPr>
                      </m:fPr>
                      <m:num>
                        <m:r>
                          <a:rPr lang="en-US" sz="4400" i="1">
                            <a:latin typeface="Cambria Math"/>
                          </a:rPr>
                          <m:t>𝑑</m:t>
                        </m:r>
                        <m:r>
                          <m:rPr>
                            <m:sty m:val="p"/>
                          </m:rPr>
                          <a:rPr lang="el-GR" sz="4400" i="1">
                            <a:latin typeface="Cambria Math"/>
                          </a:rPr>
                          <m:t>π</m:t>
                        </m:r>
                      </m:num>
                      <m:den>
                        <m:r>
                          <a:rPr lang="en-US" sz="4400" i="1">
                            <a:latin typeface="Cambria Math"/>
                          </a:rPr>
                          <m:t>𝑑𝑄</m:t>
                        </m:r>
                      </m:den>
                    </m:f>
                  </m:oMath>
                </a14:m>
                <a:r>
                  <a:rPr lang="en-US" sz="4400" dirty="0"/>
                  <a:t>=</a:t>
                </a:r>
                <a:r>
                  <a:rPr lang="en-US" sz="4400" dirty="0" smtClean="0"/>
                  <a:t>0</a:t>
                </a:r>
              </a:p>
              <a:p>
                <a:pPr marL="0" indent="0" algn="just">
                  <a:buNone/>
                </a:pPr>
                <a:endParaRPr lang="en-US" sz="4400" dirty="0"/>
              </a:p>
              <a:p>
                <a:pPr algn="just"/>
                <a14:m>
                  <m:oMath xmlns:m="http://schemas.openxmlformats.org/officeDocument/2006/math">
                    <m:r>
                      <a:rPr lang="en-US" sz="4400" i="1">
                        <a:latin typeface="Cambria Math"/>
                      </a:rPr>
                      <m:t>𝑠𝑢𝑓𝑓𝑖𝑐𝑖𝑒𝑛𝑡</m:t>
                    </m:r>
                    <m:r>
                      <a:rPr lang="en-US" sz="4400" i="1">
                        <a:latin typeface="Cambria Math"/>
                      </a:rPr>
                      <m:t> </m:t>
                    </m:r>
                    <m:r>
                      <a:rPr lang="en-US" sz="4400" i="1">
                        <a:latin typeface="Cambria Math"/>
                      </a:rPr>
                      <m:t>𝑐𝑜𝑛𝑑𝑖𝑡𝑖𝑜𝑛</m:t>
                    </m:r>
                    <m:r>
                      <a:rPr lang="en-US" sz="4400" i="1">
                        <a:latin typeface="Cambria Math"/>
                      </a:rPr>
                      <m:t>=</m:t>
                    </m:r>
                    <m:f>
                      <m:fPr>
                        <m:ctrlPr>
                          <a:rPr lang="en-US" sz="4400" i="1">
                            <a:latin typeface="Cambria Math" panose="02040503050406030204" pitchFamily="18" charset="0"/>
                          </a:rPr>
                        </m:ctrlPr>
                      </m:fPr>
                      <m:num>
                        <m:sSup>
                          <m:sSupPr>
                            <m:ctrlPr>
                              <a:rPr lang="en-US" sz="4400" i="1">
                                <a:latin typeface="Cambria Math" panose="02040503050406030204" pitchFamily="18" charset="0"/>
                              </a:rPr>
                            </m:ctrlPr>
                          </m:sSupPr>
                          <m:e>
                            <m:r>
                              <a:rPr lang="en-US" sz="4400" i="1">
                                <a:latin typeface="Cambria Math"/>
                              </a:rPr>
                              <m:t>𝑑</m:t>
                            </m:r>
                          </m:e>
                          <m:sup>
                            <m:r>
                              <a:rPr lang="en-US" sz="4400" i="1">
                                <a:latin typeface="Cambria Math"/>
                              </a:rPr>
                              <m:t>2</m:t>
                            </m:r>
                          </m:sup>
                        </m:sSup>
                        <m:r>
                          <m:rPr>
                            <m:sty m:val="p"/>
                          </m:rPr>
                          <a:rPr lang="el-GR" sz="4400" i="1">
                            <a:latin typeface="Cambria Math"/>
                          </a:rPr>
                          <m:t>π</m:t>
                        </m:r>
                      </m:num>
                      <m:den>
                        <m:r>
                          <a:rPr lang="en-US" sz="4400" i="1">
                            <a:latin typeface="Cambria Math"/>
                          </a:rPr>
                          <m:t>𝑑</m:t>
                        </m:r>
                        <m:sSup>
                          <m:sSupPr>
                            <m:ctrlPr>
                              <a:rPr lang="en-US" sz="4400" i="1">
                                <a:latin typeface="Cambria Math" panose="02040503050406030204" pitchFamily="18" charset="0"/>
                              </a:rPr>
                            </m:ctrlPr>
                          </m:sSupPr>
                          <m:e>
                            <m:r>
                              <a:rPr lang="en-US" sz="4400" i="1">
                                <a:latin typeface="Cambria Math"/>
                              </a:rPr>
                              <m:t>𝑄</m:t>
                            </m:r>
                          </m:e>
                          <m:sup>
                            <m:r>
                              <a:rPr lang="en-US" sz="4400" i="1">
                                <a:latin typeface="Cambria Math"/>
                              </a:rPr>
                              <m:t>2</m:t>
                            </m:r>
                          </m:sup>
                        </m:sSup>
                      </m:den>
                    </m:f>
                  </m:oMath>
                </a14:m>
                <a:r>
                  <a:rPr lang="en-US" sz="4400" dirty="0"/>
                  <a:t>&lt;0</a:t>
                </a:r>
              </a:p>
              <a:p>
                <a:pPr marL="0" indent="0">
                  <a:buNone/>
                </a:pPr>
                <a:endParaRPr lang="en-US" sz="44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81000" y="2017713"/>
                <a:ext cx="8574088" cy="4114800"/>
              </a:xfrm>
              <a:blipFill rotWithShape="1">
                <a:blip r:embed="rId2"/>
                <a:stretch>
                  <a:fillRect l="-2916" b="-6222"/>
                </a:stretch>
              </a:blipFill>
            </p:spPr>
            <p:txBody>
              <a:bodyPr/>
              <a:lstStyle/>
              <a:p>
                <a:r>
                  <a:rPr lang="en-US">
                    <a:noFill/>
                  </a:rPr>
                  <a:t> </a:t>
                </a:r>
              </a:p>
            </p:txBody>
          </p:sp>
        </mc:Fallback>
      </mc:AlternateContent>
    </p:spTree>
    <p:extLst>
      <p:ext uri="{BB962C8B-B14F-4D97-AF65-F5344CB8AC3E}">
        <p14:creationId xmlns:p14="http://schemas.microsoft.com/office/powerpoint/2010/main" val="1064123456"/>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50938" y="214313"/>
            <a:ext cx="7793037" cy="1081087"/>
          </a:xfrm>
        </p:spPr>
        <p:txBody>
          <a:bodyPr/>
          <a:lstStyle/>
          <a:p>
            <a:r>
              <a:rPr lang="en-US" dirty="0" smtClean="0"/>
              <a:t>Numerical example</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04800" y="1143000"/>
                <a:ext cx="8839200" cy="5334000"/>
              </a:xfrm>
            </p:spPr>
            <p:txBody>
              <a:bodyPr>
                <a:noAutofit/>
              </a:bodyPr>
              <a:lstStyle/>
              <a:p>
                <a:r>
                  <a:rPr lang="en-US" sz="2800" dirty="0" smtClean="0"/>
                  <a:t>XYZ Ltd, operates in a perfectly competitive market producing laptops. The firm’s total revenue and total cost functions are, respectively,</a:t>
                </a:r>
                <a:endParaRPr lang="en-US" sz="2800" b="0" i="1" dirty="0" smtClean="0">
                  <a:latin typeface="Cambria Math"/>
                </a:endParaRPr>
              </a:p>
              <a:p>
                <a:pPr lvl="1"/>
                <a14:m>
                  <m:oMath xmlns:m="http://schemas.openxmlformats.org/officeDocument/2006/math">
                    <m:r>
                      <a:rPr lang="en-US" sz="2800" b="0" i="1" smtClean="0">
                        <a:latin typeface="Cambria Math"/>
                      </a:rPr>
                      <m:t>𝑇𝑅</m:t>
                    </m:r>
                    <m:r>
                      <a:rPr lang="en-US" sz="2800" b="0" i="1" smtClean="0">
                        <a:latin typeface="Cambria Math"/>
                      </a:rPr>
                      <m:t>=5,000+100</m:t>
                    </m:r>
                    <m:r>
                      <a:rPr lang="en-US" sz="2800" b="0" i="1" smtClean="0">
                        <a:latin typeface="Cambria Math"/>
                      </a:rPr>
                      <m:t>𝑄</m:t>
                    </m:r>
                    <m:r>
                      <a:rPr lang="en-US" sz="2800" b="0" i="1" smtClean="0">
                        <a:latin typeface="Cambria Math"/>
                      </a:rPr>
                      <m:t>−6</m:t>
                    </m:r>
                    <m:sSup>
                      <m:sSupPr>
                        <m:ctrlPr>
                          <a:rPr lang="en-US" sz="2800" b="0" i="1" smtClean="0">
                            <a:latin typeface="Cambria Math" panose="02040503050406030204" pitchFamily="18" charset="0"/>
                          </a:rPr>
                        </m:ctrlPr>
                      </m:sSupPr>
                      <m:e>
                        <m:r>
                          <a:rPr lang="en-US" sz="2800" b="0" i="1" smtClean="0">
                            <a:latin typeface="Cambria Math"/>
                          </a:rPr>
                          <m:t>𝑄</m:t>
                        </m:r>
                      </m:e>
                      <m:sup>
                        <m:r>
                          <a:rPr lang="en-US" sz="2800" b="0" i="1" smtClean="0">
                            <a:latin typeface="Cambria Math"/>
                          </a:rPr>
                          <m:t>2</m:t>
                        </m:r>
                      </m:sup>
                    </m:sSup>
                  </m:oMath>
                </a14:m>
                <a:r>
                  <a:rPr lang="en-US" sz="2800" dirty="0" smtClean="0"/>
                  <a:t> </a:t>
                </a:r>
              </a:p>
              <a:p>
                <a:pPr lvl="1"/>
                <a14:m>
                  <m:oMath xmlns:m="http://schemas.openxmlformats.org/officeDocument/2006/math">
                    <m:r>
                      <a:rPr lang="en-US" sz="2800" b="0" i="1" smtClean="0">
                        <a:latin typeface="Cambria Math"/>
                      </a:rPr>
                      <m:t>𝑇𝐶</m:t>
                    </m:r>
                    <m:r>
                      <a:rPr lang="en-US" sz="2800" b="0" i="1" smtClean="0">
                        <a:latin typeface="Cambria Math"/>
                      </a:rPr>
                      <m:t>=2,500+44</m:t>
                    </m:r>
                    <m:r>
                      <a:rPr lang="en-US" sz="2800" b="0" i="1" smtClean="0">
                        <a:latin typeface="Cambria Math"/>
                      </a:rPr>
                      <m:t>𝑄</m:t>
                    </m:r>
                    <m:r>
                      <a:rPr lang="en-US" sz="2800" b="0" i="1" smtClean="0">
                        <a:latin typeface="Cambria Math"/>
                      </a:rPr>
                      <m:t>−2.5</m:t>
                    </m:r>
                    <m:sSup>
                      <m:sSupPr>
                        <m:ctrlPr>
                          <a:rPr lang="en-US" sz="2800" i="1">
                            <a:latin typeface="Cambria Math" panose="02040503050406030204" pitchFamily="18" charset="0"/>
                          </a:rPr>
                        </m:ctrlPr>
                      </m:sSupPr>
                      <m:e>
                        <m:r>
                          <a:rPr lang="en-US" sz="2800" i="1">
                            <a:latin typeface="Cambria Math"/>
                          </a:rPr>
                          <m:t>𝑄</m:t>
                        </m:r>
                      </m:e>
                      <m:sup>
                        <m:r>
                          <a:rPr lang="en-US" sz="2800" i="1">
                            <a:latin typeface="Cambria Math"/>
                          </a:rPr>
                          <m:t>2</m:t>
                        </m:r>
                      </m:sup>
                    </m:sSup>
                    <m:r>
                      <m:rPr>
                        <m:nor/>
                      </m:rPr>
                      <a:rPr lang="en-US" sz="2800" dirty="0"/>
                      <m:t> </m:t>
                    </m:r>
                  </m:oMath>
                </a14:m>
                <a:endParaRPr lang="en-US" sz="2800" dirty="0" smtClean="0"/>
              </a:p>
              <a:p>
                <a:r>
                  <a:rPr lang="en-US" sz="2800" dirty="0" smtClean="0"/>
                  <a:t>Required</a:t>
                </a:r>
              </a:p>
              <a:p>
                <a:pPr marL="1028700" lvl="1" indent="-571500">
                  <a:buFont typeface="+mj-lt"/>
                  <a:buAutoNum type="romanLcPeriod"/>
                </a:pPr>
                <a:r>
                  <a:rPr lang="en-US" sz="2800" dirty="0" smtClean="0"/>
                  <a:t>Determine the profit maximizing level of output, and price</a:t>
                </a:r>
              </a:p>
              <a:p>
                <a:pPr marL="1028700" lvl="1" indent="-571500">
                  <a:buFont typeface="+mj-lt"/>
                  <a:buAutoNum type="romanLcPeriod"/>
                </a:pPr>
                <a:r>
                  <a:rPr lang="en-US" sz="2800" dirty="0" smtClean="0"/>
                  <a:t>Determine the firm’s maximum profit</a:t>
                </a:r>
                <a:endParaRPr lang="en-US" sz="28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04800" y="1143000"/>
                <a:ext cx="8839200" cy="5334000"/>
              </a:xfrm>
              <a:blipFill rotWithShape="0">
                <a:blip r:embed="rId2"/>
                <a:stretch>
                  <a:fillRect l="-1793" t="-1943" b="-8343"/>
                </a:stretch>
              </a:blipFill>
            </p:spPr>
            <p:txBody>
              <a:bodyPr/>
              <a:lstStyle/>
              <a:p>
                <a:r>
                  <a:rPr lang="en-US">
                    <a:noFill/>
                  </a:rPr>
                  <a:t> </a:t>
                </a:r>
              </a:p>
            </p:txBody>
          </p:sp>
        </mc:Fallback>
      </mc:AlternateContent>
    </p:spTree>
    <p:extLst>
      <p:ext uri="{BB962C8B-B14F-4D97-AF65-F5344CB8AC3E}">
        <p14:creationId xmlns:p14="http://schemas.microsoft.com/office/powerpoint/2010/main" val="1440196202"/>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Numerical </a:t>
            </a:r>
            <a:r>
              <a:rPr lang="en-US" dirty="0" smtClean="0"/>
              <a:t>example: </a:t>
            </a:r>
            <a:r>
              <a:rPr lang="en-US" sz="2400" i="1" dirty="0" smtClean="0"/>
              <a:t>solution</a:t>
            </a:r>
            <a:endParaRPr lang="en-US" sz="2400" i="1"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52400" y="1981200"/>
                <a:ext cx="8610600" cy="4648200"/>
              </a:xfrm>
            </p:spPr>
            <p:txBody>
              <a:bodyPr>
                <a:normAutofit/>
              </a:bodyPr>
              <a:lstStyle/>
              <a:p>
                <a:pPr algn="ctr"/>
                <a:r>
                  <a:rPr lang="en-US" sz="2800" u="sng" dirty="0" smtClean="0"/>
                  <a:t>Method 1</a:t>
                </a:r>
              </a:p>
              <a:p>
                <a:pPr algn="ctr"/>
                <a14:m>
                  <m:oMath xmlns:m="http://schemas.openxmlformats.org/officeDocument/2006/math">
                    <m:r>
                      <m:rPr>
                        <m:sty m:val="p"/>
                      </m:rPr>
                      <a:rPr lang="en-US" sz="2800" b="0" i="0" smtClean="0">
                        <a:latin typeface="Cambria Math"/>
                      </a:rPr>
                      <m:t>MR</m:t>
                    </m:r>
                    <m:r>
                      <a:rPr lang="en-US" sz="2800" b="0" i="0" smtClean="0">
                        <a:latin typeface="Cambria Math"/>
                      </a:rPr>
                      <m:t>=</m:t>
                    </m:r>
                    <m:r>
                      <m:rPr>
                        <m:sty m:val="p"/>
                      </m:rPr>
                      <a:rPr lang="en-US" sz="2800" b="0" i="0" smtClean="0">
                        <a:latin typeface="Cambria Math"/>
                      </a:rPr>
                      <m:t>MC</m:t>
                    </m:r>
                  </m:oMath>
                </a14:m>
                <a:endParaRPr lang="en-US" sz="2800" b="0" dirty="0" smtClean="0"/>
              </a:p>
              <a:p>
                <a:pPr algn="ctr"/>
                <a:r>
                  <a:rPr lang="en-US" sz="2800" dirty="0" smtClean="0"/>
                  <a:t>But, </a:t>
                </a:r>
                <a14:m>
                  <m:oMath xmlns:m="http://schemas.openxmlformats.org/officeDocument/2006/math">
                    <m:r>
                      <a:rPr lang="en-US" sz="2800" b="0" i="1" smtClean="0">
                        <a:latin typeface="Cambria Math"/>
                      </a:rPr>
                      <m:t>𝑀𝑅</m:t>
                    </m:r>
                    <m:r>
                      <a:rPr lang="en-US" sz="2800" b="0" i="1" smtClean="0">
                        <a:latin typeface="Cambria Math"/>
                      </a:rPr>
                      <m:t>=</m:t>
                    </m:r>
                    <m:f>
                      <m:fPr>
                        <m:ctrlPr>
                          <a:rPr lang="en-US" sz="2800" b="0" i="1" smtClean="0">
                            <a:latin typeface="Cambria Math" panose="02040503050406030204" pitchFamily="18" charset="0"/>
                          </a:rPr>
                        </m:ctrlPr>
                      </m:fPr>
                      <m:num>
                        <m:r>
                          <a:rPr lang="en-US" sz="2800" b="0" i="1" smtClean="0">
                            <a:latin typeface="Cambria Math"/>
                          </a:rPr>
                          <m:t>𝑑𝑇𝑅</m:t>
                        </m:r>
                      </m:num>
                      <m:den>
                        <m:r>
                          <a:rPr lang="en-US" sz="2800" b="0" i="1" smtClean="0">
                            <a:latin typeface="Cambria Math"/>
                          </a:rPr>
                          <m:t>𝑑𝑄</m:t>
                        </m:r>
                      </m:den>
                    </m:f>
                  </m:oMath>
                </a14:m>
                <a:r>
                  <a:rPr lang="en-US" sz="2800" dirty="0" smtClean="0"/>
                  <a:t> &amp; </a:t>
                </a:r>
                <a14:m>
                  <m:oMath xmlns:m="http://schemas.openxmlformats.org/officeDocument/2006/math">
                    <m:r>
                      <a:rPr lang="en-US" sz="2800" i="1">
                        <a:latin typeface="Cambria Math"/>
                      </a:rPr>
                      <m:t>𝑀</m:t>
                    </m:r>
                    <m:r>
                      <a:rPr lang="en-US" sz="2800" b="0" i="1" smtClean="0">
                        <a:latin typeface="Cambria Math"/>
                      </a:rPr>
                      <m:t>𝐶</m:t>
                    </m:r>
                    <m:r>
                      <a:rPr lang="en-US" sz="2800" i="1">
                        <a:latin typeface="Cambria Math"/>
                      </a:rPr>
                      <m:t>=</m:t>
                    </m:r>
                    <m:f>
                      <m:fPr>
                        <m:ctrlPr>
                          <a:rPr lang="en-US" sz="2800" i="1">
                            <a:latin typeface="Cambria Math" panose="02040503050406030204" pitchFamily="18" charset="0"/>
                          </a:rPr>
                        </m:ctrlPr>
                      </m:fPr>
                      <m:num>
                        <m:r>
                          <a:rPr lang="en-US" sz="2800" i="1">
                            <a:latin typeface="Cambria Math"/>
                          </a:rPr>
                          <m:t>𝑑𝑇</m:t>
                        </m:r>
                        <m:r>
                          <a:rPr lang="en-US" sz="2800" b="0" i="1" smtClean="0">
                            <a:latin typeface="Cambria Math"/>
                          </a:rPr>
                          <m:t>𝐶</m:t>
                        </m:r>
                      </m:num>
                      <m:den>
                        <m:r>
                          <a:rPr lang="en-US" sz="2800" i="1">
                            <a:latin typeface="Cambria Math"/>
                          </a:rPr>
                          <m:t>𝑑𝑄</m:t>
                        </m:r>
                      </m:den>
                    </m:f>
                  </m:oMath>
                </a14:m>
                <a:endParaRPr lang="en-US" sz="2800" dirty="0" smtClean="0"/>
              </a:p>
              <a:p>
                <a:pPr algn="ctr">
                  <a:buFont typeface="Wingdings" pitchFamily="2" charset="2"/>
                  <a:buChar char="Ø"/>
                </a:pPr>
                <a14:m>
                  <m:oMath xmlns:m="http://schemas.openxmlformats.org/officeDocument/2006/math">
                    <m:r>
                      <a:rPr lang="en-US" sz="2800" b="0" i="1" smtClean="0">
                        <a:latin typeface="Cambria Math"/>
                      </a:rPr>
                      <m:t>𝑀𝑅</m:t>
                    </m:r>
                    <m:r>
                      <a:rPr lang="en-US" sz="2800" b="0" i="1" smtClean="0">
                        <a:latin typeface="Cambria Math"/>
                      </a:rPr>
                      <m:t>=44−5</m:t>
                    </m:r>
                    <m:r>
                      <a:rPr lang="en-US" sz="2800" b="0" i="1" smtClean="0">
                        <a:latin typeface="Cambria Math"/>
                      </a:rPr>
                      <m:t>𝑄</m:t>
                    </m:r>
                  </m:oMath>
                </a14:m>
                <a:endParaRPr lang="en-US" sz="2800" b="0" dirty="0" smtClean="0"/>
              </a:p>
              <a:p>
                <a:pPr algn="ctr">
                  <a:buFont typeface="Wingdings" pitchFamily="2" charset="2"/>
                  <a:buChar char="Ø"/>
                </a:pPr>
                <a14:m>
                  <m:oMath xmlns:m="http://schemas.openxmlformats.org/officeDocument/2006/math">
                    <m:r>
                      <a:rPr lang="en-US" sz="2800" i="1">
                        <a:latin typeface="Cambria Math"/>
                      </a:rPr>
                      <m:t>𝑀</m:t>
                    </m:r>
                    <m:r>
                      <a:rPr lang="en-US" sz="2800" b="0" i="1" smtClean="0">
                        <a:latin typeface="Cambria Math"/>
                      </a:rPr>
                      <m:t>𝐶</m:t>
                    </m:r>
                    <m:r>
                      <a:rPr lang="en-US" sz="2800" i="1">
                        <a:latin typeface="Cambria Math"/>
                      </a:rPr>
                      <m:t>=</m:t>
                    </m:r>
                    <m:r>
                      <a:rPr lang="en-US" sz="2800" b="0" i="1" smtClean="0">
                        <a:latin typeface="Cambria Math"/>
                      </a:rPr>
                      <m:t>100</m:t>
                    </m:r>
                    <m:r>
                      <a:rPr lang="en-US" sz="2800" i="1">
                        <a:latin typeface="Cambria Math"/>
                      </a:rPr>
                      <m:t>−</m:t>
                    </m:r>
                    <m:r>
                      <a:rPr lang="en-US" sz="2800" b="0" i="1" smtClean="0">
                        <a:latin typeface="Cambria Math"/>
                      </a:rPr>
                      <m:t>12</m:t>
                    </m:r>
                    <m:r>
                      <a:rPr lang="en-US" sz="2800" i="1">
                        <a:latin typeface="Cambria Math"/>
                      </a:rPr>
                      <m:t>𝑄</m:t>
                    </m:r>
                  </m:oMath>
                </a14:m>
                <a:endParaRPr lang="en-US" sz="2800" dirty="0"/>
              </a:p>
              <a:p>
                <a:pPr algn="ctr">
                  <a:buFont typeface="Wingdings" pitchFamily="2" charset="2"/>
                  <a:buChar char="Ø"/>
                </a:pPr>
                <a14:m>
                  <m:oMath xmlns:m="http://schemas.openxmlformats.org/officeDocument/2006/math">
                    <m:r>
                      <a:rPr lang="en-US" sz="2800" i="1">
                        <a:latin typeface="Cambria Math"/>
                      </a:rPr>
                      <m:t>44−5</m:t>
                    </m:r>
                    <m:r>
                      <a:rPr lang="en-US" sz="2800" i="1">
                        <a:latin typeface="Cambria Math"/>
                      </a:rPr>
                      <m:t>𝑄</m:t>
                    </m:r>
                    <m:r>
                      <a:rPr lang="en-US" sz="2800" b="0" i="1" smtClean="0">
                        <a:latin typeface="Cambria Math"/>
                      </a:rPr>
                      <m:t>=</m:t>
                    </m:r>
                    <m:r>
                      <a:rPr lang="en-US" sz="2800" i="1">
                        <a:latin typeface="Cambria Math"/>
                      </a:rPr>
                      <m:t>100−12</m:t>
                    </m:r>
                    <m:r>
                      <a:rPr lang="en-US" sz="2800" i="1">
                        <a:latin typeface="Cambria Math"/>
                      </a:rPr>
                      <m:t>𝑄</m:t>
                    </m:r>
                  </m:oMath>
                </a14:m>
                <a:endParaRPr lang="en-US" sz="2800" dirty="0"/>
              </a:p>
              <a:p>
                <a:pPr algn="ctr">
                  <a:buFont typeface="Wingdings" pitchFamily="2" charset="2"/>
                  <a:buChar char="Ø"/>
                </a:pPr>
                <a14:m>
                  <m:oMath xmlns:m="http://schemas.openxmlformats.org/officeDocument/2006/math">
                    <m:r>
                      <a:rPr lang="en-US" sz="2800" b="0" i="1" smtClean="0">
                        <a:latin typeface="Cambria Math"/>
                      </a:rPr>
                      <m:t>7</m:t>
                    </m:r>
                    <m:r>
                      <a:rPr lang="en-US" sz="2800" b="0" i="1" smtClean="0">
                        <a:latin typeface="Cambria Math"/>
                      </a:rPr>
                      <m:t>𝑄</m:t>
                    </m:r>
                    <m:r>
                      <a:rPr lang="en-US" sz="2800" b="0" i="1" smtClean="0">
                        <a:latin typeface="Cambria Math"/>
                      </a:rPr>
                      <m:t>=56,              </m:t>
                    </m:r>
                  </m:oMath>
                </a14:m>
                <a:endParaRPr lang="en-US" sz="2800" b="0" i="1" dirty="0" smtClean="0">
                  <a:latin typeface="Cambria Math"/>
                </a:endParaRPr>
              </a:p>
              <a:p>
                <a:pPr algn="ctr">
                  <a:buFont typeface="Wingdings" pitchFamily="2" charset="2"/>
                  <a:buChar char="Ø"/>
                </a:pPr>
                <a14:m>
                  <m:oMath xmlns:m="http://schemas.openxmlformats.org/officeDocument/2006/math">
                    <m:r>
                      <a:rPr lang="en-US" sz="2800" b="0" i="1" smtClean="0">
                        <a:latin typeface="Cambria Math"/>
                      </a:rPr>
                      <m:t> </m:t>
                    </m:r>
                    <m:r>
                      <a:rPr lang="en-US" sz="2800" b="0" i="1" smtClean="0">
                        <a:solidFill>
                          <a:srgbClr val="FFFF00"/>
                        </a:solidFill>
                        <a:latin typeface="Cambria Math"/>
                      </a:rPr>
                      <m:t>𝑄</m:t>
                    </m:r>
                    <m:r>
                      <a:rPr lang="en-US" sz="2800" b="0" i="1" smtClean="0">
                        <a:solidFill>
                          <a:srgbClr val="FFFF00"/>
                        </a:solidFill>
                        <a:latin typeface="Cambria Math"/>
                      </a:rPr>
                      <m:t>=8</m:t>
                    </m:r>
                  </m:oMath>
                </a14:m>
                <a:endParaRPr lang="en-US" sz="2800" dirty="0">
                  <a:solidFill>
                    <a:srgbClr val="FF0000"/>
                  </a:solidFill>
                </a:endParaRPr>
              </a:p>
              <a:p>
                <a:pPr>
                  <a:buFont typeface="Wingdings" pitchFamily="2" charset="2"/>
                  <a:buChar char="Ø"/>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52400" y="1981200"/>
                <a:ext cx="8610600" cy="4648200"/>
              </a:xfrm>
              <a:blipFill rotWithShape="0">
                <a:blip r:embed="rId2"/>
                <a:stretch>
                  <a:fillRect t="-1311"/>
                </a:stretch>
              </a:blipFill>
            </p:spPr>
            <p:txBody>
              <a:bodyPr/>
              <a:lstStyle/>
              <a:p>
                <a:r>
                  <a:rPr lang="en-US">
                    <a:noFill/>
                  </a:rPr>
                  <a:t> </a:t>
                </a:r>
              </a:p>
            </p:txBody>
          </p:sp>
        </mc:Fallback>
      </mc:AlternateContent>
    </p:spTree>
    <p:extLst>
      <p:ext uri="{BB962C8B-B14F-4D97-AF65-F5344CB8AC3E}">
        <p14:creationId xmlns:p14="http://schemas.microsoft.com/office/powerpoint/2010/main" val="2067795221"/>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50938" y="214313"/>
            <a:ext cx="7793037" cy="1081087"/>
          </a:xfrm>
        </p:spPr>
        <p:txBody>
          <a:bodyPr/>
          <a:lstStyle/>
          <a:p>
            <a:r>
              <a:rPr lang="en-US" dirty="0"/>
              <a:t>Numerical example: </a:t>
            </a:r>
            <a:r>
              <a:rPr lang="en-US" sz="2400" i="1" dirty="0"/>
              <a:t>solution</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228600" y="1752600"/>
                <a:ext cx="8726488" cy="4800599"/>
              </a:xfrm>
            </p:spPr>
            <p:txBody>
              <a:bodyPr/>
              <a:lstStyle/>
              <a:p>
                <a:r>
                  <a:rPr lang="en-US" dirty="0" smtClean="0"/>
                  <a:t>Recall: </a:t>
                </a:r>
                <a14:m>
                  <m:oMath xmlns:m="http://schemas.openxmlformats.org/officeDocument/2006/math">
                    <m:r>
                      <a:rPr lang="en-US" b="0" i="1" smtClean="0">
                        <a:latin typeface="Cambria Math"/>
                      </a:rPr>
                      <m:t>𝐴𝑅</m:t>
                    </m:r>
                    <m:r>
                      <a:rPr lang="en-US" b="0" i="1" smtClean="0">
                        <a:latin typeface="Cambria Math"/>
                      </a:rPr>
                      <m:t>=</m:t>
                    </m:r>
                    <m:r>
                      <a:rPr lang="en-US" b="0" i="1" smtClean="0">
                        <a:latin typeface="Cambria Math"/>
                      </a:rPr>
                      <m:t>𝑃</m:t>
                    </m:r>
                    <m:r>
                      <a:rPr lang="en-US" b="0" i="1" smtClean="0">
                        <a:latin typeface="Cambria Math"/>
                      </a:rPr>
                      <m:t>=</m:t>
                    </m:r>
                    <m:f>
                      <m:fPr>
                        <m:ctrlPr>
                          <a:rPr lang="en-US" b="0" i="1" smtClean="0">
                            <a:latin typeface="Cambria Math" panose="02040503050406030204" pitchFamily="18" charset="0"/>
                          </a:rPr>
                        </m:ctrlPr>
                      </m:fPr>
                      <m:num>
                        <m:r>
                          <a:rPr lang="en-US" b="0" i="1" smtClean="0">
                            <a:latin typeface="Cambria Math"/>
                          </a:rPr>
                          <m:t>𝑇𝑅</m:t>
                        </m:r>
                      </m:num>
                      <m:den>
                        <m:r>
                          <a:rPr lang="en-US" b="0" i="1" smtClean="0">
                            <a:latin typeface="Cambria Math"/>
                          </a:rPr>
                          <m:t>𝑄</m:t>
                        </m:r>
                      </m:den>
                    </m:f>
                  </m:oMath>
                </a14:m>
                <a:endParaRPr lang="en-US" dirty="0" smtClean="0"/>
              </a:p>
              <a:p>
                <a:pPr lvl="1" algn="ctr">
                  <a:buFont typeface="Wingdings" pitchFamily="2" charset="2"/>
                  <a:buChar char="Ø"/>
                </a:pPr>
                <a:endParaRPr lang="en-US" sz="3200" b="0" i="1" dirty="0" smtClean="0">
                  <a:latin typeface="Cambria Math"/>
                </a:endParaRPr>
              </a:p>
              <a:p>
                <a:pPr lvl="1" algn="ctr">
                  <a:buFont typeface="Wingdings" pitchFamily="2" charset="2"/>
                  <a:buChar char="Ø"/>
                </a:pPr>
                <a:endParaRPr lang="en-US" sz="3200" b="0" i="1" dirty="0" smtClean="0">
                  <a:latin typeface="Cambria Math"/>
                </a:endParaRPr>
              </a:p>
              <a:p>
                <a:pPr lvl="1" algn="ctr">
                  <a:buFont typeface="Wingdings" pitchFamily="2" charset="2"/>
                  <a:buChar char="Ø"/>
                </a:pPr>
                <a14:m>
                  <m:oMath xmlns:m="http://schemas.openxmlformats.org/officeDocument/2006/math">
                    <m:r>
                      <a:rPr lang="en-US" sz="3200" b="0" i="1" smtClean="0">
                        <a:latin typeface="Cambria Math"/>
                      </a:rPr>
                      <m:t>𝐴𝑅</m:t>
                    </m:r>
                    <m:r>
                      <a:rPr lang="en-US" sz="3200" b="0" i="1" smtClean="0">
                        <a:latin typeface="Cambria Math"/>
                      </a:rPr>
                      <m:t>=5,000</m:t>
                    </m:r>
                    <m:sSup>
                      <m:sSupPr>
                        <m:ctrlPr>
                          <a:rPr lang="en-US" sz="3200" i="1" dirty="0">
                            <a:latin typeface="Cambria Math" panose="02040503050406030204" pitchFamily="18" charset="0"/>
                          </a:rPr>
                        </m:ctrlPr>
                      </m:sSupPr>
                      <m:e>
                        <m:r>
                          <a:rPr lang="en-US" sz="3200" b="0" i="1" dirty="0" smtClean="0">
                            <a:latin typeface="Cambria Math"/>
                          </a:rPr>
                          <m:t>∗8</m:t>
                        </m:r>
                      </m:e>
                      <m:sup>
                        <m:r>
                          <a:rPr lang="en-US" sz="3200" i="1" dirty="0">
                            <a:latin typeface="Cambria Math"/>
                          </a:rPr>
                          <m:t>−1</m:t>
                        </m:r>
                      </m:sup>
                    </m:sSup>
                    <m:r>
                      <a:rPr lang="en-US" sz="3200" b="0" i="0" dirty="0" smtClean="0">
                        <a:latin typeface="Cambria Math"/>
                      </a:rPr>
                      <m:t>+100−6∗8</m:t>
                    </m:r>
                  </m:oMath>
                </a14:m>
                <a:endParaRPr lang="en-US" sz="3200" dirty="0" smtClean="0"/>
              </a:p>
              <a:p>
                <a:pPr lvl="1" algn="ctr">
                  <a:buFont typeface="Wingdings" pitchFamily="2" charset="2"/>
                  <a:buChar char="Ø"/>
                </a:pPr>
                <a14:m>
                  <m:oMath xmlns:m="http://schemas.openxmlformats.org/officeDocument/2006/math">
                    <m:r>
                      <a:rPr lang="en-US" sz="3200" b="0" i="1" smtClean="0">
                        <a:solidFill>
                          <a:srgbClr val="FF0000"/>
                        </a:solidFill>
                        <a:latin typeface="Cambria Math"/>
                      </a:rPr>
                      <m:t>𝑃</m:t>
                    </m:r>
                    <m:r>
                      <a:rPr lang="en-US" sz="3200" b="0" i="1" smtClean="0">
                        <a:solidFill>
                          <a:srgbClr val="FF0000"/>
                        </a:solidFill>
                        <a:latin typeface="Cambria Math"/>
                      </a:rPr>
                      <m:t>=677</m:t>
                    </m:r>
                  </m:oMath>
                </a14:m>
                <a:endParaRPr lang="en-US" sz="3200" dirty="0">
                  <a:solidFill>
                    <a:srgbClr val="FF0000"/>
                  </a:solidFill>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228600" y="1752600"/>
                <a:ext cx="8726488" cy="4800599"/>
              </a:xfrm>
              <a:blipFill rotWithShape="0">
                <a:blip r:embed="rId2"/>
                <a:stretch>
                  <a:fillRect l="-55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p:cNvSpPr txBox="1"/>
              <p:nvPr/>
            </p:nvSpPr>
            <p:spPr>
              <a:xfrm>
                <a:off x="2286000" y="2971799"/>
                <a:ext cx="6095643" cy="808683"/>
              </a:xfrm>
              <a:prstGeom prst="rect">
                <a:avLst/>
              </a:prstGeom>
              <a:noFill/>
            </p:spPr>
            <p:txBody>
              <a:bodyPr wrap="none" rtlCol="0">
                <a:spAutoFit/>
              </a:bodyPr>
              <a:lstStyle/>
              <a:p>
                <a14:m>
                  <m:oMath xmlns:m="http://schemas.openxmlformats.org/officeDocument/2006/math">
                    <m:f>
                      <m:fPr>
                        <m:ctrlPr>
                          <a:rPr lang="en-US" sz="2800" i="1" smtClean="0">
                            <a:latin typeface="Cambria Math" panose="02040503050406030204" pitchFamily="18" charset="0"/>
                          </a:rPr>
                        </m:ctrlPr>
                      </m:fPr>
                      <m:num>
                        <m:r>
                          <a:rPr lang="en-US" sz="2800" b="0" i="1" smtClean="0">
                            <a:latin typeface="Cambria Math"/>
                          </a:rPr>
                          <m:t>5,000+100</m:t>
                        </m:r>
                        <m:r>
                          <a:rPr lang="en-US" sz="2800" b="0" i="1" smtClean="0">
                            <a:latin typeface="Cambria Math"/>
                          </a:rPr>
                          <m:t>𝑄</m:t>
                        </m:r>
                        <m:r>
                          <a:rPr lang="en-US" sz="2800" b="0" i="1" smtClean="0">
                            <a:latin typeface="Cambria Math"/>
                          </a:rPr>
                          <m:t>−6</m:t>
                        </m:r>
                        <m:sSup>
                          <m:sSupPr>
                            <m:ctrlPr>
                              <a:rPr lang="en-US" sz="2800" b="0" i="1" smtClean="0">
                                <a:latin typeface="Cambria Math" panose="02040503050406030204" pitchFamily="18" charset="0"/>
                              </a:rPr>
                            </m:ctrlPr>
                          </m:sSupPr>
                          <m:e>
                            <m:r>
                              <a:rPr lang="en-US" sz="2800" i="1">
                                <a:latin typeface="Cambria Math"/>
                              </a:rPr>
                              <m:t>𝑄</m:t>
                            </m:r>
                          </m:e>
                          <m:sup>
                            <m:r>
                              <a:rPr lang="en-US" sz="2800" b="0" i="1" smtClean="0">
                                <a:latin typeface="Cambria Math"/>
                              </a:rPr>
                              <m:t>2</m:t>
                            </m:r>
                          </m:sup>
                        </m:sSup>
                      </m:num>
                      <m:den>
                        <m:r>
                          <a:rPr lang="en-US" sz="2800" b="0" i="1" smtClean="0">
                            <a:latin typeface="Cambria Math"/>
                          </a:rPr>
                          <m:t>𝑄</m:t>
                        </m:r>
                      </m:den>
                    </m:f>
                  </m:oMath>
                </a14:m>
                <a:r>
                  <a:rPr lang="en-US" dirty="0" smtClean="0"/>
                  <a:t>=</a:t>
                </a:r>
                <a14:m>
                  <m:oMath xmlns:m="http://schemas.openxmlformats.org/officeDocument/2006/math">
                    <m:r>
                      <a:rPr lang="en-US" sz="2800" b="0" i="1" dirty="0" smtClean="0">
                        <a:latin typeface="Cambria Math"/>
                      </a:rPr>
                      <m:t>5,000</m:t>
                    </m:r>
                    <m:sSup>
                      <m:sSupPr>
                        <m:ctrlPr>
                          <a:rPr lang="en-US" sz="2800" b="0" i="1" dirty="0" smtClean="0">
                            <a:latin typeface="Cambria Math" panose="02040503050406030204" pitchFamily="18" charset="0"/>
                          </a:rPr>
                        </m:ctrlPr>
                      </m:sSupPr>
                      <m:e>
                        <m:r>
                          <a:rPr lang="en-US" sz="2800" b="0" i="1" dirty="0" smtClean="0">
                            <a:latin typeface="Cambria Math"/>
                          </a:rPr>
                          <m:t>𝑄</m:t>
                        </m:r>
                      </m:e>
                      <m:sup>
                        <m:r>
                          <a:rPr lang="en-US" sz="2800" b="0" i="1" dirty="0" smtClean="0">
                            <a:latin typeface="Cambria Math"/>
                          </a:rPr>
                          <m:t>−1</m:t>
                        </m:r>
                      </m:sup>
                    </m:sSup>
                    <m:r>
                      <a:rPr lang="en-US" sz="2800" b="0" i="0" dirty="0" smtClean="0">
                        <a:latin typeface="Cambria Math"/>
                      </a:rPr>
                      <m:t>+100−6</m:t>
                    </m:r>
                    <m:r>
                      <m:rPr>
                        <m:sty m:val="p"/>
                      </m:rPr>
                      <a:rPr lang="en-US" sz="2800" b="0" i="0" dirty="0" smtClean="0">
                        <a:latin typeface="Cambria Math"/>
                      </a:rPr>
                      <m:t>Q</m:t>
                    </m:r>
                  </m:oMath>
                </a14:m>
                <a:endParaRPr lang="en-US" sz="2800" dirty="0"/>
              </a:p>
            </p:txBody>
          </p:sp>
        </mc:Choice>
        <mc:Fallback xmlns="">
          <p:sp>
            <p:nvSpPr>
              <p:cNvPr id="4" name="TextBox 3"/>
              <p:cNvSpPr txBox="1">
                <a:spLocks noRot="1" noChangeAspect="1" noMove="1" noResize="1" noEditPoints="1" noAdjustHandles="1" noChangeArrowheads="1" noChangeShapeType="1" noTextEdit="1"/>
              </p:cNvSpPr>
              <p:nvPr/>
            </p:nvSpPr>
            <p:spPr>
              <a:xfrm>
                <a:off x="2286000" y="2971799"/>
                <a:ext cx="6095643" cy="808683"/>
              </a:xfrm>
              <a:prstGeom prst="rect">
                <a:avLst/>
              </a:prstGeom>
              <a:blipFill rotWithShape="1">
                <a:blip r:embed="rId3"/>
                <a:stretch>
                  <a:fillRect b="-752"/>
                </a:stretch>
              </a:blipFill>
            </p:spPr>
            <p:txBody>
              <a:bodyPr/>
              <a:lstStyle/>
              <a:p>
                <a:r>
                  <a:rPr lang="en-US">
                    <a:noFill/>
                  </a:rPr>
                  <a:t> </a:t>
                </a:r>
              </a:p>
            </p:txBody>
          </p:sp>
        </mc:Fallback>
      </mc:AlternateContent>
    </p:spTree>
    <p:extLst>
      <p:ext uri="{BB962C8B-B14F-4D97-AF65-F5344CB8AC3E}">
        <p14:creationId xmlns:p14="http://schemas.microsoft.com/office/powerpoint/2010/main" val="257278820"/>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56060" y="228600"/>
            <a:ext cx="7429499" cy="914400"/>
          </a:xfrm>
        </p:spPr>
        <p:txBody>
          <a:bodyPr>
            <a:normAutofit/>
          </a:bodyPr>
          <a:lstStyle/>
          <a:p>
            <a:r>
              <a:rPr lang="en-US" dirty="0"/>
              <a:t>Numerical example: </a:t>
            </a:r>
            <a:r>
              <a:rPr lang="en-US" sz="2400" i="1" dirty="0"/>
              <a:t>solution</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56060" y="1143000"/>
                <a:ext cx="7429499" cy="4648201"/>
              </a:xfrm>
            </p:spPr>
            <p:txBody>
              <a:bodyPr/>
              <a:lstStyle/>
              <a:p>
                <a:pPr marL="0" indent="0" algn="ctr">
                  <a:buNone/>
                </a:pPr>
                <a14:m>
                  <m:oMathPara xmlns:m="http://schemas.openxmlformats.org/officeDocument/2006/math">
                    <m:oMathParaPr>
                      <m:jc m:val="centerGroup"/>
                    </m:oMathParaPr>
                    <m:oMath xmlns:m="http://schemas.openxmlformats.org/officeDocument/2006/math">
                      <m:r>
                        <m:rPr>
                          <m:sty m:val="p"/>
                        </m:rPr>
                        <a:rPr lang="el-GR" i="1" smtClean="0">
                          <a:latin typeface="Cambria Math"/>
                        </a:rPr>
                        <m:t>π</m:t>
                      </m:r>
                      <m:r>
                        <a:rPr lang="en-US" b="0" i="1" smtClean="0">
                          <a:latin typeface="Cambria Math"/>
                        </a:rPr>
                        <m:t>=</m:t>
                      </m:r>
                      <m:r>
                        <a:rPr lang="en-US" b="0" i="1" smtClean="0">
                          <a:latin typeface="Cambria Math"/>
                        </a:rPr>
                        <m:t>𝑇𝑅</m:t>
                      </m:r>
                      <m:r>
                        <a:rPr lang="en-US" b="0" i="1" smtClean="0">
                          <a:latin typeface="Cambria Math"/>
                        </a:rPr>
                        <m:t>−</m:t>
                      </m:r>
                      <m:r>
                        <a:rPr lang="en-US" b="0" i="1" smtClean="0">
                          <a:latin typeface="Cambria Math"/>
                        </a:rPr>
                        <m:t>𝑇𝐶</m:t>
                      </m:r>
                    </m:oMath>
                  </m:oMathPara>
                </a14:m>
                <a:endParaRPr lang="en-US" b="0" dirty="0" smtClean="0"/>
              </a:p>
              <a:p>
                <a:pPr marL="0" indent="0" algn="ctr">
                  <a:buNone/>
                </a:pPr>
                <a14:m>
                  <m:oMath xmlns:m="http://schemas.openxmlformats.org/officeDocument/2006/math">
                    <m:r>
                      <a:rPr lang="en-US" b="0" i="1" smtClean="0">
                        <a:latin typeface="Cambria Math"/>
                      </a:rPr>
                      <m:t>=</m:t>
                    </m:r>
                    <m:d>
                      <m:dPr>
                        <m:ctrlPr>
                          <a:rPr lang="en-US" b="0" i="1" smtClean="0">
                            <a:latin typeface="Cambria Math" panose="02040503050406030204" pitchFamily="18" charset="0"/>
                          </a:rPr>
                        </m:ctrlPr>
                      </m:dPr>
                      <m:e>
                        <m:r>
                          <a:rPr lang="en-US" b="0" i="1" smtClean="0">
                            <a:latin typeface="Cambria Math"/>
                          </a:rPr>
                          <m:t>5,000+100</m:t>
                        </m:r>
                        <m:r>
                          <a:rPr lang="en-US" b="0" i="1" smtClean="0">
                            <a:latin typeface="Cambria Math"/>
                          </a:rPr>
                          <m:t>𝑄</m:t>
                        </m:r>
                        <m:r>
                          <a:rPr lang="en-US" b="0" i="1" smtClean="0">
                            <a:latin typeface="Cambria Math"/>
                          </a:rPr>
                          <m:t>−6</m:t>
                        </m:r>
                        <m:sSup>
                          <m:sSupPr>
                            <m:ctrlPr>
                              <a:rPr lang="en-US" b="0" i="1" smtClean="0">
                                <a:latin typeface="Cambria Math" panose="02040503050406030204" pitchFamily="18" charset="0"/>
                              </a:rPr>
                            </m:ctrlPr>
                          </m:sSupPr>
                          <m:e>
                            <m:r>
                              <a:rPr lang="en-US" b="0" i="1" smtClean="0">
                                <a:latin typeface="Cambria Math"/>
                              </a:rPr>
                              <m:t>𝑄</m:t>
                            </m:r>
                          </m:e>
                          <m:sup>
                            <m:r>
                              <a:rPr lang="en-US" b="0" i="1" smtClean="0">
                                <a:latin typeface="Cambria Math"/>
                              </a:rPr>
                              <m:t>2</m:t>
                            </m:r>
                          </m:sup>
                        </m:sSup>
                      </m:e>
                    </m:d>
                    <m:r>
                      <a:rPr lang="en-US" b="0" i="0" smtClean="0">
                        <a:latin typeface="Cambria Math"/>
                      </a:rPr>
                      <m:t>−(2,500+44</m:t>
                    </m:r>
                    <m:r>
                      <m:rPr>
                        <m:sty m:val="p"/>
                      </m:rPr>
                      <a:rPr lang="en-US" b="0" i="0" smtClean="0">
                        <a:latin typeface="Cambria Math"/>
                      </a:rPr>
                      <m:t>Q</m:t>
                    </m:r>
                    <m:r>
                      <a:rPr lang="en-US" b="0" i="0" smtClean="0">
                        <a:latin typeface="Cambria Math"/>
                      </a:rPr>
                      <m:t>−</m:t>
                    </m:r>
                    <m:r>
                      <a:rPr lang="en-US" b="0" i="1" smtClean="0">
                        <a:latin typeface="Cambria Math"/>
                      </a:rPr>
                      <m:t>2.5</m:t>
                    </m:r>
                    <m:sSup>
                      <m:sSupPr>
                        <m:ctrlPr>
                          <a:rPr lang="en-US" i="1">
                            <a:latin typeface="Cambria Math" panose="02040503050406030204" pitchFamily="18" charset="0"/>
                          </a:rPr>
                        </m:ctrlPr>
                      </m:sSupPr>
                      <m:e>
                        <m:r>
                          <a:rPr lang="en-US" i="1">
                            <a:latin typeface="Cambria Math"/>
                          </a:rPr>
                          <m:t>𝑄</m:t>
                        </m:r>
                      </m:e>
                      <m:sup>
                        <m:r>
                          <a:rPr lang="en-US" i="1">
                            <a:latin typeface="Cambria Math"/>
                          </a:rPr>
                          <m:t>2</m:t>
                        </m:r>
                      </m:sup>
                    </m:sSup>
                  </m:oMath>
                </a14:m>
                <a:r>
                  <a:rPr lang="en-US" dirty="0" smtClean="0"/>
                  <a:t>)</a:t>
                </a:r>
              </a:p>
              <a:p>
                <a:pPr marL="0" indent="0" algn="ctr">
                  <a:buNone/>
                </a:pPr>
                <a14:m>
                  <m:oMathPara xmlns:m="http://schemas.openxmlformats.org/officeDocument/2006/math">
                    <m:oMathParaPr>
                      <m:jc m:val="centerGroup"/>
                    </m:oMathParaPr>
                    <m:oMath xmlns:m="http://schemas.openxmlformats.org/officeDocument/2006/math">
                      <m:r>
                        <a:rPr lang="en-US" i="1" smtClean="0">
                          <a:latin typeface="Cambria Math"/>
                        </a:rPr>
                        <m:t>=</m:t>
                      </m:r>
                      <m:r>
                        <a:rPr lang="en-US" b="0" i="1" smtClean="0">
                          <a:latin typeface="Cambria Math"/>
                        </a:rPr>
                        <m:t>2,500+56</m:t>
                      </m:r>
                      <m:r>
                        <a:rPr lang="en-US" b="0" i="1" smtClean="0">
                          <a:latin typeface="Cambria Math"/>
                        </a:rPr>
                        <m:t>𝑄</m:t>
                      </m:r>
                      <m:r>
                        <a:rPr lang="en-US" b="0" i="1" smtClean="0">
                          <a:latin typeface="Cambria Math"/>
                        </a:rPr>
                        <m:t>−3.5</m:t>
                      </m:r>
                      <m:sSup>
                        <m:sSupPr>
                          <m:ctrlPr>
                            <a:rPr lang="en-US" b="0" i="1" smtClean="0">
                              <a:latin typeface="Cambria Math" panose="02040503050406030204" pitchFamily="18" charset="0"/>
                            </a:rPr>
                          </m:ctrlPr>
                        </m:sSupPr>
                        <m:e>
                          <m:r>
                            <a:rPr lang="en-US" b="0" i="1" smtClean="0">
                              <a:latin typeface="Cambria Math"/>
                            </a:rPr>
                            <m:t>𝑄</m:t>
                          </m:r>
                        </m:e>
                        <m:sup>
                          <m:r>
                            <a:rPr lang="en-US" b="0" i="1" smtClean="0">
                              <a:latin typeface="Cambria Math"/>
                            </a:rPr>
                            <m:t>2</m:t>
                          </m:r>
                        </m:sup>
                      </m:sSup>
                    </m:oMath>
                  </m:oMathPara>
                </a14:m>
                <a:endParaRPr lang="en-US" dirty="0" smtClean="0"/>
              </a:p>
              <a:p>
                <a:pPr marL="0" indent="0" algn="ctr">
                  <a:buNone/>
                </a:pPr>
                <a14:m>
                  <m:oMathPara xmlns:m="http://schemas.openxmlformats.org/officeDocument/2006/math">
                    <m:oMathParaPr>
                      <m:jc m:val="centerGroup"/>
                    </m:oMathParaPr>
                    <m:oMath xmlns:m="http://schemas.openxmlformats.org/officeDocument/2006/math">
                      <m:r>
                        <a:rPr lang="en-US" i="1">
                          <a:latin typeface="Cambria Math"/>
                        </a:rPr>
                        <m:t>=2,500</m:t>
                      </m:r>
                      <m:r>
                        <a:rPr lang="en-US" b="0" i="1" smtClean="0">
                          <a:latin typeface="Cambria Math"/>
                        </a:rPr>
                        <m:t>+</m:t>
                      </m:r>
                      <m:r>
                        <a:rPr lang="en-US" i="1">
                          <a:latin typeface="Cambria Math"/>
                        </a:rPr>
                        <m:t>56</m:t>
                      </m:r>
                      <m:r>
                        <a:rPr lang="en-US" b="0" i="1" smtClean="0">
                          <a:latin typeface="Cambria Math"/>
                        </a:rPr>
                        <m:t>∗8</m:t>
                      </m:r>
                      <m:r>
                        <a:rPr lang="en-US" i="1">
                          <a:latin typeface="Cambria Math"/>
                        </a:rPr>
                        <m:t>−3.5</m:t>
                      </m:r>
                      <m:sSup>
                        <m:sSupPr>
                          <m:ctrlPr>
                            <a:rPr lang="en-US" i="1">
                              <a:latin typeface="Cambria Math" panose="02040503050406030204" pitchFamily="18" charset="0"/>
                            </a:rPr>
                          </m:ctrlPr>
                        </m:sSupPr>
                        <m:e>
                          <m:r>
                            <a:rPr lang="en-US" b="0" i="1" smtClean="0">
                              <a:latin typeface="Cambria Math"/>
                            </a:rPr>
                            <m:t>∗8</m:t>
                          </m:r>
                        </m:e>
                        <m:sup>
                          <m:r>
                            <a:rPr lang="en-US" i="1">
                              <a:latin typeface="Cambria Math"/>
                            </a:rPr>
                            <m:t>2</m:t>
                          </m:r>
                        </m:sup>
                      </m:sSup>
                    </m:oMath>
                  </m:oMathPara>
                </a14:m>
                <a:endParaRPr lang="en-US" dirty="0" smtClean="0"/>
              </a:p>
              <a:p>
                <a:pPr algn="ctr"/>
                <a14:m>
                  <m:oMath xmlns:m="http://schemas.openxmlformats.org/officeDocument/2006/math">
                    <m:r>
                      <a:rPr lang="en-US" i="1" dirty="0" smtClean="0">
                        <a:solidFill>
                          <a:srgbClr val="FF0000"/>
                        </a:solidFill>
                        <a:latin typeface="Cambria Math" panose="02040503050406030204" pitchFamily="18" charset="0"/>
                      </a:rPr>
                      <m:t>=2,724</m:t>
                    </m:r>
                  </m:oMath>
                </a14:m>
                <a:endParaRPr lang="en-US" dirty="0">
                  <a:solidFill>
                    <a:srgbClr val="FF0000"/>
                  </a:solidFill>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56060" y="1143000"/>
                <a:ext cx="7429499" cy="4648201"/>
              </a:xfrm>
              <a:blipFill rotWithShape="0">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940055751"/>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50938" y="214313"/>
            <a:ext cx="7793037" cy="928687"/>
          </a:xfrm>
        </p:spPr>
        <p:txBody>
          <a:bodyPr/>
          <a:lstStyle/>
          <a:p>
            <a:r>
              <a:rPr lang="en-US" dirty="0"/>
              <a:t>Numerical example: </a:t>
            </a:r>
            <a:r>
              <a:rPr lang="en-US" sz="2400" i="1" dirty="0"/>
              <a:t>solution</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76200" y="1143000"/>
                <a:ext cx="8878888" cy="5562599"/>
              </a:xfrm>
            </p:spPr>
            <p:txBody>
              <a:bodyPr/>
              <a:lstStyle/>
              <a:p>
                <a:r>
                  <a:rPr lang="en-US" u="sng" dirty="0" smtClean="0"/>
                  <a:t>Method 2</a:t>
                </a:r>
              </a:p>
              <a:p>
                <a:r>
                  <a:rPr lang="en-US" dirty="0" smtClean="0"/>
                  <a:t>Recall the necessary and sufficient condition for profit maximization..</a:t>
                </a:r>
              </a:p>
              <a:p>
                <a14:m>
                  <m:oMath xmlns:m="http://schemas.openxmlformats.org/officeDocument/2006/math">
                    <m:r>
                      <a:rPr lang="en-US" b="0" i="1" smtClean="0">
                        <a:latin typeface="Cambria Math"/>
                      </a:rPr>
                      <m:t>𝑛𝑒𝑐𝑒𝑠𝑠𝑎𝑟𝑦</m:t>
                    </m:r>
                    <m:r>
                      <a:rPr lang="en-US" b="0" i="1" smtClean="0">
                        <a:latin typeface="Cambria Math"/>
                      </a:rPr>
                      <m:t> </m:t>
                    </m:r>
                    <m:r>
                      <a:rPr lang="en-US" b="0" i="1" smtClean="0">
                        <a:latin typeface="Cambria Math"/>
                      </a:rPr>
                      <m:t>𝑐𝑜𝑛𝑑𝑖𝑡𝑖𝑜𝑛</m:t>
                    </m:r>
                    <m:r>
                      <a:rPr lang="en-US" b="0" i="1" smtClean="0">
                        <a:latin typeface="Cambria Math"/>
                      </a:rPr>
                      <m:t>=</m:t>
                    </m:r>
                    <m:f>
                      <m:fPr>
                        <m:ctrlPr>
                          <a:rPr lang="en-US" b="0" i="1" smtClean="0">
                            <a:latin typeface="Cambria Math" panose="02040503050406030204" pitchFamily="18" charset="0"/>
                          </a:rPr>
                        </m:ctrlPr>
                      </m:fPr>
                      <m:num>
                        <m:r>
                          <a:rPr lang="en-US" b="0" i="1" smtClean="0">
                            <a:latin typeface="Cambria Math"/>
                          </a:rPr>
                          <m:t>𝑑</m:t>
                        </m:r>
                        <m:r>
                          <m:rPr>
                            <m:sty m:val="p"/>
                          </m:rPr>
                          <a:rPr lang="el-GR" b="0" i="1" smtClean="0">
                            <a:latin typeface="Cambria Math"/>
                          </a:rPr>
                          <m:t>π</m:t>
                        </m:r>
                      </m:num>
                      <m:den>
                        <m:r>
                          <a:rPr lang="en-US" b="0" i="1" smtClean="0">
                            <a:latin typeface="Cambria Math"/>
                          </a:rPr>
                          <m:t>𝑑𝑄</m:t>
                        </m:r>
                      </m:den>
                    </m:f>
                  </m:oMath>
                </a14:m>
                <a:r>
                  <a:rPr lang="en-US" dirty="0" smtClean="0"/>
                  <a:t>=0</a:t>
                </a:r>
              </a:p>
              <a:p>
                <a14:m>
                  <m:oMath xmlns:m="http://schemas.openxmlformats.org/officeDocument/2006/math">
                    <m:r>
                      <a:rPr lang="en-US" b="0" i="1" smtClean="0">
                        <a:latin typeface="Cambria Math"/>
                      </a:rPr>
                      <m:t>𝑠𝑢𝑓𝑓𝑖𝑐𝑖𝑒𝑛𝑡</m:t>
                    </m:r>
                    <m:r>
                      <a:rPr lang="en-US" b="0" i="1" smtClean="0">
                        <a:latin typeface="Cambria Math"/>
                      </a:rPr>
                      <m:t> </m:t>
                    </m:r>
                    <m:r>
                      <a:rPr lang="en-US" b="0" i="1" smtClean="0">
                        <a:latin typeface="Cambria Math"/>
                      </a:rPr>
                      <m:t>𝑐𝑜𝑛𝑑𝑖𝑡𝑖𝑜𝑛</m:t>
                    </m:r>
                    <m:r>
                      <a:rPr lang="en-US" b="0" i="1" smtClean="0">
                        <a:latin typeface="Cambria Math"/>
                      </a:rPr>
                      <m:t>=</m:t>
                    </m:r>
                    <m:f>
                      <m:fPr>
                        <m:ctrlPr>
                          <a:rPr lang="en-US" b="0" i="1" smtClean="0">
                            <a:latin typeface="Cambria Math" panose="02040503050406030204" pitchFamily="18" charset="0"/>
                          </a:rPr>
                        </m:ctrlPr>
                      </m:fPr>
                      <m:num>
                        <m:sSup>
                          <m:sSupPr>
                            <m:ctrlPr>
                              <a:rPr lang="en-US" b="0" i="1" smtClean="0">
                                <a:latin typeface="Cambria Math" panose="02040503050406030204" pitchFamily="18" charset="0"/>
                              </a:rPr>
                            </m:ctrlPr>
                          </m:sSupPr>
                          <m:e>
                            <m:r>
                              <a:rPr lang="en-US" b="0" i="1" smtClean="0">
                                <a:latin typeface="Cambria Math"/>
                              </a:rPr>
                              <m:t>𝑑</m:t>
                            </m:r>
                          </m:e>
                          <m:sup>
                            <m:r>
                              <a:rPr lang="en-US" b="0" i="1" smtClean="0">
                                <a:latin typeface="Cambria Math"/>
                              </a:rPr>
                              <m:t>2</m:t>
                            </m:r>
                          </m:sup>
                        </m:sSup>
                        <m:r>
                          <m:rPr>
                            <m:sty m:val="p"/>
                          </m:rPr>
                          <a:rPr lang="el-GR" i="1">
                            <a:latin typeface="Cambria Math"/>
                          </a:rPr>
                          <m:t>π</m:t>
                        </m:r>
                      </m:num>
                      <m:den>
                        <m:r>
                          <a:rPr lang="en-US" b="0" i="1" smtClean="0">
                            <a:latin typeface="Cambria Math"/>
                          </a:rPr>
                          <m:t>𝑑</m:t>
                        </m:r>
                        <m:sSup>
                          <m:sSupPr>
                            <m:ctrlPr>
                              <a:rPr lang="en-US" i="1">
                                <a:latin typeface="Cambria Math" panose="02040503050406030204" pitchFamily="18" charset="0"/>
                              </a:rPr>
                            </m:ctrlPr>
                          </m:sSupPr>
                          <m:e>
                            <m:r>
                              <a:rPr lang="en-US" b="0" i="1" smtClean="0">
                                <a:latin typeface="Cambria Math"/>
                              </a:rPr>
                              <m:t>𝑄</m:t>
                            </m:r>
                          </m:e>
                          <m:sup>
                            <m:r>
                              <a:rPr lang="en-US" i="1">
                                <a:latin typeface="Cambria Math"/>
                              </a:rPr>
                              <m:t>2</m:t>
                            </m:r>
                          </m:sup>
                        </m:sSup>
                      </m:den>
                    </m:f>
                  </m:oMath>
                </a14:m>
                <a:r>
                  <a:rPr lang="en-US" dirty="0" smtClean="0"/>
                  <a:t>&lt;0</a:t>
                </a:r>
              </a:p>
              <a:p>
                <a:r>
                  <a:rPr lang="en-US" dirty="0" smtClean="0"/>
                  <a:t>Also recall: </a:t>
                </a:r>
                <a14:m>
                  <m:oMath xmlns:m="http://schemas.openxmlformats.org/officeDocument/2006/math">
                    <m:r>
                      <m:rPr>
                        <m:sty m:val="p"/>
                      </m:rPr>
                      <a:rPr lang="el-GR" i="1">
                        <a:latin typeface="Cambria Math"/>
                      </a:rPr>
                      <m:t>π</m:t>
                    </m:r>
                    <m:r>
                      <a:rPr lang="el-GR" i="1">
                        <a:latin typeface="Cambria Math"/>
                      </a:rPr>
                      <m:t> =2,500−56</m:t>
                    </m:r>
                    <m:r>
                      <a:rPr lang="en-US" i="1">
                        <a:latin typeface="Cambria Math"/>
                      </a:rPr>
                      <m:t>𝑄</m:t>
                    </m:r>
                    <m:r>
                      <a:rPr lang="en-US" i="1">
                        <a:latin typeface="Cambria Math"/>
                      </a:rPr>
                      <m:t>−3.5</m:t>
                    </m:r>
                    <m:sSup>
                      <m:sSupPr>
                        <m:ctrlPr>
                          <a:rPr lang="en-US" i="1">
                            <a:latin typeface="Cambria Math" panose="02040503050406030204" pitchFamily="18" charset="0"/>
                          </a:rPr>
                        </m:ctrlPr>
                      </m:sSupPr>
                      <m:e>
                        <m:r>
                          <a:rPr lang="en-US" i="1">
                            <a:latin typeface="Cambria Math"/>
                          </a:rPr>
                          <m:t>𝑄</m:t>
                        </m:r>
                      </m:e>
                      <m:sup>
                        <m:r>
                          <a:rPr lang="en-US" i="1">
                            <a:latin typeface="Cambria Math"/>
                          </a:rPr>
                          <m:t>2</m:t>
                        </m:r>
                      </m:sup>
                    </m:sSup>
                  </m:oMath>
                </a14:m>
                <a:endParaRPr lang="en-US" dirty="0"/>
              </a:p>
              <a:p>
                <a:endParaRPr lang="en-US" dirty="0" smtClean="0"/>
              </a:p>
              <a:p>
                <a:endParaRPr lang="en-US" dirty="0" smtClean="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76200" y="1143000"/>
                <a:ext cx="8878888" cy="5562599"/>
              </a:xfrm>
              <a:blipFill rotWithShape="0">
                <a:blip r:embed="rId2"/>
                <a:stretch>
                  <a:fillRect l="-549" t="-1425"/>
                </a:stretch>
              </a:blipFill>
            </p:spPr>
            <p:txBody>
              <a:bodyPr/>
              <a:lstStyle/>
              <a:p>
                <a:r>
                  <a:rPr lang="en-US">
                    <a:noFill/>
                  </a:rPr>
                  <a:t> </a:t>
                </a:r>
              </a:p>
            </p:txBody>
          </p:sp>
        </mc:Fallback>
      </mc:AlternateContent>
    </p:spTree>
    <p:extLst>
      <p:ext uri="{BB962C8B-B14F-4D97-AF65-F5344CB8AC3E}">
        <p14:creationId xmlns:p14="http://schemas.microsoft.com/office/powerpoint/2010/main" val="47260550"/>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56060" y="304800"/>
            <a:ext cx="7429499" cy="1143000"/>
          </a:xfrm>
        </p:spPr>
        <p:txBody>
          <a:bodyPr/>
          <a:lstStyle/>
          <a:p>
            <a:r>
              <a:rPr lang="en-US" dirty="0"/>
              <a:t>Numerical example: </a:t>
            </a:r>
            <a:r>
              <a:rPr lang="en-US" sz="2400" i="1" dirty="0"/>
              <a:t>solution</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04800" y="1143000"/>
                <a:ext cx="8650288" cy="5029200"/>
              </a:xfrm>
            </p:spPr>
            <p:txBody>
              <a:bodyPr>
                <a:normAutofit/>
              </a:bodyPr>
              <a:lstStyle/>
              <a:p>
                <a:pPr algn="ctr"/>
                <a14:m>
                  <m:oMath xmlns:m="http://schemas.openxmlformats.org/officeDocument/2006/math">
                    <m:f>
                      <m:fPr>
                        <m:ctrlPr>
                          <a:rPr lang="en-US" sz="4000" i="1" smtClean="0">
                            <a:latin typeface="Cambria Math" panose="02040503050406030204" pitchFamily="18" charset="0"/>
                          </a:rPr>
                        </m:ctrlPr>
                      </m:fPr>
                      <m:num>
                        <m:r>
                          <a:rPr lang="en-US" sz="4000" i="1">
                            <a:latin typeface="Cambria Math"/>
                          </a:rPr>
                          <m:t>𝑑</m:t>
                        </m:r>
                        <m:r>
                          <m:rPr>
                            <m:sty m:val="p"/>
                          </m:rPr>
                          <a:rPr lang="el-GR" sz="4000" i="1">
                            <a:latin typeface="Cambria Math"/>
                          </a:rPr>
                          <m:t>π</m:t>
                        </m:r>
                      </m:num>
                      <m:den>
                        <m:r>
                          <a:rPr lang="en-US" sz="4000" i="1">
                            <a:latin typeface="Cambria Math"/>
                          </a:rPr>
                          <m:t>𝑑𝑄</m:t>
                        </m:r>
                      </m:den>
                    </m:f>
                    <m:r>
                      <a:rPr lang="en-US" sz="4000" i="1">
                        <a:latin typeface="Cambria Math"/>
                      </a:rPr>
                      <m:t>=56</m:t>
                    </m:r>
                    <m:r>
                      <a:rPr lang="en-US" sz="4000" i="1">
                        <a:latin typeface="Cambria Math"/>
                      </a:rPr>
                      <m:t>𝑄</m:t>
                    </m:r>
                    <m:r>
                      <a:rPr lang="en-US" sz="4000" i="1">
                        <a:latin typeface="Cambria Math"/>
                      </a:rPr>
                      <m:t>−7</m:t>
                    </m:r>
                    <m:r>
                      <a:rPr lang="en-US" sz="4000" i="1">
                        <a:latin typeface="Cambria Math"/>
                      </a:rPr>
                      <m:t>𝑄</m:t>
                    </m:r>
                    <m:r>
                      <a:rPr lang="en-US" sz="4000" b="0" i="1" smtClean="0">
                        <a:latin typeface="Cambria Math"/>
                      </a:rPr>
                      <m:t>=0</m:t>
                    </m:r>
                  </m:oMath>
                </a14:m>
                <a:endParaRPr lang="en-US" sz="4000" dirty="0" smtClean="0"/>
              </a:p>
              <a:p>
                <a:pPr algn="ctr">
                  <a:buFont typeface="Wingdings" pitchFamily="2" charset="2"/>
                  <a:buChar char="Ø"/>
                </a:pPr>
                <a:r>
                  <a:rPr lang="en-US" sz="4000" dirty="0" smtClean="0">
                    <a:solidFill>
                      <a:srgbClr val="FF0000"/>
                    </a:solidFill>
                  </a:rPr>
                  <a:t>Q=8</a:t>
                </a:r>
              </a:p>
              <a:p>
                <a:pPr algn="ctr">
                  <a:buFont typeface="Wingdings" pitchFamily="2" charset="2"/>
                  <a:buChar char="Ø"/>
                </a:pPr>
                <a:r>
                  <a:rPr lang="en-US" sz="4000" dirty="0" smtClean="0">
                    <a:solidFill>
                      <a:schemeClr val="tx1"/>
                    </a:solidFill>
                  </a:rPr>
                  <a:t>Substituting for Q in </a:t>
                </a:r>
                <a14:m>
                  <m:oMath xmlns:m="http://schemas.openxmlformats.org/officeDocument/2006/math">
                    <m:r>
                      <m:rPr>
                        <m:sty m:val="p"/>
                      </m:rPr>
                      <a:rPr lang="el-GR" sz="4000" i="1">
                        <a:solidFill>
                          <a:schemeClr val="tx1"/>
                        </a:solidFill>
                        <a:latin typeface="Cambria Math"/>
                      </a:rPr>
                      <m:t>π</m:t>
                    </m:r>
                  </m:oMath>
                </a14:m>
                <a:r>
                  <a:rPr lang="en-US" sz="4000" dirty="0" smtClean="0">
                    <a:solidFill>
                      <a:schemeClr val="tx1"/>
                    </a:solidFill>
                  </a:rPr>
                  <a:t> function,</a:t>
                </a:r>
              </a:p>
              <a:p>
                <a:pPr algn="ctr">
                  <a:buFont typeface="Wingdings" pitchFamily="2" charset="2"/>
                  <a:buChar char="Ø"/>
                </a:pPr>
                <a14:m>
                  <m:oMath xmlns:m="http://schemas.openxmlformats.org/officeDocument/2006/math">
                    <m:r>
                      <m:rPr>
                        <m:sty m:val="p"/>
                      </m:rPr>
                      <a:rPr lang="el-GR" sz="4000" i="1">
                        <a:latin typeface="Cambria Math"/>
                      </a:rPr>
                      <m:t>π</m:t>
                    </m:r>
                    <m:r>
                      <a:rPr lang="en-US" sz="4000" b="0" i="1" smtClean="0">
                        <a:latin typeface="Cambria Math"/>
                      </a:rPr>
                      <m:t>=</m:t>
                    </m:r>
                    <m:r>
                      <a:rPr lang="en-US" sz="4000" i="1">
                        <a:latin typeface="Cambria Math"/>
                      </a:rPr>
                      <m:t>2,500+56</m:t>
                    </m:r>
                    <m:r>
                      <a:rPr lang="en-US" sz="4000" b="0" i="1" smtClean="0">
                        <a:latin typeface="Cambria Math"/>
                      </a:rPr>
                      <m:t>∗8</m:t>
                    </m:r>
                    <m:r>
                      <a:rPr lang="en-US" sz="4000" i="1">
                        <a:latin typeface="Cambria Math"/>
                      </a:rPr>
                      <m:t>−3.5</m:t>
                    </m:r>
                    <m:sSup>
                      <m:sSupPr>
                        <m:ctrlPr>
                          <a:rPr lang="en-US" sz="4000" i="1">
                            <a:latin typeface="Cambria Math" panose="02040503050406030204" pitchFamily="18" charset="0"/>
                          </a:rPr>
                        </m:ctrlPr>
                      </m:sSupPr>
                      <m:e>
                        <m:r>
                          <a:rPr lang="en-US" sz="4000" b="0" i="1" smtClean="0">
                            <a:latin typeface="Cambria Math"/>
                          </a:rPr>
                          <m:t>∗8</m:t>
                        </m:r>
                      </m:e>
                      <m:sup>
                        <m:r>
                          <a:rPr lang="en-US" sz="4000" i="1">
                            <a:latin typeface="Cambria Math"/>
                          </a:rPr>
                          <m:t>2</m:t>
                        </m:r>
                      </m:sup>
                    </m:sSup>
                  </m:oMath>
                </a14:m>
                <a:endParaRPr lang="en-US" sz="4000" dirty="0" smtClean="0">
                  <a:solidFill>
                    <a:srgbClr val="FF0000"/>
                  </a:solidFill>
                </a:endParaRPr>
              </a:p>
              <a:p>
                <a:pPr algn="ctr">
                  <a:buFont typeface="Wingdings" pitchFamily="2" charset="2"/>
                  <a:buChar char="Ø"/>
                </a:pPr>
                <a:r>
                  <a:rPr lang="en-US" sz="4000" dirty="0" smtClean="0">
                    <a:solidFill>
                      <a:srgbClr val="FF0000"/>
                    </a:solidFill>
                  </a:rPr>
                  <a:t>2,724</a:t>
                </a:r>
                <a:endParaRPr lang="en-US" sz="4000" dirty="0">
                  <a:solidFill>
                    <a:srgbClr val="FF0000"/>
                  </a:solidFill>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04800" y="1143000"/>
                <a:ext cx="8650288" cy="5029200"/>
              </a:xfrm>
              <a:blipFill rotWithShape="0">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567383245"/>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50938" y="214313"/>
            <a:ext cx="7793037" cy="1081087"/>
          </a:xfrm>
        </p:spPr>
        <p:txBody>
          <a:bodyPr/>
          <a:lstStyle/>
          <a:p>
            <a:r>
              <a:rPr lang="en-US" dirty="0" smtClean="0"/>
              <a:t>PROFIT SCENARIOS</a:t>
            </a:r>
            <a:endParaRPr lang="en-US" dirty="0"/>
          </a:p>
        </p:txBody>
      </p:sp>
      <p:sp>
        <p:nvSpPr>
          <p:cNvPr id="3" name="Content Placeholder 2"/>
          <p:cNvSpPr>
            <a:spLocks noGrp="1"/>
          </p:cNvSpPr>
          <p:nvPr>
            <p:ph idx="1"/>
          </p:nvPr>
        </p:nvSpPr>
        <p:spPr>
          <a:xfrm>
            <a:off x="304800" y="1143000"/>
            <a:ext cx="8839200" cy="5257800"/>
          </a:xfrm>
        </p:spPr>
        <p:txBody>
          <a:bodyPr>
            <a:noAutofit/>
          </a:bodyPr>
          <a:lstStyle/>
          <a:p>
            <a:r>
              <a:rPr lang="en-US" sz="3600" dirty="0" smtClean="0"/>
              <a:t>Types of profit:</a:t>
            </a:r>
          </a:p>
          <a:p>
            <a:pPr lvl="1"/>
            <a:r>
              <a:rPr lang="en-US" sz="3600" dirty="0" smtClean="0"/>
              <a:t>Abnormal (Supernormal)profits</a:t>
            </a:r>
          </a:p>
          <a:p>
            <a:pPr lvl="1"/>
            <a:r>
              <a:rPr lang="en-US" sz="3600" dirty="0" smtClean="0"/>
              <a:t>Normal profits</a:t>
            </a:r>
          </a:p>
          <a:p>
            <a:pPr lvl="1"/>
            <a:r>
              <a:rPr lang="en-US" sz="3600" dirty="0" smtClean="0"/>
              <a:t>Negative profit(Losses)</a:t>
            </a:r>
          </a:p>
          <a:p>
            <a:r>
              <a:rPr lang="en-US" sz="3600" dirty="0" smtClean="0"/>
              <a:t>May also be categorized as:</a:t>
            </a:r>
          </a:p>
          <a:p>
            <a:pPr lvl="1"/>
            <a:r>
              <a:rPr lang="en-US" sz="3600" dirty="0" smtClean="0"/>
              <a:t>Accounting profit: </a:t>
            </a:r>
            <a:r>
              <a:rPr lang="el-GR" sz="3600" dirty="0" smtClean="0">
                <a:latin typeface="Calibri"/>
              </a:rPr>
              <a:t>π</a:t>
            </a:r>
            <a:r>
              <a:rPr lang="en-US" sz="3600" dirty="0" smtClean="0">
                <a:latin typeface="Calibri"/>
              </a:rPr>
              <a:t>= TR-TC</a:t>
            </a:r>
          </a:p>
          <a:p>
            <a:pPr lvl="1"/>
            <a:r>
              <a:rPr lang="en-US" sz="3600" dirty="0" smtClean="0">
                <a:latin typeface="Calibri"/>
              </a:rPr>
              <a:t>Economic profit: </a:t>
            </a:r>
            <a:r>
              <a:rPr lang="el-GR" sz="3600" dirty="0" smtClean="0">
                <a:latin typeface="Calibri"/>
              </a:rPr>
              <a:t>π</a:t>
            </a:r>
            <a:r>
              <a:rPr lang="en-US" sz="3600" dirty="0" smtClean="0">
                <a:latin typeface="Calibri"/>
              </a:rPr>
              <a:t> = TR-(TC+OC of inputs)</a:t>
            </a:r>
            <a:endParaRPr lang="en-US" sz="3600" dirty="0" smtClean="0"/>
          </a:p>
          <a:p>
            <a:endParaRPr lang="en-US" sz="3600" dirty="0"/>
          </a:p>
        </p:txBody>
      </p:sp>
      <p:sp>
        <p:nvSpPr>
          <p:cNvPr id="4" name="Date Placeholder 3"/>
          <p:cNvSpPr>
            <a:spLocks noGrp="1"/>
          </p:cNvSpPr>
          <p:nvPr>
            <p:ph type="dt" sz="half" idx="10"/>
          </p:nvPr>
        </p:nvSpPr>
        <p:spPr/>
        <p:txBody>
          <a:bodyPr/>
          <a:lstStyle/>
          <a:p>
            <a:fld id="{7921004A-F2A1-4A5F-8CF1-9CB1E96F2FFB}" type="datetime13">
              <a:rPr lang="en-US" smtClean="0"/>
              <a:pPr/>
              <a:t>11:23:12 PM</a:t>
            </a:fld>
            <a:endParaRPr lang="en-US"/>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2000"/>
                                        <p:tgtEl>
                                          <p:spTgt spid="3">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2000"/>
                                        <p:tgtEl>
                                          <p:spTgt spid="3">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2000"/>
                                        <p:tgtEl>
                                          <p:spTgt spid="3">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2000"/>
                                        <p:tgtEl>
                                          <p:spTgt spid="3">
                                            <p:txEl>
                                              <p:pRg st="4" end="4"/>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
                                            <p:txEl>
                                              <p:pRg st="5" end="5"/>
                                            </p:txEl>
                                          </p:spTgt>
                                        </p:tgtEl>
                                        <p:attrNameLst>
                                          <p:attrName>style.visibility</p:attrName>
                                        </p:attrNameLst>
                                      </p:cBhvr>
                                      <p:to>
                                        <p:strVal val="visible"/>
                                      </p:to>
                                    </p:set>
                                    <p:animEffect transition="in" filter="fade">
                                      <p:cBhvr>
                                        <p:cTn id="24" dur="2000"/>
                                        <p:tgtEl>
                                          <p:spTgt spid="3">
                                            <p:txEl>
                                              <p:pRg st="5" end="5"/>
                                            </p:txEl>
                                          </p:spTgt>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fade">
                                      <p:cBhvr>
                                        <p:cTn id="27" dur="2000"/>
                                        <p:tgtEl>
                                          <p:spTgt spid="3">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nodeType="clickEffect">
                                  <p:stCondLst>
                                    <p:cond delay="0"/>
                                  </p:stCondLst>
                                  <p:childTnLst>
                                    <p:set>
                                      <p:cBhvr>
                                        <p:cTn id="31" dur="1" fill="hold">
                                          <p:stCondLst>
                                            <p:cond delay="0"/>
                                          </p:stCondLst>
                                        </p:cTn>
                                        <p:tgtEl>
                                          <p:spTgt spid="3">
                                            <p:txEl>
                                              <p:pRg st="1" end="1"/>
                                            </p:txEl>
                                          </p:spTgt>
                                        </p:tgtEl>
                                        <p:attrNameLst>
                                          <p:attrName>style.visibility</p:attrName>
                                        </p:attrNameLst>
                                      </p:cBhvr>
                                      <p:to>
                                        <p:strVal val="visible"/>
                                      </p:to>
                                    </p:set>
                                    <p:animEffect transition="in" filter="checkerboard(across)">
                                      <p:cBhvr>
                                        <p:cTn id="32" dur="500"/>
                                        <p:tgtEl>
                                          <p:spTgt spid="3">
                                            <p:txEl>
                                              <p:pRg st="1" end="1"/>
                                            </p:txEl>
                                          </p:spTgt>
                                        </p:tgtEl>
                                      </p:cBhvr>
                                    </p:animEffect>
                                  </p:childTnLst>
                                </p:cTn>
                              </p:par>
                              <p:par>
                                <p:cTn id="33" presetID="5" presetClass="entr" presetSubtype="10" fill="hold" nodeType="withEffect">
                                  <p:stCondLst>
                                    <p:cond delay="0"/>
                                  </p:stCondLst>
                                  <p:childTnLst>
                                    <p:set>
                                      <p:cBhvr>
                                        <p:cTn id="34" dur="1" fill="hold">
                                          <p:stCondLst>
                                            <p:cond delay="0"/>
                                          </p:stCondLst>
                                        </p:cTn>
                                        <p:tgtEl>
                                          <p:spTgt spid="3">
                                            <p:txEl>
                                              <p:pRg st="2" end="2"/>
                                            </p:txEl>
                                          </p:spTgt>
                                        </p:tgtEl>
                                        <p:attrNameLst>
                                          <p:attrName>style.visibility</p:attrName>
                                        </p:attrNameLst>
                                      </p:cBhvr>
                                      <p:to>
                                        <p:strVal val="visible"/>
                                      </p:to>
                                    </p:set>
                                    <p:animEffect transition="in" filter="checkerboard(across)">
                                      <p:cBhvr>
                                        <p:cTn id="35" dur="500"/>
                                        <p:tgtEl>
                                          <p:spTgt spid="3">
                                            <p:txEl>
                                              <p:pRg st="2" end="2"/>
                                            </p:txEl>
                                          </p:spTgt>
                                        </p:tgtEl>
                                      </p:cBhvr>
                                    </p:animEffect>
                                  </p:childTnLst>
                                </p:cTn>
                              </p:par>
                              <p:par>
                                <p:cTn id="36" presetID="5" presetClass="entr" presetSubtype="10" fill="hold" nodeType="withEffect">
                                  <p:stCondLst>
                                    <p:cond delay="0"/>
                                  </p:stCondLst>
                                  <p:childTnLst>
                                    <p:set>
                                      <p:cBhvr>
                                        <p:cTn id="37" dur="1" fill="hold">
                                          <p:stCondLst>
                                            <p:cond delay="0"/>
                                          </p:stCondLst>
                                        </p:cTn>
                                        <p:tgtEl>
                                          <p:spTgt spid="3">
                                            <p:txEl>
                                              <p:pRg st="3" end="3"/>
                                            </p:txEl>
                                          </p:spTgt>
                                        </p:tgtEl>
                                        <p:attrNameLst>
                                          <p:attrName>style.visibility</p:attrName>
                                        </p:attrNameLst>
                                      </p:cBhvr>
                                      <p:to>
                                        <p:strVal val="visible"/>
                                      </p:to>
                                    </p:set>
                                    <p:animEffect transition="in" filter="checkerboard(across)">
                                      <p:cBhvr>
                                        <p:cTn id="38" dur="500"/>
                                        <p:tgtEl>
                                          <p:spTgt spid="3">
                                            <p:txEl>
                                              <p:pRg st="3" end="3"/>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8" presetClass="emph" presetSubtype="0" fill="hold" nodeType="clickEffect">
                                  <p:stCondLst>
                                    <p:cond delay="0"/>
                                  </p:stCondLst>
                                  <p:childTnLst>
                                    <p:animRot by="21600000">
                                      <p:cBhvr>
                                        <p:cTn id="42" dur="2000" fill="hold"/>
                                        <p:tgtEl>
                                          <p:spTgt spid="3">
                                            <p:txEl>
                                              <p:pRg st="1" end="1"/>
                                            </p:txEl>
                                          </p:spTgt>
                                        </p:tgtEl>
                                        <p:attrNameLst>
                                          <p:attrName>r</p:attrName>
                                        </p:attrNameLst>
                                      </p:cBhvr>
                                    </p:animRot>
                                  </p:childTnLst>
                                </p:cTn>
                              </p:par>
                              <p:par>
                                <p:cTn id="43" presetID="8" presetClass="emph" presetSubtype="0" fill="hold" nodeType="withEffect">
                                  <p:stCondLst>
                                    <p:cond delay="0"/>
                                  </p:stCondLst>
                                  <p:childTnLst>
                                    <p:animRot by="21600000">
                                      <p:cBhvr>
                                        <p:cTn id="44" dur="2000" fill="hold"/>
                                        <p:tgtEl>
                                          <p:spTgt spid="3">
                                            <p:txEl>
                                              <p:pRg st="2" end="2"/>
                                            </p:txEl>
                                          </p:spTgt>
                                        </p:tgtEl>
                                        <p:attrNameLst>
                                          <p:attrName>r</p:attrName>
                                        </p:attrNameLst>
                                      </p:cBhvr>
                                    </p:animRot>
                                  </p:childTnLst>
                                </p:cTn>
                              </p:par>
                              <p:par>
                                <p:cTn id="45" presetID="8" presetClass="emph" presetSubtype="0" fill="hold" nodeType="withEffect">
                                  <p:stCondLst>
                                    <p:cond delay="0"/>
                                  </p:stCondLst>
                                  <p:childTnLst>
                                    <p:animRot by="21600000">
                                      <p:cBhvr>
                                        <p:cTn id="46" dur="2000" fill="hold"/>
                                        <p:tgtEl>
                                          <p:spTgt spid="3">
                                            <p:txEl>
                                              <p:pRg st="3" end="3"/>
                                            </p:txEl>
                                          </p:spTgt>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50938" y="214313"/>
            <a:ext cx="7793037" cy="928687"/>
          </a:xfrm>
        </p:spPr>
        <p:txBody>
          <a:bodyPr/>
          <a:lstStyle/>
          <a:p>
            <a:r>
              <a:rPr lang="en-US" dirty="0" smtClean="0"/>
              <a:t>ABNORMAL PROFITS</a:t>
            </a:r>
            <a:endParaRPr lang="en-US" dirty="0"/>
          </a:p>
        </p:txBody>
      </p:sp>
      <p:sp>
        <p:nvSpPr>
          <p:cNvPr id="4" name="Date Placeholder 3"/>
          <p:cNvSpPr>
            <a:spLocks noGrp="1"/>
          </p:cNvSpPr>
          <p:nvPr>
            <p:ph type="dt" sz="half" idx="10"/>
          </p:nvPr>
        </p:nvSpPr>
        <p:spPr/>
        <p:txBody>
          <a:bodyPr/>
          <a:lstStyle/>
          <a:p>
            <a:fld id="{7921004A-F2A1-4A5F-8CF1-9CB1E96F2FFB}" type="datetime13">
              <a:rPr lang="en-US" smtClean="0"/>
              <a:pPr/>
              <a:t>11:23:12 PM</a:t>
            </a:fld>
            <a:endParaRPr lang="en-US"/>
          </a:p>
        </p:txBody>
      </p:sp>
      <p:pic>
        <p:nvPicPr>
          <p:cNvPr id="3" name="Picture 2" descr="C:\Users\Oyugis\Pictures\PROFMAX.png"/>
          <p:cNvPicPr>
            <a:picLocks noChangeAspect="1" noChangeArrowheads="1"/>
          </p:cNvPicPr>
          <p:nvPr/>
        </p:nvPicPr>
        <p:blipFill>
          <a:blip r:embed="rId3" cstate="print"/>
          <a:srcRect/>
          <a:stretch>
            <a:fillRect/>
          </a:stretch>
        </p:blipFill>
        <p:spPr bwMode="auto">
          <a:xfrm>
            <a:off x="457200" y="1295400"/>
            <a:ext cx="8305800" cy="5410200"/>
          </a:xfrm>
          <a:prstGeom prst="rect">
            <a:avLst/>
          </a:prstGeom>
          <a:ln>
            <a:noFill/>
          </a:ln>
          <a:effectLst>
            <a:outerShdw blurRad="292100" dist="139700" dir="2700000" algn="tl" rotWithShape="0">
              <a:srgbClr val="333333">
                <a:alpha val="65000"/>
              </a:srgbClr>
            </a:outerShdw>
          </a:effectLst>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5"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2000"/>
                                        <p:tgtEl>
                                          <p:spTgt spid="3"/>
                                        </p:tgtEl>
                                      </p:cBhvr>
                                    </p:animEffect>
                                    <p:anim calcmode="lin" valueType="num">
                                      <p:cBhvr>
                                        <p:cTn id="8" dur="2000" fill="hold"/>
                                        <p:tgtEl>
                                          <p:spTgt spid="3"/>
                                        </p:tgtEl>
                                        <p:attrNameLst>
                                          <p:attrName>ppt_w</p:attrName>
                                        </p:attrNameLst>
                                      </p:cBhvr>
                                      <p:tavLst>
                                        <p:tav tm="0" fmla="#ppt_w*sin(2.5*pi*$)">
                                          <p:val>
                                            <p:fltVal val="0"/>
                                          </p:val>
                                        </p:tav>
                                        <p:tav tm="100000">
                                          <p:val>
                                            <p:fltVal val="1"/>
                                          </p:val>
                                        </p:tav>
                                      </p:tavLst>
                                    </p:anim>
                                    <p:anim calcmode="lin" valueType="num">
                                      <p:cBhvr>
                                        <p:cTn id="9" dur="2000" fill="hold"/>
                                        <p:tgtEl>
                                          <p:spTgt spid="3"/>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56060" y="228600"/>
            <a:ext cx="7429499" cy="1066800"/>
          </a:xfrm>
        </p:spPr>
        <p:txBody>
          <a:bodyPr/>
          <a:lstStyle/>
          <a:p>
            <a:r>
              <a:rPr lang="en-US" dirty="0" smtClean="0"/>
              <a:t>ABNORMAL PROFITS ‘</a:t>
            </a:r>
            <a:r>
              <a:rPr lang="en-US" dirty="0" err="1" smtClean="0"/>
              <a:t>ctd</a:t>
            </a:r>
            <a:endParaRPr lang="en-US" dirty="0"/>
          </a:p>
        </p:txBody>
      </p:sp>
      <p:sp>
        <p:nvSpPr>
          <p:cNvPr id="3" name="Content Placeholder 2"/>
          <p:cNvSpPr>
            <a:spLocks noGrp="1"/>
          </p:cNvSpPr>
          <p:nvPr>
            <p:ph idx="1"/>
          </p:nvPr>
        </p:nvSpPr>
        <p:spPr>
          <a:xfrm>
            <a:off x="0" y="1905000"/>
            <a:ext cx="8955088" cy="4227513"/>
          </a:xfrm>
        </p:spPr>
        <p:txBody>
          <a:bodyPr>
            <a:noAutofit/>
          </a:bodyPr>
          <a:lstStyle/>
          <a:p>
            <a:r>
              <a:rPr lang="en-US" sz="3200" dirty="0" smtClean="0"/>
              <a:t>Firms make profit when Average total cost (ATC) curve is below the marginal revenue curve. </a:t>
            </a:r>
            <a:r>
              <a:rPr lang="en-US" sz="3200" dirty="0" err="1" smtClean="0"/>
              <a:t>i.e</a:t>
            </a:r>
            <a:r>
              <a:rPr lang="en-US" sz="3200" dirty="0" smtClean="0"/>
              <a:t> P&gt;min ATC.</a:t>
            </a:r>
          </a:p>
          <a:p>
            <a:r>
              <a:rPr lang="en-US" sz="3200" dirty="0" smtClean="0"/>
              <a:t>in the short run ,Positive economic profits provide firms with an incentive to enter the market, so as to take advantage of the abnormal profits existing in the markets.</a:t>
            </a:r>
            <a:endParaRPr lang="en-US" sz="3200" dirty="0"/>
          </a:p>
        </p:txBody>
      </p:sp>
      <p:sp>
        <p:nvSpPr>
          <p:cNvPr id="4" name="Date Placeholder 3"/>
          <p:cNvSpPr>
            <a:spLocks noGrp="1"/>
          </p:cNvSpPr>
          <p:nvPr>
            <p:ph type="dt" sz="half" idx="10"/>
          </p:nvPr>
        </p:nvSpPr>
        <p:spPr/>
        <p:txBody>
          <a:bodyPr/>
          <a:lstStyle/>
          <a:p>
            <a:fld id="{7921004A-F2A1-4A5F-8CF1-9CB1E96F2FFB}" type="datetime13">
              <a:rPr lang="en-US" smtClean="0"/>
              <a:pPr/>
              <a:t>11:23:12 PM</a:t>
            </a:fld>
            <a:endParaRPr lang="en-US"/>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56060" y="152400"/>
            <a:ext cx="7429499" cy="990600"/>
          </a:xfrm>
        </p:spPr>
        <p:txBody>
          <a:bodyPr>
            <a:normAutofit/>
          </a:bodyPr>
          <a:lstStyle/>
          <a:p>
            <a:r>
              <a:rPr lang="en-US" dirty="0" smtClean="0"/>
              <a:t>ABNORMAL PROFITS ‘</a:t>
            </a:r>
            <a:r>
              <a:rPr lang="en-US" dirty="0" err="1" smtClean="0"/>
              <a:t>ctd</a:t>
            </a:r>
            <a:endParaRPr lang="en-US" dirty="0"/>
          </a:p>
        </p:txBody>
      </p:sp>
      <p:sp>
        <p:nvSpPr>
          <p:cNvPr id="3" name="Content Placeholder 2"/>
          <p:cNvSpPr>
            <a:spLocks noGrp="1"/>
          </p:cNvSpPr>
          <p:nvPr>
            <p:ph idx="1"/>
          </p:nvPr>
        </p:nvSpPr>
        <p:spPr>
          <a:xfrm>
            <a:off x="76200" y="1981200"/>
            <a:ext cx="9067800" cy="4495800"/>
          </a:xfrm>
        </p:spPr>
        <p:txBody>
          <a:bodyPr>
            <a:noAutofit/>
          </a:bodyPr>
          <a:lstStyle/>
          <a:p>
            <a:r>
              <a:rPr lang="en-US" sz="3200" dirty="0" smtClean="0"/>
              <a:t>In the long run , entry of more firms exerts a downward pressure on the extant market price.</a:t>
            </a:r>
          </a:p>
          <a:p>
            <a:r>
              <a:rPr lang="en-US" sz="3200" dirty="0" smtClean="0"/>
              <a:t>The downward pressure acts as a disincentive for firms, leading to them cutting back on output, leading to decreased profits.</a:t>
            </a:r>
          </a:p>
          <a:p>
            <a:r>
              <a:rPr lang="en-US" sz="3200" dirty="0" smtClean="0"/>
              <a:t>Thus in LR, no abnormal profits. Only zero profits.</a:t>
            </a:r>
            <a:endParaRPr lang="en-US" sz="3200" dirty="0"/>
          </a:p>
        </p:txBody>
      </p:sp>
      <p:sp>
        <p:nvSpPr>
          <p:cNvPr id="4" name="Date Placeholder 3"/>
          <p:cNvSpPr>
            <a:spLocks noGrp="1"/>
          </p:cNvSpPr>
          <p:nvPr>
            <p:ph type="dt" sz="half" idx="10"/>
          </p:nvPr>
        </p:nvSpPr>
        <p:spPr/>
        <p:txBody>
          <a:bodyPr/>
          <a:lstStyle/>
          <a:p>
            <a:fld id="{7921004A-F2A1-4A5F-8CF1-9CB1E96F2FFB}" type="datetime13">
              <a:rPr lang="en-US" smtClean="0"/>
              <a:pPr/>
              <a:t>11:23:12 PM</a:t>
            </a:fld>
            <a:endParaRPr lang="en-US"/>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50938" y="214313"/>
            <a:ext cx="7793037" cy="1004887"/>
          </a:xfrm>
        </p:spPr>
        <p:txBody>
          <a:bodyPr/>
          <a:lstStyle/>
          <a:p>
            <a:r>
              <a:rPr lang="en-US" dirty="0" smtClean="0"/>
              <a:t>NEGATIVE PROFITS(LOSSES)</a:t>
            </a:r>
            <a:endParaRPr lang="en-US" dirty="0"/>
          </a:p>
        </p:txBody>
      </p:sp>
      <p:sp>
        <p:nvSpPr>
          <p:cNvPr id="4" name="Date Placeholder 3"/>
          <p:cNvSpPr>
            <a:spLocks noGrp="1"/>
          </p:cNvSpPr>
          <p:nvPr>
            <p:ph type="dt" sz="half" idx="10"/>
          </p:nvPr>
        </p:nvSpPr>
        <p:spPr/>
        <p:txBody>
          <a:bodyPr/>
          <a:lstStyle/>
          <a:p>
            <a:fld id="{7921004A-F2A1-4A5F-8CF1-9CB1E96F2FFB}" type="datetime13">
              <a:rPr lang="en-US" smtClean="0"/>
              <a:pPr/>
              <a:t>11:23:12 PM</a:t>
            </a:fld>
            <a:endParaRPr lang="en-US"/>
          </a:p>
        </p:txBody>
      </p:sp>
      <p:pic>
        <p:nvPicPr>
          <p:cNvPr id="82947" name="Picture 3" descr="C:\Users\Oyugis\Pictures\PROFMAX3.jpeg"/>
          <p:cNvPicPr>
            <a:picLocks noChangeAspect="1" noChangeArrowheads="1"/>
          </p:cNvPicPr>
          <p:nvPr/>
        </p:nvPicPr>
        <p:blipFill>
          <a:blip r:embed="rId3" cstate="print"/>
          <a:srcRect/>
          <a:stretch>
            <a:fillRect/>
          </a:stretch>
        </p:blipFill>
        <p:spPr bwMode="auto">
          <a:xfrm>
            <a:off x="914400" y="2057400"/>
            <a:ext cx="7620000" cy="4495800"/>
          </a:xfrm>
          <a:prstGeom prst="rect">
            <a:avLst/>
          </a:prstGeom>
          <a:ln>
            <a:noFill/>
          </a:ln>
          <a:effectLst>
            <a:outerShdw blurRad="292100" dist="139700" dir="2700000" algn="tl" rotWithShape="0">
              <a:srgbClr val="333333">
                <a:alpha val="65000"/>
              </a:srgbClr>
            </a:outerShdw>
          </a:effectLst>
        </p:spPr>
      </p:pic>
    </p:spTree>
  </p:cSld>
  <p:clrMapOvr>
    <a:masterClrMapping/>
  </p:clrMapOvr>
  <p:transition>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fill="hold" nodeType="clickEffect">
                                  <p:stCondLst>
                                    <p:cond delay="0"/>
                                  </p:stCondLst>
                                  <p:childTnLst>
                                    <p:animScale>
                                      <p:cBhvr>
                                        <p:cTn id="6" dur="2000" fill="hold"/>
                                        <p:tgtEl>
                                          <p:spTgt spid="82947"/>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56060" y="304800"/>
            <a:ext cx="7429499" cy="1219200"/>
          </a:xfrm>
        </p:spPr>
        <p:txBody>
          <a:bodyPr>
            <a:normAutofit fontScale="90000"/>
          </a:bodyPr>
          <a:lstStyle/>
          <a:p>
            <a:r>
              <a:rPr lang="en-US" dirty="0" smtClean="0"/>
              <a:t>NEGATIVE PROFITS(LOSSES) </a:t>
            </a:r>
            <a:r>
              <a:rPr lang="en-US" dirty="0" err="1" smtClean="0"/>
              <a:t>ctd</a:t>
            </a:r>
            <a:endParaRPr lang="en-US" dirty="0"/>
          </a:p>
        </p:txBody>
      </p:sp>
      <p:sp>
        <p:nvSpPr>
          <p:cNvPr id="3" name="Content Placeholder 2"/>
          <p:cNvSpPr>
            <a:spLocks noGrp="1"/>
          </p:cNvSpPr>
          <p:nvPr>
            <p:ph idx="1"/>
          </p:nvPr>
        </p:nvSpPr>
        <p:spPr>
          <a:xfrm>
            <a:off x="228600" y="1676400"/>
            <a:ext cx="8537448" cy="4724400"/>
          </a:xfrm>
        </p:spPr>
        <p:txBody>
          <a:bodyPr>
            <a:noAutofit/>
          </a:bodyPr>
          <a:lstStyle/>
          <a:p>
            <a:r>
              <a:rPr lang="en-US" sz="3600" dirty="0" smtClean="0"/>
              <a:t>Occurs when the firm’s minimum of the  average total cost curve lies above its marginal revenue curve at the profit maximizing level of output. P&lt;min ATC</a:t>
            </a:r>
          </a:p>
          <a:p>
            <a:r>
              <a:rPr lang="en-US" sz="3600" dirty="0" smtClean="0"/>
              <a:t>Decision maker faced with two options in this scenario:</a:t>
            </a:r>
          </a:p>
          <a:p>
            <a:pPr lvl="2"/>
            <a:r>
              <a:rPr lang="en-US" sz="3600" dirty="0" smtClean="0"/>
              <a:t>Reduce or stop production</a:t>
            </a:r>
          </a:p>
          <a:p>
            <a:pPr lvl="2"/>
            <a:r>
              <a:rPr lang="en-US" sz="3600" dirty="0" smtClean="0"/>
              <a:t>Shut down</a:t>
            </a:r>
            <a:endParaRPr lang="en-US" sz="3600" dirty="0"/>
          </a:p>
        </p:txBody>
      </p:sp>
      <p:sp>
        <p:nvSpPr>
          <p:cNvPr id="4" name="Date Placeholder 3"/>
          <p:cNvSpPr>
            <a:spLocks noGrp="1"/>
          </p:cNvSpPr>
          <p:nvPr>
            <p:ph type="dt" sz="half" idx="10"/>
          </p:nvPr>
        </p:nvSpPr>
        <p:spPr/>
        <p:txBody>
          <a:bodyPr/>
          <a:lstStyle/>
          <a:p>
            <a:fld id="{7921004A-F2A1-4A5F-8CF1-9CB1E96F2FFB}" type="datetime13">
              <a:rPr lang="en-US" smtClean="0"/>
              <a:pPr/>
              <a:t>11:23:12 PM</a:t>
            </a:fld>
            <a:endParaRPr lang="en-US"/>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1150938" y="214313"/>
            <a:ext cx="7793037" cy="1081087"/>
          </a:xfrm>
        </p:spPr>
        <p:txBody>
          <a:bodyPr/>
          <a:lstStyle/>
          <a:p>
            <a:r>
              <a:rPr lang="en-US" dirty="0" smtClean="0"/>
              <a:t>Reduce/Stop Production</a:t>
            </a:r>
            <a:endParaRPr lang="en-US" dirty="0"/>
          </a:p>
        </p:txBody>
      </p:sp>
      <p:sp>
        <p:nvSpPr>
          <p:cNvPr id="7" name="Content Placeholder 6"/>
          <p:cNvSpPr>
            <a:spLocks noGrp="1"/>
          </p:cNvSpPr>
          <p:nvPr>
            <p:ph sz="half" idx="1"/>
          </p:nvPr>
        </p:nvSpPr>
        <p:spPr>
          <a:xfrm>
            <a:off x="5867400" y="1905000"/>
            <a:ext cx="3066288" cy="4724400"/>
          </a:xfrm>
        </p:spPr>
        <p:txBody>
          <a:bodyPr>
            <a:normAutofit fontScale="92500" lnSpcReduction="20000"/>
          </a:bodyPr>
          <a:lstStyle/>
          <a:p>
            <a:r>
              <a:rPr lang="en-US" dirty="0" smtClean="0"/>
              <a:t>If the minima of the AVC curve &lt;marginal revenue firms are advised NOT to shut down in the short run.</a:t>
            </a:r>
          </a:p>
          <a:p>
            <a:r>
              <a:rPr lang="en-US" dirty="0" smtClean="0"/>
              <a:t>This is coz when min AVC&lt;MR, the firm is able to cover its Variable Cost + a portion of its fixed costs. </a:t>
            </a:r>
          </a:p>
          <a:p>
            <a:endParaRPr lang="en-US" dirty="0"/>
          </a:p>
        </p:txBody>
      </p:sp>
      <p:sp>
        <p:nvSpPr>
          <p:cNvPr id="4" name="Date Placeholder 3"/>
          <p:cNvSpPr>
            <a:spLocks noGrp="1"/>
          </p:cNvSpPr>
          <p:nvPr>
            <p:ph type="dt" sz="half" idx="10"/>
          </p:nvPr>
        </p:nvSpPr>
        <p:spPr/>
        <p:txBody>
          <a:bodyPr/>
          <a:lstStyle/>
          <a:p>
            <a:fld id="{7921004A-F2A1-4A5F-8CF1-9CB1E96F2FFB}" type="datetime13">
              <a:rPr lang="en-US" smtClean="0"/>
              <a:pPr/>
              <a:t>11:23:12 PM</a:t>
            </a:fld>
            <a:endParaRPr lang="en-US" dirty="0"/>
          </a:p>
        </p:txBody>
      </p:sp>
      <p:pic>
        <p:nvPicPr>
          <p:cNvPr id="126978" name="Picture 2" descr="C:\Users\Oyugi\Desktop\SHUT DOWN.png"/>
          <p:cNvPicPr>
            <a:picLocks noChangeAspect="1" noChangeArrowheads="1"/>
          </p:cNvPicPr>
          <p:nvPr/>
        </p:nvPicPr>
        <p:blipFill>
          <a:blip r:embed="rId2"/>
          <a:srcRect/>
          <a:stretch>
            <a:fillRect/>
          </a:stretch>
        </p:blipFill>
        <p:spPr bwMode="auto">
          <a:xfrm>
            <a:off x="152400" y="1905000"/>
            <a:ext cx="5638800" cy="4267200"/>
          </a:xfrm>
          <a:prstGeom prst="rect">
            <a:avLst/>
          </a:prstGeom>
          <a:ln>
            <a:noFill/>
          </a:ln>
          <a:effectLst>
            <a:outerShdw blurRad="292100" dist="139700" dir="2700000" algn="tl" rotWithShape="0">
              <a:srgbClr val="333333">
                <a:alpha val="65000"/>
              </a:srgbClr>
            </a:outerShdw>
          </a:effectLst>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26978"/>
                                        </p:tgtEl>
                                        <p:attrNameLst>
                                          <p:attrName>style.visibility</p:attrName>
                                        </p:attrNameLst>
                                      </p:cBhvr>
                                      <p:to>
                                        <p:strVal val="visible"/>
                                      </p:to>
                                    </p:set>
                                    <p:anim calcmode="lin" valueType="num">
                                      <p:cBhvr additive="base">
                                        <p:cTn id="7" dur="500" fill="hold"/>
                                        <p:tgtEl>
                                          <p:spTgt spid="126978"/>
                                        </p:tgtEl>
                                        <p:attrNameLst>
                                          <p:attrName>ppt_x</p:attrName>
                                        </p:attrNameLst>
                                      </p:cBhvr>
                                      <p:tavLst>
                                        <p:tav tm="0">
                                          <p:val>
                                            <p:strVal val="#ppt_x"/>
                                          </p:val>
                                        </p:tav>
                                        <p:tav tm="100000">
                                          <p:val>
                                            <p:strVal val="#ppt_x"/>
                                          </p:val>
                                        </p:tav>
                                      </p:tavLst>
                                    </p:anim>
                                    <p:anim calcmode="lin" valueType="num">
                                      <p:cBhvr additive="base">
                                        <p:cTn id="8" dur="500" fill="hold"/>
                                        <p:tgtEl>
                                          <p:spTgt spid="12697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1143000" y="274320"/>
            <a:ext cx="7790688" cy="1143000"/>
          </a:xfrm>
        </p:spPr>
        <p:txBody>
          <a:bodyPr/>
          <a:lstStyle/>
          <a:p>
            <a:r>
              <a:rPr lang="en-US" dirty="0" smtClean="0"/>
              <a:t>Shut down Point</a:t>
            </a:r>
            <a:endParaRPr lang="en-US" dirty="0"/>
          </a:p>
        </p:txBody>
      </p:sp>
      <p:sp>
        <p:nvSpPr>
          <p:cNvPr id="7" name="Content Placeholder 6"/>
          <p:cNvSpPr>
            <a:spLocks noGrp="1"/>
          </p:cNvSpPr>
          <p:nvPr>
            <p:ph sz="half" idx="1"/>
          </p:nvPr>
        </p:nvSpPr>
        <p:spPr>
          <a:xfrm>
            <a:off x="5486400" y="1828800"/>
            <a:ext cx="3657600" cy="4648200"/>
          </a:xfrm>
        </p:spPr>
        <p:txBody>
          <a:bodyPr>
            <a:normAutofit fontScale="92500" lnSpcReduction="20000"/>
          </a:bodyPr>
          <a:lstStyle/>
          <a:p>
            <a:r>
              <a:rPr lang="en-US" dirty="0" smtClean="0"/>
              <a:t>Def: The point at which a firm in PC market will be indifferent between continuing </a:t>
            </a:r>
            <a:r>
              <a:rPr lang="en-US" dirty="0" err="1" smtClean="0"/>
              <a:t>pxn</a:t>
            </a:r>
            <a:r>
              <a:rPr lang="en-US" dirty="0" smtClean="0"/>
              <a:t> and shutting down.</a:t>
            </a:r>
          </a:p>
          <a:p>
            <a:r>
              <a:rPr lang="en-US" dirty="0" smtClean="0"/>
              <a:t>when the minima of the AVC is more than the firm’s  Marginal Revenue, the firm is advised to shutdown as its not able to cover its VC. </a:t>
            </a:r>
          </a:p>
          <a:p>
            <a:endParaRPr lang="en-US" dirty="0"/>
          </a:p>
        </p:txBody>
      </p:sp>
      <p:sp>
        <p:nvSpPr>
          <p:cNvPr id="4" name="Date Placeholder 3"/>
          <p:cNvSpPr>
            <a:spLocks noGrp="1"/>
          </p:cNvSpPr>
          <p:nvPr>
            <p:ph type="dt" sz="half" idx="10"/>
          </p:nvPr>
        </p:nvSpPr>
        <p:spPr/>
        <p:txBody>
          <a:bodyPr/>
          <a:lstStyle/>
          <a:p>
            <a:fld id="{7921004A-F2A1-4A5F-8CF1-9CB1E96F2FFB}" type="datetime13">
              <a:rPr lang="en-US" smtClean="0"/>
              <a:pPr/>
              <a:t>11:23:12 PM</a:t>
            </a:fld>
            <a:endParaRPr lang="en-US"/>
          </a:p>
        </p:txBody>
      </p:sp>
      <p:pic>
        <p:nvPicPr>
          <p:cNvPr id="128002" name="Picture 2" descr="C:\Users\Oyugi\Desktop\SHUT DOWN 2.png"/>
          <p:cNvPicPr>
            <a:picLocks noChangeAspect="1" noChangeArrowheads="1"/>
          </p:cNvPicPr>
          <p:nvPr/>
        </p:nvPicPr>
        <p:blipFill>
          <a:blip r:embed="rId2"/>
          <a:srcRect/>
          <a:stretch>
            <a:fillRect/>
          </a:stretch>
        </p:blipFill>
        <p:spPr bwMode="auto">
          <a:xfrm>
            <a:off x="304800" y="1600200"/>
            <a:ext cx="5257800" cy="4724399"/>
          </a:xfrm>
          <a:prstGeom prst="rect">
            <a:avLst/>
          </a:prstGeom>
          <a:ln>
            <a:noFill/>
          </a:ln>
          <a:effectLst>
            <a:outerShdw blurRad="292100" dist="139700" dir="2700000" algn="tl" rotWithShape="0">
              <a:srgbClr val="333333">
                <a:alpha val="65000"/>
              </a:srgbClr>
            </a:outerShdw>
          </a:effectLst>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28002"/>
                                        </p:tgtEl>
                                        <p:attrNameLst>
                                          <p:attrName>style.visibility</p:attrName>
                                        </p:attrNameLst>
                                      </p:cBhvr>
                                      <p:to>
                                        <p:strVal val="visible"/>
                                      </p:to>
                                    </p:set>
                                    <p:animEffect transition="in" filter="wipe(down)">
                                      <p:cBhvr>
                                        <p:cTn id="7" dur="500"/>
                                        <p:tgtEl>
                                          <p:spTgt spid="1280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ZERO PROFIT  SCENARIO</a:t>
            </a:r>
            <a:endParaRPr lang="en-US" dirty="0"/>
          </a:p>
        </p:txBody>
      </p:sp>
      <p:sp>
        <p:nvSpPr>
          <p:cNvPr id="3" name="Date Placeholder 2"/>
          <p:cNvSpPr>
            <a:spLocks noGrp="1"/>
          </p:cNvSpPr>
          <p:nvPr>
            <p:ph type="dt" sz="half" idx="10"/>
          </p:nvPr>
        </p:nvSpPr>
        <p:spPr/>
        <p:txBody>
          <a:bodyPr/>
          <a:lstStyle/>
          <a:p>
            <a:fld id="{7921004A-F2A1-4A5F-8CF1-9CB1E96F2FFB}" type="datetime13">
              <a:rPr lang="en-US" smtClean="0"/>
              <a:pPr/>
              <a:t>11:23:12 PM</a:t>
            </a:fld>
            <a:endParaRPr lang="en-US" dirty="0"/>
          </a:p>
        </p:txBody>
      </p:sp>
      <p:pic>
        <p:nvPicPr>
          <p:cNvPr id="82946" name="Picture 2" descr="C:\Users\Oyugis\Pictures\ZERO.png"/>
          <p:cNvPicPr>
            <a:picLocks noChangeAspect="1" noChangeArrowheads="1"/>
          </p:cNvPicPr>
          <p:nvPr/>
        </p:nvPicPr>
        <p:blipFill>
          <a:blip r:embed="rId3" cstate="print"/>
          <a:srcRect/>
          <a:stretch>
            <a:fillRect/>
          </a:stretch>
        </p:blipFill>
        <p:spPr bwMode="auto">
          <a:xfrm>
            <a:off x="457200" y="1981200"/>
            <a:ext cx="7848600" cy="4495800"/>
          </a:xfrm>
          <a:prstGeom prst="rect">
            <a:avLst/>
          </a:prstGeom>
          <a:ln>
            <a:noFill/>
          </a:ln>
          <a:effectLst>
            <a:outerShdw blurRad="292100" dist="139700" dir="2700000" algn="tl" rotWithShape="0">
              <a:srgbClr val="333333">
                <a:alpha val="65000"/>
              </a:srgbClr>
            </a:outerShdw>
          </a:effectLst>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2" presetClass="emph" presetSubtype="0" fill="hold" nodeType="clickEffect">
                                  <p:stCondLst>
                                    <p:cond delay="0"/>
                                  </p:stCondLst>
                                  <p:childTnLst>
                                    <p:animRot by="120000">
                                      <p:cBhvr>
                                        <p:cTn id="6" dur="100" fill="hold">
                                          <p:stCondLst>
                                            <p:cond delay="0"/>
                                          </p:stCondLst>
                                        </p:cTn>
                                        <p:tgtEl>
                                          <p:spTgt spid="82946"/>
                                        </p:tgtEl>
                                        <p:attrNameLst>
                                          <p:attrName>r</p:attrName>
                                        </p:attrNameLst>
                                      </p:cBhvr>
                                    </p:animRot>
                                    <p:animRot by="-240000">
                                      <p:cBhvr>
                                        <p:cTn id="7" dur="200" fill="hold">
                                          <p:stCondLst>
                                            <p:cond delay="200"/>
                                          </p:stCondLst>
                                        </p:cTn>
                                        <p:tgtEl>
                                          <p:spTgt spid="82946"/>
                                        </p:tgtEl>
                                        <p:attrNameLst>
                                          <p:attrName>r</p:attrName>
                                        </p:attrNameLst>
                                      </p:cBhvr>
                                    </p:animRot>
                                    <p:animRot by="240000">
                                      <p:cBhvr>
                                        <p:cTn id="8" dur="200" fill="hold">
                                          <p:stCondLst>
                                            <p:cond delay="400"/>
                                          </p:stCondLst>
                                        </p:cTn>
                                        <p:tgtEl>
                                          <p:spTgt spid="82946"/>
                                        </p:tgtEl>
                                        <p:attrNameLst>
                                          <p:attrName>r</p:attrName>
                                        </p:attrNameLst>
                                      </p:cBhvr>
                                    </p:animRot>
                                    <p:animRot by="-240000">
                                      <p:cBhvr>
                                        <p:cTn id="9" dur="200" fill="hold">
                                          <p:stCondLst>
                                            <p:cond delay="600"/>
                                          </p:stCondLst>
                                        </p:cTn>
                                        <p:tgtEl>
                                          <p:spTgt spid="82946"/>
                                        </p:tgtEl>
                                        <p:attrNameLst>
                                          <p:attrName>r</p:attrName>
                                        </p:attrNameLst>
                                      </p:cBhvr>
                                    </p:animRot>
                                    <p:animRot by="120000">
                                      <p:cBhvr>
                                        <p:cTn id="10" dur="200" fill="hold">
                                          <p:stCondLst>
                                            <p:cond delay="800"/>
                                          </p:stCondLst>
                                        </p:cTn>
                                        <p:tgtEl>
                                          <p:spTgt spid="82946"/>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57200" y="533400"/>
            <a:ext cx="8229600" cy="1447800"/>
          </a:xfrm>
        </p:spPr>
        <p:txBody>
          <a:bodyPr>
            <a:normAutofit fontScale="90000"/>
          </a:bodyPr>
          <a:lstStyle/>
          <a:p>
            <a:r>
              <a:rPr lang="en-US" altLang="en-US" dirty="0"/>
              <a:t>Determining the Monopolist’s Price and Output</a:t>
            </a:r>
            <a:br>
              <a:rPr lang="en-US" altLang="en-US" dirty="0"/>
            </a:br>
            <a:endParaRPr lang="en-US" dirty="0"/>
          </a:p>
        </p:txBody>
      </p:sp>
      <p:sp>
        <p:nvSpPr>
          <p:cNvPr id="4" name="Date Placeholder 3"/>
          <p:cNvSpPr>
            <a:spLocks noGrp="1"/>
          </p:cNvSpPr>
          <p:nvPr>
            <p:ph type="dt" sz="half" idx="10"/>
          </p:nvPr>
        </p:nvSpPr>
        <p:spPr/>
        <p:txBody>
          <a:bodyPr/>
          <a:lstStyle/>
          <a:p>
            <a:fld id="{7921004A-F2A1-4A5F-8CF1-9CB1E96F2FFB}" type="datetime13">
              <a:rPr lang="en-US" smtClean="0"/>
              <a:pPr/>
              <a:t>11:23:12 PM</a:t>
            </a:fld>
            <a:endParaRPr lang="en-US"/>
          </a:p>
        </p:txBody>
      </p:sp>
      <p:sp>
        <p:nvSpPr>
          <p:cNvPr id="8" name="Line 3"/>
          <p:cNvSpPr>
            <a:spLocks noChangeShapeType="1"/>
          </p:cNvSpPr>
          <p:nvPr/>
        </p:nvSpPr>
        <p:spPr bwMode="auto">
          <a:xfrm>
            <a:off x="1422401" y="3935412"/>
            <a:ext cx="2090737" cy="0"/>
          </a:xfrm>
          <a:prstGeom prst="line">
            <a:avLst/>
          </a:prstGeom>
          <a:noFill/>
          <a:ln w="28575">
            <a:solidFill>
              <a:srgbClr val="000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a:lstStyle>
          <a:p>
            <a:endParaRPr lang="en-US"/>
          </a:p>
        </p:txBody>
      </p:sp>
      <p:grpSp>
        <p:nvGrpSpPr>
          <p:cNvPr id="9" name="Group 8"/>
          <p:cNvGrpSpPr>
            <a:grpSpLocks/>
          </p:cNvGrpSpPr>
          <p:nvPr/>
        </p:nvGrpSpPr>
        <p:grpSpPr bwMode="auto">
          <a:xfrm>
            <a:off x="1997076" y="2203450"/>
            <a:ext cx="3503613" cy="3089276"/>
            <a:chOff x="1789" y="1299"/>
            <a:chExt cx="2207" cy="1946"/>
          </a:xfrm>
        </p:grpSpPr>
        <p:sp>
          <p:nvSpPr>
            <p:cNvPr id="69" name="Freeform 68"/>
            <p:cNvSpPr>
              <a:spLocks/>
            </p:cNvSpPr>
            <p:nvPr/>
          </p:nvSpPr>
          <p:spPr bwMode="auto">
            <a:xfrm>
              <a:off x="1789" y="1456"/>
              <a:ext cx="1934" cy="1789"/>
            </a:xfrm>
            <a:custGeom>
              <a:avLst/>
              <a:gdLst>
                <a:gd name="T0" fmla="*/ 0 w 1489"/>
                <a:gd name="T1" fmla="*/ 1788 h 1789"/>
                <a:gd name="T2" fmla="*/ 254 w 1489"/>
                <a:gd name="T3" fmla="*/ 1735 h 1789"/>
                <a:gd name="T4" fmla="*/ 487 w 1489"/>
                <a:gd name="T5" fmla="*/ 1621 h 1789"/>
                <a:gd name="T6" fmla="*/ 700 w 1489"/>
                <a:gd name="T7" fmla="*/ 1451 h 1789"/>
                <a:gd name="T8" fmla="*/ 893 w 1489"/>
                <a:gd name="T9" fmla="*/ 1233 h 1789"/>
                <a:gd name="T10" fmla="*/ 1067 w 1489"/>
                <a:gd name="T11" fmla="*/ 972 h 1789"/>
                <a:gd name="T12" fmla="*/ 1224 w 1489"/>
                <a:gd name="T13" fmla="*/ 675 h 1789"/>
                <a:gd name="T14" fmla="*/ 1364 w 1489"/>
                <a:gd name="T15" fmla="*/ 349 h 1789"/>
                <a:gd name="T16" fmla="*/ 1488 w 1489"/>
                <a:gd name="T17" fmla="*/ 0 h 17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89" h="1789">
                  <a:moveTo>
                    <a:pt x="0" y="1788"/>
                  </a:moveTo>
                  <a:lnTo>
                    <a:pt x="254" y="1735"/>
                  </a:lnTo>
                  <a:lnTo>
                    <a:pt x="487" y="1621"/>
                  </a:lnTo>
                  <a:lnTo>
                    <a:pt x="700" y="1451"/>
                  </a:lnTo>
                  <a:lnTo>
                    <a:pt x="893" y="1233"/>
                  </a:lnTo>
                  <a:lnTo>
                    <a:pt x="1067" y="972"/>
                  </a:lnTo>
                  <a:lnTo>
                    <a:pt x="1224" y="675"/>
                  </a:lnTo>
                  <a:lnTo>
                    <a:pt x="1364" y="349"/>
                  </a:lnTo>
                  <a:lnTo>
                    <a:pt x="1488" y="0"/>
                  </a:lnTo>
                </a:path>
              </a:pathLst>
            </a:custGeom>
            <a:noFill/>
            <a:ln w="2540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a:lstStyle>
            <a:p>
              <a:endParaRPr lang="en-US"/>
            </a:p>
          </p:txBody>
        </p:sp>
        <p:sp>
          <p:nvSpPr>
            <p:cNvPr id="70" name="Rectangle 69"/>
            <p:cNvSpPr>
              <a:spLocks noChangeArrowheads="1"/>
            </p:cNvSpPr>
            <p:nvPr/>
          </p:nvSpPr>
          <p:spPr bwMode="auto">
            <a:xfrm>
              <a:off x="3583" y="1299"/>
              <a:ext cx="413" cy="286"/>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a:lstStyle>
            <a:p>
              <a:pPr algn="r" eaLnBrk="0" hangingPunct="0"/>
              <a:r>
                <a:rPr lang="en-US" altLang="en-US" sz="2400" i="1" dirty="0">
                  <a:solidFill>
                    <a:srgbClr val="000000"/>
                  </a:solidFill>
                </a:rPr>
                <a:t>MC</a:t>
              </a:r>
            </a:p>
          </p:txBody>
        </p:sp>
      </p:grpSp>
      <p:grpSp>
        <p:nvGrpSpPr>
          <p:cNvPr id="10" name="Group 9"/>
          <p:cNvGrpSpPr>
            <a:grpSpLocks/>
          </p:cNvGrpSpPr>
          <p:nvPr/>
        </p:nvGrpSpPr>
        <p:grpSpPr bwMode="auto">
          <a:xfrm>
            <a:off x="557213" y="2281237"/>
            <a:ext cx="7275513" cy="4064000"/>
            <a:chOff x="882" y="1348"/>
            <a:chExt cx="4583" cy="2560"/>
          </a:xfrm>
        </p:grpSpPr>
        <p:grpSp>
          <p:nvGrpSpPr>
            <p:cNvPr id="24" name="Group 23"/>
            <p:cNvGrpSpPr>
              <a:grpSpLocks/>
            </p:cNvGrpSpPr>
            <p:nvPr/>
          </p:nvGrpSpPr>
          <p:grpSpPr bwMode="auto">
            <a:xfrm>
              <a:off x="882" y="1376"/>
              <a:ext cx="552" cy="2532"/>
              <a:chOff x="882" y="1376"/>
              <a:chExt cx="552" cy="2532"/>
            </a:xfrm>
          </p:grpSpPr>
          <p:sp>
            <p:nvSpPr>
              <p:cNvPr id="59" name="Rectangle 58"/>
              <p:cNvSpPr>
                <a:spLocks noChangeArrowheads="1"/>
              </p:cNvSpPr>
              <p:nvPr/>
            </p:nvSpPr>
            <p:spPr bwMode="auto">
              <a:xfrm>
                <a:off x="999" y="1778"/>
                <a:ext cx="435" cy="2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a:lstStyle>
              <a:p>
                <a:pPr algn="r" eaLnBrk="0" hangingPunct="0"/>
                <a:r>
                  <a:rPr lang="en-US" altLang="en-US" sz="2400">
                    <a:solidFill>
                      <a:srgbClr val="000000"/>
                    </a:solidFill>
                  </a:rPr>
                  <a:t>$36</a:t>
                </a:r>
              </a:p>
            </p:txBody>
          </p:sp>
          <p:sp>
            <p:nvSpPr>
              <p:cNvPr id="60" name="Rectangle 59"/>
              <p:cNvSpPr>
                <a:spLocks noChangeArrowheads="1"/>
              </p:cNvSpPr>
              <p:nvPr/>
            </p:nvSpPr>
            <p:spPr bwMode="auto">
              <a:xfrm>
                <a:off x="1106" y="2009"/>
                <a:ext cx="328" cy="2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a:lstStyle>
              <a:p>
                <a:pPr algn="r" eaLnBrk="0" hangingPunct="0"/>
                <a:r>
                  <a:rPr lang="en-US" altLang="en-US" sz="2400">
                    <a:solidFill>
                      <a:srgbClr val="000000"/>
                    </a:solidFill>
                  </a:rPr>
                  <a:t>30</a:t>
                </a:r>
              </a:p>
            </p:txBody>
          </p:sp>
          <p:sp>
            <p:nvSpPr>
              <p:cNvPr id="61" name="Rectangle 60"/>
              <p:cNvSpPr>
                <a:spLocks noChangeArrowheads="1"/>
              </p:cNvSpPr>
              <p:nvPr/>
            </p:nvSpPr>
            <p:spPr bwMode="auto">
              <a:xfrm>
                <a:off x="1106" y="2239"/>
                <a:ext cx="328" cy="2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a:lstStyle>
              <a:p>
                <a:pPr algn="r" eaLnBrk="0" hangingPunct="0"/>
                <a:r>
                  <a:rPr lang="en-US" altLang="en-US" sz="2400">
                    <a:solidFill>
                      <a:srgbClr val="000000"/>
                    </a:solidFill>
                  </a:rPr>
                  <a:t>24</a:t>
                </a:r>
              </a:p>
            </p:txBody>
          </p:sp>
          <p:sp>
            <p:nvSpPr>
              <p:cNvPr id="62" name="Rectangle 61"/>
              <p:cNvSpPr>
                <a:spLocks noChangeArrowheads="1"/>
              </p:cNvSpPr>
              <p:nvPr/>
            </p:nvSpPr>
            <p:spPr bwMode="auto">
              <a:xfrm>
                <a:off x="1106" y="2469"/>
                <a:ext cx="328" cy="2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a:lstStyle>
              <a:p>
                <a:pPr algn="r" eaLnBrk="0" hangingPunct="0"/>
                <a:r>
                  <a:rPr lang="en-US" altLang="en-US" sz="2400">
                    <a:solidFill>
                      <a:srgbClr val="000000"/>
                    </a:solidFill>
                  </a:rPr>
                  <a:t>18</a:t>
                </a:r>
              </a:p>
            </p:txBody>
          </p:sp>
          <p:sp>
            <p:nvSpPr>
              <p:cNvPr id="63" name="Rectangle 62"/>
              <p:cNvSpPr>
                <a:spLocks noChangeArrowheads="1"/>
              </p:cNvSpPr>
              <p:nvPr/>
            </p:nvSpPr>
            <p:spPr bwMode="auto">
              <a:xfrm>
                <a:off x="1106" y="2700"/>
                <a:ext cx="328" cy="2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a:lstStyle>
              <a:p>
                <a:pPr algn="r" eaLnBrk="0" hangingPunct="0"/>
                <a:r>
                  <a:rPr lang="en-US" altLang="en-US" sz="2400">
                    <a:solidFill>
                      <a:srgbClr val="000000"/>
                    </a:solidFill>
                  </a:rPr>
                  <a:t>12</a:t>
                </a:r>
              </a:p>
            </p:txBody>
          </p:sp>
          <p:sp>
            <p:nvSpPr>
              <p:cNvPr id="64" name="Rectangle 63"/>
              <p:cNvSpPr>
                <a:spLocks noChangeArrowheads="1"/>
              </p:cNvSpPr>
              <p:nvPr/>
            </p:nvSpPr>
            <p:spPr bwMode="auto">
              <a:xfrm>
                <a:off x="1213" y="2930"/>
                <a:ext cx="221" cy="2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a:lstStyle>
              <a:p>
                <a:pPr algn="r" eaLnBrk="0" hangingPunct="0"/>
                <a:r>
                  <a:rPr lang="en-US" altLang="en-US" sz="2400">
                    <a:solidFill>
                      <a:srgbClr val="000000"/>
                    </a:solidFill>
                  </a:rPr>
                  <a:t>6</a:t>
                </a:r>
              </a:p>
            </p:txBody>
          </p:sp>
          <p:sp>
            <p:nvSpPr>
              <p:cNvPr id="65" name="Rectangle 64"/>
              <p:cNvSpPr>
                <a:spLocks noChangeArrowheads="1"/>
              </p:cNvSpPr>
              <p:nvPr/>
            </p:nvSpPr>
            <p:spPr bwMode="auto">
              <a:xfrm>
                <a:off x="1213" y="3161"/>
                <a:ext cx="221" cy="2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a:lstStyle>
              <a:p>
                <a:pPr algn="r" eaLnBrk="0" hangingPunct="0"/>
                <a:r>
                  <a:rPr lang="en-US" altLang="en-US" sz="2400">
                    <a:solidFill>
                      <a:srgbClr val="000000"/>
                    </a:solidFill>
                  </a:rPr>
                  <a:t>0</a:t>
                </a:r>
              </a:p>
            </p:txBody>
          </p:sp>
          <p:sp>
            <p:nvSpPr>
              <p:cNvPr id="66" name="Rectangle 65"/>
              <p:cNvSpPr>
                <a:spLocks noChangeArrowheads="1"/>
              </p:cNvSpPr>
              <p:nvPr/>
            </p:nvSpPr>
            <p:spPr bwMode="auto">
              <a:xfrm>
                <a:off x="1213" y="3391"/>
                <a:ext cx="221" cy="2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a:lstStyle>
              <a:p>
                <a:pPr algn="r" eaLnBrk="0" hangingPunct="0"/>
                <a:r>
                  <a:rPr lang="en-US" altLang="en-US" sz="2400">
                    <a:solidFill>
                      <a:srgbClr val="000000"/>
                    </a:solidFill>
                  </a:rPr>
                  <a:t>6</a:t>
                </a:r>
              </a:p>
            </p:txBody>
          </p:sp>
          <p:sp>
            <p:nvSpPr>
              <p:cNvPr id="67" name="Rectangle 66"/>
              <p:cNvSpPr>
                <a:spLocks noChangeArrowheads="1"/>
              </p:cNvSpPr>
              <p:nvPr/>
            </p:nvSpPr>
            <p:spPr bwMode="auto">
              <a:xfrm>
                <a:off x="1106" y="3622"/>
                <a:ext cx="328" cy="2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a:lstStyle>
              <a:p>
                <a:pPr algn="r" eaLnBrk="0" hangingPunct="0"/>
                <a:r>
                  <a:rPr lang="en-US" altLang="en-US" sz="2400">
                    <a:solidFill>
                      <a:srgbClr val="000000"/>
                    </a:solidFill>
                  </a:rPr>
                  <a:t>12</a:t>
                </a:r>
              </a:p>
            </p:txBody>
          </p:sp>
          <p:sp>
            <p:nvSpPr>
              <p:cNvPr id="68" name="Rectangle 67"/>
              <p:cNvSpPr>
                <a:spLocks noChangeArrowheads="1"/>
              </p:cNvSpPr>
              <p:nvPr/>
            </p:nvSpPr>
            <p:spPr bwMode="auto">
              <a:xfrm rot="21600000">
                <a:off x="882" y="1376"/>
                <a:ext cx="552" cy="2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a:lstStyle>
              <a:p>
                <a:pPr algn="r" eaLnBrk="0" hangingPunct="0"/>
                <a:r>
                  <a:rPr lang="en-US" altLang="en-US" sz="2400" dirty="0">
                    <a:solidFill>
                      <a:srgbClr val="000000"/>
                    </a:solidFill>
                  </a:rPr>
                  <a:t>Price</a:t>
                </a:r>
              </a:p>
            </p:txBody>
          </p:sp>
        </p:grpSp>
        <p:grpSp>
          <p:nvGrpSpPr>
            <p:cNvPr id="25" name="Group 24"/>
            <p:cNvGrpSpPr>
              <a:grpSpLocks/>
            </p:cNvGrpSpPr>
            <p:nvPr/>
          </p:nvGrpSpPr>
          <p:grpSpPr bwMode="auto">
            <a:xfrm>
              <a:off x="1421" y="1348"/>
              <a:ext cx="4044" cy="2522"/>
              <a:chOff x="1457" y="1366"/>
              <a:chExt cx="4044" cy="2522"/>
            </a:xfrm>
          </p:grpSpPr>
          <p:sp>
            <p:nvSpPr>
              <p:cNvPr id="37" name="Line 20"/>
              <p:cNvSpPr>
                <a:spLocks noChangeShapeType="1"/>
              </p:cNvSpPr>
              <p:nvPr/>
            </p:nvSpPr>
            <p:spPr bwMode="auto">
              <a:xfrm>
                <a:off x="1457" y="1366"/>
                <a:ext cx="0" cy="2522"/>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a:lstStyle>
              <a:p>
                <a:endParaRPr lang="en-US"/>
              </a:p>
            </p:txBody>
          </p:sp>
          <p:sp>
            <p:nvSpPr>
              <p:cNvPr id="38" name="Line 21"/>
              <p:cNvSpPr>
                <a:spLocks noChangeShapeType="1"/>
              </p:cNvSpPr>
              <p:nvPr/>
            </p:nvSpPr>
            <p:spPr bwMode="auto">
              <a:xfrm>
                <a:off x="1468" y="1492"/>
                <a:ext cx="48" cy="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a:lstStyle>
              <a:p>
                <a:endParaRPr lang="en-US"/>
              </a:p>
            </p:txBody>
          </p:sp>
          <p:sp>
            <p:nvSpPr>
              <p:cNvPr id="39" name="Line 22"/>
              <p:cNvSpPr>
                <a:spLocks noChangeShapeType="1"/>
              </p:cNvSpPr>
              <p:nvPr/>
            </p:nvSpPr>
            <p:spPr bwMode="auto">
              <a:xfrm>
                <a:off x="1468" y="1721"/>
                <a:ext cx="48" cy="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a:lstStyle>
              <a:p>
                <a:endParaRPr lang="en-US"/>
              </a:p>
            </p:txBody>
          </p:sp>
          <p:sp>
            <p:nvSpPr>
              <p:cNvPr id="40" name="Line 23"/>
              <p:cNvSpPr>
                <a:spLocks noChangeShapeType="1"/>
              </p:cNvSpPr>
              <p:nvPr/>
            </p:nvSpPr>
            <p:spPr bwMode="auto">
              <a:xfrm>
                <a:off x="1468" y="1950"/>
                <a:ext cx="48" cy="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a:lstStyle>
              <a:p>
                <a:endParaRPr lang="en-US"/>
              </a:p>
            </p:txBody>
          </p:sp>
          <p:sp>
            <p:nvSpPr>
              <p:cNvPr id="41" name="Line 24"/>
              <p:cNvSpPr>
                <a:spLocks noChangeShapeType="1"/>
              </p:cNvSpPr>
              <p:nvPr/>
            </p:nvSpPr>
            <p:spPr bwMode="auto">
              <a:xfrm>
                <a:off x="1468" y="2179"/>
                <a:ext cx="48" cy="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a:lstStyle>
              <a:p>
                <a:endParaRPr lang="en-US"/>
              </a:p>
            </p:txBody>
          </p:sp>
          <p:sp>
            <p:nvSpPr>
              <p:cNvPr id="42" name="Line 25"/>
              <p:cNvSpPr>
                <a:spLocks noChangeShapeType="1"/>
              </p:cNvSpPr>
              <p:nvPr/>
            </p:nvSpPr>
            <p:spPr bwMode="auto">
              <a:xfrm>
                <a:off x="1468" y="2408"/>
                <a:ext cx="48" cy="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a:lstStyle>
              <a:p>
                <a:endParaRPr lang="en-US"/>
              </a:p>
            </p:txBody>
          </p:sp>
          <p:sp>
            <p:nvSpPr>
              <p:cNvPr id="43" name="Line 26"/>
              <p:cNvSpPr>
                <a:spLocks noChangeShapeType="1"/>
              </p:cNvSpPr>
              <p:nvPr/>
            </p:nvSpPr>
            <p:spPr bwMode="auto">
              <a:xfrm>
                <a:off x="1468" y="2644"/>
                <a:ext cx="48" cy="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a:lstStyle>
              <a:p>
                <a:endParaRPr lang="en-US"/>
              </a:p>
            </p:txBody>
          </p:sp>
          <p:sp>
            <p:nvSpPr>
              <p:cNvPr id="44" name="Line 27"/>
              <p:cNvSpPr>
                <a:spLocks noChangeShapeType="1"/>
              </p:cNvSpPr>
              <p:nvPr/>
            </p:nvSpPr>
            <p:spPr bwMode="auto">
              <a:xfrm>
                <a:off x="1468" y="2866"/>
                <a:ext cx="48" cy="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a:lstStyle>
              <a:p>
                <a:endParaRPr lang="en-US"/>
              </a:p>
            </p:txBody>
          </p:sp>
          <p:sp>
            <p:nvSpPr>
              <p:cNvPr id="45" name="Line 28"/>
              <p:cNvSpPr>
                <a:spLocks noChangeShapeType="1"/>
              </p:cNvSpPr>
              <p:nvPr/>
            </p:nvSpPr>
            <p:spPr bwMode="auto">
              <a:xfrm>
                <a:off x="1468" y="3095"/>
                <a:ext cx="48" cy="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a:lstStyle>
              <a:p>
                <a:endParaRPr lang="en-US"/>
              </a:p>
            </p:txBody>
          </p:sp>
          <p:sp>
            <p:nvSpPr>
              <p:cNvPr id="46" name="Line 29"/>
              <p:cNvSpPr>
                <a:spLocks noChangeShapeType="1"/>
              </p:cNvSpPr>
              <p:nvPr/>
            </p:nvSpPr>
            <p:spPr bwMode="auto">
              <a:xfrm>
                <a:off x="1468" y="3324"/>
                <a:ext cx="4033" cy="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a:lstStyle>
              <a:p>
                <a:endParaRPr lang="en-US"/>
              </a:p>
            </p:txBody>
          </p:sp>
          <p:sp>
            <p:nvSpPr>
              <p:cNvPr id="47" name="Line 30"/>
              <p:cNvSpPr>
                <a:spLocks noChangeShapeType="1"/>
              </p:cNvSpPr>
              <p:nvPr/>
            </p:nvSpPr>
            <p:spPr bwMode="auto">
              <a:xfrm>
                <a:off x="1468" y="3553"/>
                <a:ext cx="48" cy="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a:lstStyle>
              <a:p>
                <a:endParaRPr lang="en-US"/>
              </a:p>
            </p:txBody>
          </p:sp>
          <p:sp>
            <p:nvSpPr>
              <p:cNvPr id="48" name="Line 31"/>
              <p:cNvSpPr>
                <a:spLocks noChangeShapeType="1"/>
              </p:cNvSpPr>
              <p:nvPr/>
            </p:nvSpPr>
            <p:spPr bwMode="auto">
              <a:xfrm>
                <a:off x="1468" y="3783"/>
                <a:ext cx="48" cy="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a:lstStyle>
              <a:p>
                <a:endParaRPr lang="en-US"/>
              </a:p>
            </p:txBody>
          </p:sp>
          <p:sp>
            <p:nvSpPr>
              <p:cNvPr id="49" name="Line 32"/>
              <p:cNvSpPr>
                <a:spLocks noChangeShapeType="1"/>
              </p:cNvSpPr>
              <p:nvPr/>
            </p:nvSpPr>
            <p:spPr bwMode="auto">
              <a:xfrm flipV="1">
                <a:off x="1811" y="3266"/>
                <a:ext cx="0" cy="68"/>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a:lstStyle>
              <a:p>
                <a:endParaRPr lang="en-US"/>
              </a:p>
            </p:txBody>
          </p:sp>
          <p:sp>
            <p:nvSpPr>
              <p:cNvPr id="50" name="Line 33"/>
              <p:cNvSpPr>
                <a:spLocks noChangeShapeType="1"/>
              </p:cNvSpPr>
              <p:nvPr/>
            </p:nvSpPr>
            <p:spPr bwMode="auto">
              <a:xfrm flipV="1">
                <a:off x="2142" y="3266"/>
                <a:ext cx="0" cy="68"/>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a:lstStyle>
              <a:p>
                <a:endParaRPr lang="en-US"/>
              </a:p>
            </p:txBody>
          </p:sp>
          <p:sp>
            <p:nvSpPr>
              <p:cNvPr id="51" name="Line 34"/>
              <p:cNvSpPr>
                <a:spLocks noChangeShapeType="1"/>
              </p:cNvSpPr>
              <p:nvPr/>
            </p:nvSpPr>
            <p:spPr bwMode="auto">
              <a:xfrm flipV="1">
                <a:off x="2473" y="3266"/>
                <a:ext cx="0" cy="68"/>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a:lstStyle>
              <a:p>
                <a:endParaRPr lang="en-US"/>
              </a:p>
            </p:txBody>
          </p:sp>
          <p:sp>
            <p:nvSpPr>
              <p:cNvPr id="52" name="Line 35"/>
              <p:cNvSpPr>
                <a:spLocks noChangeShapeType="1"/>
              </p:cNvSpPr>
              <p:nvPr/>
            </p:nvSpPr>
            <p:spPr bwMode="auto">
              <a:xfrm flipV="1">
                <a:off x="2785" y="3266"/>
                <a:ext cx="0" cy="68"/>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a:lstStyle>
              <a:p>
                <a:endParaRPr lang="en-US"/>
              </a:p>
            </p:txBody>
          </p:sp>
          <p:sp>
            <p:nvSpPr>
              <p:cNvPr id="53" name="Line 36"/>
              <p:cNvSpPr>
                <a:spLocks noChangeShapeType="1"/>
              </p:cNvSpPr>
              <p:nvPr/>
            </p:nvSpPr>
            <p:spPr bwMode="auto">
              <a:xfrm flipV="1">
                <a:off x="3116" y="3266"/>
                <a:ext cx="0" cy="68"/>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a:lstStyle>
              <a:p>
                <a:endParaRPr lang="en-US"/>
              </a:p>
            </p:txBody>
          </p:sp>
          <p:sp>
            <p:nvSpPr>
              <p:cNvPr id="54" name="Line 37"/>
              <p:cNvSpPr>
                <a:spLocks noChangeShapeType="1"/>
              </p:cNvSpPr>
              <p:nvPr/>
            </p:nvSpPr>
            <p:spPr bwMode="auto">
              <a:xfrm flipV="1">
                <a:off x="3446" y="3266"/>
                <a:ext cx="0" cy="68"/>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a:lstStyle>
              <a:p>
                <a:endParaRPr lang="en-US"/>
              </a:p>
            </p:txBody>
          </p:sp>
          <p:sp>
            <p:nvSpPr>
              <p:cNvPr id="55" name="Line 38"/>
              <p:cNvSpPr>
                <a:spLocks noChangeShapeType="1"/>
              </p:cNvSpPr>
              <p:nvPr/>
            </p:nvSpPr>
            <p:spPr bwMode="auto">
              <a:xfrm flipV="1">
                <a:off x="3772" y="3266"/>
                <a:ext cx="0" cy="68"/>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a:lstStyle>
              <a:p>
                <a:endParaRPr lang="en-US"/>
              </a:p>
            </p:txBody>
          </p:sp>
          <p:sp>
            <p:nvSpPr>
              <p:cNvPr id="56" name="Line 39"/>
              <p:cNvSpPr>
                <a:spLocks noChangeShapeType="1"/>
              </p:cNvSpPr>
              <p:nvPr/>
            </p:nvSpPr>
            <p:spPr bwMode="auto">
              <a:xfrm flipV="1">
                <a:off x="4098" y="3266"/>
                <a:ext cx="0" cy="68"/>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a:lstStyle>
              <a:p>
                <a:endParaRPr lang="en-US"/>
              </a:p>
            </p:txBody>
          </p:sp>
          <p:sp>
            <p:nvSpPr>
              <p:cNvPr id="57" name="Line 40"/>
              <p:cNvSpPr>
                <a:spLocks noChangeShapeType="1"/>
              </p:cNvSpPr>
              <p:nvPr/>
            </p:nvSpPr>
            <p:spPr bwMode="auto">
              <a:xfrm flipV="1">
                <a:off x="4420" y="3266"/>
                <a:ext cx="0" cy="68"/>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a:lstStyle>
              <a:p>
                <a:endParaRPr lang="en-US"/>
              </a:p>
            </p:txBody>
          </p:sp>
          <p:sp>
            <p:nvSpPr>
              <p:cNvPr id="58" name="Line 41"/>
              <p:cNvSpPr>
                <a:spLocks noChangeShapeType="1"/>
              </p:cNvSpPr>
              <p:nvPr/>
            </p:nvSpPr>
            <p:spPr bwMode="auto">
              <a:xfrm flipV="1">
                <a:off x="4715" y="3266"/>
                <a:ext cx="0" cy="68"/>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a:lstStyle>
              <a:p>
                <a:endParaRPr lang="en-US"/>
              </a:p>
            </p:txBody>
          </p:sp>
        </p:grpSp>
        <p:grpSp>
          <p:nvGrpSpPr>
            <p:cNvPr id="26" name="Group 25"/>
            <p:cNvGrpSpPr>
              <a:grpSpLocks/>
            </p:cNvGrpSpPr>
            <p:nvPr/>
          </p:nvGrpSpPr>
          <p:grpSpPr bwMode="auto">
            <a:xfrm>
              <a:off x="1660" y="3303"/>
              <a:ext cx="3182" cy="286"/>
              <a:chOff x="1696" y="3321"/>
              <a:chExt cx="3182" cy="286"/>
            </a:xfrm>
          </p:grpSpPr>
          <p:sp>
            <p:nvSpPr>
              <p:cNvPr id="27" name="Rectangle 26"/>
              <p:cNvSpPr>
                <a:spLocks noChangeArrowheads="1"/>
              </p:cNvSpPr>
              <p:nvPr/>
            </p:nvSpPr>
            <p:spPr bwMode="auto">
              <a:xfrm>
                <a:off x="1696" y="3321"/>
                <a:ext cx="221" cy="2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a:lstStyle>
              <a:p>
                <a:pPr eaLnBrk="0" hangingPunct="0"/>
                <a:r>
                  <a:rPr lang="en-US" altLang="en-US" sz="2400">
                    <a:solidFill>
                      <a:srgbClr val="000000"/>
                    </a:solidFill>
                  </a:rPr>
                  <a:t>1</a:t>
                </a:r>
              </a:p>
            </p:txBody>
          </p:sp>
          <p:sp>
            <p:nvSpPr>
              <p:cNvPr id="28" name="Rectangle 27"/>
              <p:cNvSpPr>
                <a:spLocks noChangeArrowheads="1"/>
              </p:cNvSpPr>
              <p:nvPr/>
            </p:nvSpPr>
            <p:spPr bwMode="auto">
              <a:xfrm>
                <a:off x="2028" y="3321"/>
                <a:ext cx="221" cy="2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a:lstStyle>
              <a:p>
                <a:pPr eaLnBrk="0" hangingPunct="0"/>
                <a:r>
                  <a:rPr lang="en-US" altLang="en-US" sz="2400">
                    <a:solidFill>
                      <a:srgbClr val="000000"/>
                    </a:solidFill>
                  </a:rPr>
                  <a:t>2</a:t>
                </a:r>
              </a:p>
            </p:txBody>
          </p:sp>
          <p:sp>
            <p:nvSpPr>
              <p:cNvPr id="29" name="Rectangle 28"/>
              <p:cNvSpPr>
                <a:spLocks noChangeArrowheads="1"/>
              </p:cNvSpPr>
              <p:nvPr/>
            </p:nvSpPr>
            <p:spPr bwMode="auto">
              <a:xfrm>
                <a:off x="2361" y="3321"/>
                <a:ext cx="221" cy="2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a:lstStyle>
              <a:p>
                <a:pPr eaLnBrk="0" hangingPunct="0"/>
                <a:r>
                  <a:rPr lang="en-US" altLang="en-US" sz="2400">
                    <a:solidFill>
                      <a:srgbClr val="000000"/>
                    </a:solidFill>
                  </a:rPr>
                  <a:t>3</a:t>
                </a:r>
              </a:p>
            </p:txBody>
          </p:sp>
          <p:sp>
            <p:nvSpPr>
              <p:cNvPr id="30" name="Rectangle 29"/>
              <p:cNvSpPr>
                <a:spLocks noChangeArrowheads="1"/>
              </p:cNvSpPr>
              <p:nvPr/>
            </p:nvSpPr>
            <p:spPr bwMode="auto">
              <a:xfrm>
                <a:off x="2672" y="3321"/>
                <a:ext cx="221" cy="2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a:lstStyle>
              <a:p>
                <a:pPr eaLnBrk="0" hangingPunct="0"/>
                <a:r>
                  <a:rPr lang="en-US" altLang="en-US" sz="2400">
                    <a:solidFill>
                      <a:srgbClr val="000000"/>
                    </a:solidFill>
                  </a:rPr>
                  <a:t>4</a:t>
                </a:r>
              </a:p>
            </p:txBody>
          </p:sp>
          <p:sp>
            <p:nvSpPr>
              <p:cNvPr id="31" name="Rectangle 30"/>
              <p:cNvSpPr>
                <a:spLocks noChangeArrowheads="1"/>
              </p:cNvSpPr>
              <p:nvPr/>
            </p:nvSpPr>
            <p:spPr bwMode="auto">
              <a:xfrm>
                <a:off x="3003" y="3321"/>
                <a:ext cx="221" cy="2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a:lstStyle>
              <a:p>
                <a:pPr eaLnBrk="0" hangingPunct="0"/>
                <a:r>
                  <a:rPr lang="en-US" altLang="en-US" sz="2400">
                    <a:solidFill>
                      <a:srgbClr val="000000"/>
                    </a:solidFill>
                  </a:rPr>
                  <a:t>5</a:t>
                </a:r>
              </a:p>
            </p:txBody>
          </p:sp>
          <p:sp>
            <p:nvSpPr>
              <p:cNvPr id="32" name="Rectangle 31"/>
              <p:cNvSpPr>
                <a:spLocks noChangeArrowheads="1"/>
              </p:cNvSpPr>
              <p:nvPr/>
            </p:nvSpPr>
            <p:spPr bwMode="auto">
              <a:xfrm>
                <a:off x="3334" y="3321"/>
                <a:ext cx="221" cy="2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a:lstStyle>
              <a:p>
                <a:pPr eaLnBrk="0" hangingPunct="0"/>
                <a:r>
                  <a:rPr lang="en-US" altLang="en-US" sz="2400">
                    <a:solidFill>
                      <a:srgbClr val="000000"/>
                    </a:solidFill>
                  </a:rPr>
                  <a:t>6</a:t>
                </a:r>
              </a:p>
            </p:txBody>
          </p:sp>
          <p:sp>
            <p:nvSpPr>
              <p:cNvPr id="33" name="Rectangle 32"/>
              <p:cNvSpPr>
                <a:spLocks noChangeArrowheads="1"/>
              </p:cNvSpPr>
              <p:nvPr/>
            </p:nvSpPr>
            <p:spPr bwMode="auto">
              <a:xfrm>
                <a:off x="3661" y="3321"/>
                <a:ext cx="221" cy="2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a:lstStyle>
              <a:p>
                <a:pPr eaLnBrk="0" hangingPunct="0"/>
                <a:r>
                  <a:rPr lang="en-US" altLang="en-US" sz="2400">
                    <a:solidFill>
                      <a:srgbClr val="000000"/>
                    </a:solidFill>
                  </a:rPr>
                  <a:t>7</a:t>
                </a:r>
              </a:p>
            </p:txBody>
          </p:sp>
          <p:sp>
            <p:nvSpPr>
              <p:cNvPr id="34" name="Rectangle 33"/>
              <p:cNvSpPr>
                <a:spLocks noChangeArrowheads="1"/>
              </p:cNvSpPr>
              <p:nvPr/>
            </p:nvSpPr>
            <p:spPr bwMode="auto">
              <a:xfrm>
                <a:off x="3986" y="3321"/>
                <a:ext cx="221" cy="2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a:lstStyle>
              <a:p>
                <a:pPr eaLnBrk="0" hangingPunct="0"/>
                <a:r>
                  <a:rPr lang="en-US" altLang="en-US" sz="2400">
                    <a:solidFill>
                      <a:srgbClr val="000000"/>
                    </a:solidFill>
                  </a:rPr>
                  <a:t>8</a:t>
                </a:r>
              </a:p>
            </p:txBody>
          </p:sp>
          <p:sp>
            <p:nvSpPr>
              <p:cNvPr id="35" name="Rectangle 34"/>
              <p:cNvSpPr>
                <a:spLocks noChangeArrowheads="1"/>
              </p:cNvSpPr>
              <p:nvPr/>
            </p:nvSpPr>
            <p:spPr bwMode="auto">
              <a:xfrm>
                <a:off x="4309" y="3321"/>
                <a:ext cx="221" cy="2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a:lstStyle>
              <a:p>
                <a:pPr eaLnBrk="0" hangingPunct="0"/>
                <a:r>
                  <a:rPr lang="en-US" altLang="en-US" sz="2400">
                    <a:solidFill>
                      <a:srgbClr val="000000"/>
                    </a:solidFill>
                  </a:rPr>
                  <a:t>9</a:t>
                </a:r>
              </a:p>
            </p:txBody>
          </p:sp>
          <p:sp>
            <p:nvSpPr>
              <p:cNvPr id="36" name="Rectangle 35"/>
              <p:cNvSpPr>
                <a:spLocks noChangeArrowheads="1"/>
              </p:cNvSpPr>
              <p:nvPr/>
            </p:nvSpPr>
            <p:spPr bwMode="auto">
              <a:xfrm>
                <a:off x="4550" y="3321"/>
                <a:ext cx="328" cy="2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a:lstStyle>
              <a:p>
                <a:pPr eaLnBrk="0" hangingPunct="0"/>
                <a:r>
                  <a:rPr lang="en-US" altLang="en-US" sz="2400">
                    <a:solidFill>
                      <a:srgbClr val="000000"/>
                    </a:solidFill>
                  </a:rPr>
                  <a:t>10</a:t>
                </a:r>
              </a:p>
            </p:txBody>
          </p:sp>
        </p:grpSp>
      </p:grpSp>
      <p:grpSp>
        <p:nvGrpSpPr>
          <p:cNvPr id="11" name="Group 10"/>
          <p:cNvGrpSpPr>
            <a:grpSpLocks/>
          </p:cNvGrpSpPr>
          <p:nvPr/>
        </p:nvGrpSpPr>
        <p:grpSpPr bwMode="auto">
          <a:xfrm>
            <a:off x="1430338" y="3221037"/>
            <a:ext cx="6380163" cy="2987675"/>
            <a:chOff x="1432" y="1940"/>
            <a:chExt cx="4019" cy="1882"/>
          </a:xfrm>
        </p:grpSpPr>
        <p:grpSp>
          <p:nvGrpSpPr>
            <p:cNvPr id="18" name="Group 17"/>
            <p:cNvGrpSpPr>
              <a:grpSpLocks/>
            </p:cNvGrpSpPr>
            <p:nvPr/>
          </p:nvGrpSpPr>
          <p:grpSpPr bwMode="auto">
            <a:xfrm>
              <a:off x="1432" y="1940"/>
              <a:ext cx="4019" cy="1360"/>
              <a:chOff x="1432" y="1940"/>
              <a:chExt cx="4019" cy="1360"/>
            </a:xfrm>
          </p:grpSpPr>
          <p:sp>
            <p:nvSpPr>
              <p:cNvPr id="22" name="Line 55"/>
              <p:cNvSpPr>
                <a:spLocks noChangeShapeType="1"/>
              </p:cNvSpPr>
              <p:nvPr/>
            </p:nvSpPr>
            <p:spPr bwMode="auto">
              <a:xfrm>
                <a:off x="1432" y="1940"/>
                <a:ext cx="3934" cy="1360"/>
              </a:xfrm>
              <a:prstGeom prst="line">
                <a:avLst/>
              </a:prstGeom>
              <a:noFill/>
              <a:ln w="381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a:lstStyle>
              <a:p>
                <a:endParaRPr lang="en-US"/>
              </a:p>
            </p:txBody>
          </p:sp>
          <p:sp>
            <p:nvSpPr>
              <p:cNvPr id="23" name="Rectangle 22"/>
              <p:cNvSpPr>
                <a:spLocks noChangeArrowheads="1"/>
              </p:cNvSpPr>
              <p:nvPr/>
            </p:nvSpPr>
            <p:spPr bwMode="auto">
              <a:xfrm>
                <a:off x="5198" y="3006"/>
                <a:ext cx="253" cy="2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a:lstStyle>
              <a:p>
                <a:pPr algn="r" eaLnBrk="0" hangingPunct="0"/>
                <a:r>
                  <a:rPr lang="en-US" altLang="en-US" sz="2400" i="1">
                    <a:solidFill>
                      <a:srgbClr val="000000"/>
                    </a:solidFill>
                  </a:rPr>
                  <a:t>D</a:t>
                </a:r>
              </a:p>
            </p:txBody>
          </p:sp>
        </p:grpSp>
        <p:grpSp>
          <p:nvGrpSpPr>
            <p:cNvPr id="19" name="Group 18"/>
            <p:cNvGrpSpPr>
              <a:grpSpLocks/>
            </p:cNvGrpSpPr>
            <p:nvPr/>
          </p:nvGrpSpPr>
          <p:grpSpPr bwMode="auto">
            <a:xfrm>
              <a:off x="1432" y="1940"/>
              <a:ext cx="2947" cy="1882"/>
              <a:chOff x="1432" y="1940"/>
              <a:chExt cx="2947" cy="1882"/>
            </a:xfrm>
          </p:grpSpPr>
          <p:sp>
            <p:nvSpPr>
              <p:cNvPr id="20" name="Line 58"/>
              <p:cNvSpPr>
                <a:spLocks noChangeShapeType="1"/>
              </p:cNvSpPr>
              <p:nvPr/>
            </p:nvSpPr>
            <p:spPr bwMode="auto">
              <a:xfrm>
                <a:off x="1432" y="1940"/>
                <a:ext cx="2561" cy="177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a:lstStyle>
              <a:p>
                <a:endParaRPr lang="en-US"/>
              </a:p>
            </p:txBody>
          </p:sp>
          <p:sp>
            <p:nvSpPr>
              <p:cNvPr id="21" name="Rectangle 20"/>
              <p:cNvSpPr>
                <a:spLocks noChangeArrowheads="1"/>
              </p:cNvSpPr>
              <p:nvPr/>
            </p:nvSpPr>
            <p:spPr bwMode="auto">
              <a:xfrm>
                <a:off x="3966" y="3536"/>
                <a:ext cx="413" cy="2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a:lstStyle>
              <a:p>
                <a:pPr algn="r" eaLnBrk="0" hangingPunct="0"/>
                <a:r>
                  <a:rPr lang="en-US" altLang="en-US" sz="2400" i="1">
                    <a:solidFill>
                      <a:srgbClr val="000000"/>
                    </a:solidFill>
                  </a:rPr>
                  <a:t>MR</a:t>
                </a:r>
              </a:p>
            </p:txBody>
          </p:sp>
        </p:grpSp>
      </p:grpSp>
      <p:grpSp>
        <p:nvGrpSpPr>
          <p:cNvPr id="12" name="Group 11"/>
          <p:cNvGrpSpPr>
            <a:grpSpLocks/>
          </p:cNvGrpSpPr>
          <p:nvPr/>
        </p:nvGrpSpPr>
        <p:grpSpPr bwMode="auto">
          <a:xfrm>
            <a:off x="2720976" y="2627314"/>
            <a:ext cx="1724025" cy="1230313"/>
            <a:chOff x="2245" y="1566"/>
            <a:chExt cx="1086" cy="775"/>
          </a:xfrm>
        </p:grpSpPr>
        <p:sp>
          <p:nvSpPr>
            <p:cNvPr id="16" name="Rectangle 15"/>
            <p:cNvSpPr>
              <a:spLocks noChangeArrowheads="1"/>
            </p:cNvSpPr>
            <p:nvPr/>
          </p:nvSpPr>
          <p:spPr bwMode="auto">
            <a:xfrm>
              <a:off x="2245" y="1566"/>
              <a:ext cx="1086" cy="5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a:lstStyle>
            <a:p>
              <a:pPr algn="ctr" eaLnBrk="0" hangingPunct="0"/>
              <a:r>
                <a:rPr lang="en-US" altLang="en-US" sz="2400">
                  <a:solidFill>
                    <a:srgbClr val="000000"/>
                  </a:solidFill>
                </a:rPr>
                <a:t>Monopolist price</a:t>
              </a:r>
            </a:p>
          </p:txBody>
        </p:sp>
        <p:sp>
          <p:nvSpPr>
            <p:cNvPr id="17" name="Line 62"/>
            <p:cNvSpPr>
              <a:spLocks noChangeShapeType="1"/>
            </p:cNvSpPr>
            <p:nvPr/>
          </p:nvSpPr>
          <p:spPr bwMode="auto">
            <a:xfrm flipH="1">
              <a:off x="2778" y="2046"/>
              <a:ext cx="162" cy="295"/>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a:lstStyle>
            <a:p>
              <a:endParaRPr lang="en-US"/>
            </a:p>
          </p:txBody>
        </p:sp>
      </p:grpSp>
      <p:sp>
        <p:nvSpPr>
          <p:cNvPr id="13" name="Line 63"/>
          <p:cNvSpPr>
            <a:spLocks noChangeShapeType="1"/>
          </p:cNvSpPr>
          <p:nvPr/>
        </p:nvSpPr>
        <p:spPr bwMode="auto">
          <a:xfrm flipV="1">
            <a:off x="3522663" y="3925887"/>
            <a:ext cx="0" cy="787400"/>
          </a:xfrm>
          <a:prstGeom prst="line">
            <a:avLst/>
          </a:prstGeom>
          <a:noFill/>
          <a:ln w="28575">
            <a:solidFill>
              <a:srgbClr val="000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a:lstStyle>
          <a:p>
            <a:endParaRPr lang="en-US"/>
          </a:p>
        </p:txBody>
      </p:sp>
      <p:sp>
        <p:nvSpPr>
          <p:cNvPr id="14" name="Freeform 13"/>
          <p:cNvSpPr>
            <a:spLocks/>
          </p:cNvSpPr>
          <p:nvPr/>
        </p:nvSpPr>
        <p:spPr bwMode="auto">
          <a:xfrm>
            <a:off x="3479801" y="3884612"/>
            <a:ext cx="88900" cy="100012"/>
          </a:xfrm>
          <a:custGeom>
            <a:avLst/>
            <a:gdLst>
              <a:gd name="T0" fmla="*/ 0 w 43"/>
              <a:gd name="T1" fmla="*/ 19 h 39"/>
              <a:gd name="T2" fmla="*/ 0 w 43"/>
              <a:gd name="T3" fmla="*/ 15 h 39"/>
              <a:gd name="T4" fmla="*/ 2 w 43"/>
              <a:gd name="T5" fmla="*/ 12 h 39"/>
              <a:gd name="T6" fmla="*/ 4 w 43"/>
              <a:gd name="T7" fmla="*/ 8 h 39"/>
              <a:gd name="T8" fmla="*/ 6 w 43"/>
              <a:gd name="T9" fmla="*/ 6 h 39"/>
              <a:gd name="T10" fmla="*/ 9 w 43"/>
              <a:gd name="T11" fmla="*/ 3 h 39"/>
              <a:gd name="T12" fmla="*/ 13 w 43"/>
              <a:gd name="T13" fmla="*/ 1 h 39"/>
              <a:gd name="T14" fmla="*/ 17 w 43"/>
              <a:gd name="T15" fmla="*/ 0 h 39"/>
              <a:gd name="T16" fmla="*/ 21 w 43"/>
              <a:gd name="T17" fmla="*/ 0 h 39"/>
              <a:gd name="T18" fmla="*/ 25 w 43"/>
              <a:gd name="T19" fmla="*/ 0 h 39"/>
              <a:gd name="T20" fmla="*/ 29 w 43"/>
              <a:gd name="T21" fmla="*/ 1 h 39"/>
              <a:gd name="T22" fmla="*/ 33 w 43"/>
              <a:gd name="T23" fmla="*/ 3 h 39"/>
              <a:gd name="T24" fmla="*/ 36 w 43"/>
              <a:gd name="T25" fmla="*/ 6 h 39"/>
              <a:gd name="T26" fmla="*/ 38 w 43"/>
              <a:gd name="T27" fmla="*/ 8 h 39"/>
              <a:gd name="T28" fmla="*/ 40 w 43"/>
              <a:gd name="T29" fmla="*/ 12 h 39"/>
              <a:gd name="T30" fmla="*/ 42 w 43"/>
              <a:gd name="T31" fmla="*/ 15 h 39"/>
              <a:gd name="T32" fmla="*/ 42 w 43"/>
              <a:gd name="T33" fmla="*/ 19 h 39"/>
              <a:gd name="T34" fmla="*/ 42 w 43"/>
              <a:gd name="T35" fmla="*/ 23 h 39"/>
              <a:gd name="T36" fmla="*/ 40 w 43"/>
              <a:gd name="T37" fmla="*/ 27 h 39"/>
              <a:gd name="T38" fmla="*/ 38 w 43"/>
              <a:gd name="T39" fmla="*/ 30 h 39"/>
              <a:gd name="T40" fmla="*/ 36 w 43"/>
              <a:gd name="T41" fmla="*/ 33 h 39"/>
              <a:gd name="T42" fmla="*/ 33 w 43"/>
              <a:gd name="T43" fmla="*/ 35 h 39"/>
              <a:gd name="T44" fmla="*/ 29 w 43"/>
              <a:gd name="T45" fmla="*/ 37 h 39"/>
              <a:gd name="T46" fmla="*/ 25 w 43"/>
              <a:gd name="T47" fmla="*/ 38 h 39"/>
              <a:gd name="T48" fmla="*/ 21 w 43"/>
              <a:gd name="T49" fmla="*/ 38 h 39"/>
              <a:gd name="T50" fmla="*/ 17 w 43"/>
              <a:gd name="T51" fmla="*/ 38 h 39"/>
              <a:gd name="T52" fmla="*/ 13 w 43"/>
              <a:gd name="T53" fmla="*/ 37 h 39"/>
              <a:gd name="T54" fmla="*/ 9 w 43"/>
              <a:gd name="T55" fmla="*/ 35 h 39"/>
              <a:gd name="T56" fmla="*/ 6 w 43"/>
              <a:gd name="T57" fmla="*/ 33 h 39"/>
              <a:gd name="T58" fmla="*/ 4 w 43"/>
              <a:gd name="T59" fmla="*/ 30 h 39"/>
              <a:gd name="T60" fmla="*/ 2 w 43"/>
              <a:gd name="T61" fmla="*/ 27 h 39"/>
              <a:gd name="T62" fmla="*/ 0 w 43"/>
              <a:gd name="T63" fmla="*/ 23 h 39"/>
              <a:gd name="T64" fmla="*/ 0 w 43"/>
              <a:gd name="T65" fmla="*/ 19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3" h="39">
                <a:moveTo>
                  <a:pt x="0" y="19"/>
                </a:moveTo>
                <a:lnTo>
                  <a:pt x="0" y="15"/>
                </a:lnTo>
                <a:lnTo>
                  <a:pt x="2" y="12"/>
                </a:lnTo>
                <a:lnTo>
                  <a:pt x="4" y="8"/>
                </a:lnTo>
                <a:lnTo>
                  <a:pt x="6" y="6"/>
                </a:lnTo>
                <a:lnTo>
                  <a:pt x="9" y="3"/>
                </a:lnTo>
                <a:lnTo>
                  <a:pt x="13" y="1"/>
                </a:lnTo>
                <a:lnTo>
                  <a:pt x="17" y="0"/>
                </a:lnTo>
                <a:lnTo>
                  <a:pt x="21" y="0"/>
                </a:lnTo>
                <a:lnTo>
                  <a:pt x="25" y="0"/>
                </a:lnTo>
                <a:lnTo>
                  <a:pt x="29" y="1"/>
                </a:lnTo>
                <a:lnTo>
                  <a:pt x="33" y="3"/>
                </a:lnTo>
                <a:lnTo>
                  <a:pt x="36" y="6"/>
                </a:lnTo>
                <a:lnTo>
                  <a:pt x="38" y="8"/>
                </a:lnTo>
                <a:lnTo>
                  <a:pt x="40" y="12"/>
                </a:lnTo>
                <a:lnTo>
                  <a:pt x="42" y="15"/>
                </a:lnTo>
                <a:lnTo>
                  <a:pt x="42" y="19"/>
                </a:lnTo>
                <a:lnTo>
                  <a:pt x="42" y="23"/>
                </a:lnTo>
                <a:lnTo>
                  <a:pt x="40" y="27"/>
                </a:lnTo>
                <a:lnTo>
                  <a:pt x="38" y="30"/>
                </a:lnTo>
                <a:lnTo>
                  <a:pt x="36" y="33"/>
                </a:lnTo>
                <a:lnTo>
                  <a:pt x="33" y="35"/>
                </a:lnTo>
                <a:lnTo>
                  <a:pt x="29" y="37"/>
                </a:lnTo>
                <a:lnTo>
                  <a:pt x="25" y="38"/>
                </a:lnTo>
                <a:lnTo>
                  <a:pt x="21" y="38"/>
                </a:lnTo>
                <a:lnTo>
                  <a:pt x="17" y="38"/>
                </a:lnTo>
                <a:lnTo>
                  <a:pt x="13" y="37"/>
                </a:lnTo>
                <a:lnTo>
                  <a:pt x="9" y="35"/>
                </a:lnTo>
                <a:lnTo>
                  <a:pt x="6" y="33"/>
                </a:lnTo>
                <a:lnTo>
                  <a:pt x="4" y="30"/>
                </a:lnTo>
                <a:lnTo>
                  <a:pt x="2" y="27"/>
                </a:lnTo>
                <a:lnTo>
                  <a:pt x="0" y="23"/>
                </a:lnTo>
                <a:lnTo>
                  <a:pt x="0" y="19"/>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a:lstStyle>
          <a:p>
            <a:endParaRPr lang="en-US"/>
          </a:p>
        </p:txBody>
      </p:sp>
      <p:sp>
        <p:nvSpPr>
          <p:cNvPr id="15" name="Line 65"/>
          <p:cNvSpPr>
            <a:spLocks noChangeShapeType="1"/>
          </p:cNvSpPr>
          <p:nvPr/>
        </p:nvSpPr>
        <p:spPr bwMode="auto">
          <a:xfrm flipV="1">
            <a:off x="3522663" y="4637087"/>
            <a:ext cx="0" cy="639762"/>
          </a:xfrm>
          <a:prstGeom prst="line">
            <a:avLst/>
          </a:prstGeom>
          <a:noFill/>
          <a:ln w="28575">
            <a:solidFill>
              <a:srgbClr val="000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a:lstStyle>
          <a:p>
            <a:endParaRPr lang="en-US"/>
          </a:p>
        </p:txBody>
      </p:sp>
    </p:spTree>
    <p:extLst>
      <p:ext uri="{BB962C8B-B14F-4D97-AF65-F5344CB8AC3E}">
        <p14:creationId xmlns:p14="http://schemas.microsoft.com/office/powerpoint/2010/main" val="339182728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14313"/>
            <a:ext cx="8562975" cy="1462087"/>
          </a:xfrm>
        </p:spPr>
        <p:txBody>
          <a:bodyPr>
            <a:normAutofit/>
          </a:bodyPr>
          <a:lstStyle/>
          <a:p>
            <a:pPr algn="ctr"/>
            <a:r>
              <a:rPr lang="el-GR" dirty="0">
                <a:latin typeface="Calibri"/>
              </a:rPr>
              <a:t>Π</a:t>
            </a:r>
            <a:r>
              <a:rPr lang="en-US" dirty="0">
                <a:latin typeface="Calibri"/>
              </a:rPr>
              <a:t> MAXIMIZATION IN </a:t>
            </a:r>
            <a:r>
              <a:rPr lang="en-US" dirty="0" smtClean="0">
                <a:latin typeface="Calibri"/>
              </a:rPr>
              <a:t>MONOPOLIES: </a:t>
            </a:r>
            <a:r>
              <a:rPr lang="en-US" sz="2400" i="1" dirty="0" smtClean="0">
                <a:latin typeface="Calibri"/>
              </a:rPr>
              <a:t>Positive profits (Abnormal, Supernormal)</a:t>
            </a:r>
            <a:endParaRPr lang="en-US" sz="2400" i="1" dirty="0"/>
          </a:p>
        </p:txBody>
      </p:sp>
      <p:sp>
        <p:nvSpPr>
          <p:cNvPr id="6" name="Content Placeholder 5"/>
          <p:cNvSpPr>
            <a:spLocks noGrp="1"/>
          </p:cNvSpPr>
          <p:nvPr>
            <p:ph sz="half" idx="1"/>
          </p:nvPr>
        </p:nvSpPr>
        <p:spPr>
          <a:xfrm>
            <a:off x="5105400" y="2057400"/>
            <a:ext cx="3352800" cy="4151313"/>
          </a:xfrm>
        </p:spPr>
        <p:txBody>
          <a:bodyPr/>
          <a:lstStyle/>
          <a:p>
            <a:r>
              <a:rPr lang="en-US" dirty="0" smtClean="0">
                <a:hlinkClick r:id="rId2" action="ppaction://hlinkpres?slideindex=1&amp;slidetitle="/>
              </a:rPr>
              <a:t>MONOPOLY PROFIT MAX.ppt</a:t>
            </a:r>
            <a:endParaRPr lang="en-US" dirty="0"/>
          </a:p>
        </p:txBody>
      </p:sp>
      <p:sp>
        <p:nvSpPr>
          <p:cNvPr id="4" name="Date Placeholder 3"/>
          <p:cNvSpPr>
            <a:spLocks noGrp="1"/>
          </p:cNvSpPr>
          <p:nvPr>
            <p:ph type="dt" sz="half" idx="10"/>
          </p:nvPr>
        </p:nvSpPr>
        <p:spPr/>
        <p:txBody>
          <a:bodyPr/>
          <a:lstStyle/>
          <a:p>
            <a:fld id="{7921004A-F2A1-4A5F-8CF1-9CB1E96F2FFB}" type="datetime13">
              <a:rPr lang="en-US" smtClean="0"/>
              <a:pPr/>
              <a:t>11:23:12 PM</a:t>
            </a:fld>
            <a:endParaRPr lang="en-US"/>
          </a:p>
        </p:txBody>
      </p:sp>
      <p:pic>
        <p:nvPicPr>
          <p:cNvPr id="82946" name="Picture 2" descr="C:\Users\Oyugi\Pictures\monopoly.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855" y="1911927"/>
            <a:ext cx="7606145" cy="487680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0499146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56060" y="152400"/>
            <a:ext cx="7429499" cy="990600"/>
          </a:xfrm>
        </p:spPr>
        <p:txBody>
          <a:bodyPr>
            <a:normAutofit fontScale="90000"/>
          </a:bodyPr>
          <a:lstStyle/>
          <a:p>
            <a:pPr algn="ctr"/>
            <a:r>
              <a:rPr lang="el-GR" dirty="0">
                <a:latin typeface="Calibri"/>
              </a:rPr>
              <a:t>Π</a:t>
            </a:r>
            <a:r>
              <a:rPr lang="en-US" dirty="0">
                <a:latin typeface="Calibri"/>
              </a:rPr>
              <a:t> MAXIMIZATION IN MONOPOLIES: </a:t>
            </a:r>
            <a:r>
              <a:rPr lang="en-US" sz="2400" i="1" dirty="0" smtClean="0">
                <a:latin typeface="Calibri"/>
              </a:rPr>
              <a:t>Zero profits (Normal)</a:t>
            </a:r>
            <a:endParaRPr lang="en-US" dirty="0"/>
          </a:p>
        </p:txBody>
      </p:sp>
      <p:pic>
        <p:nvPicPr>
          <p:cNvPr id="82946" name="Picture 2" descr="C:\Users\Oyugi\Pictures\even.png"/>
          <p:cNvPicPr>
            <a:picLocks noGrp="1" noChangeAspect="1" noChangeArrowheads="1"/>
          </p:cNvPicPr>
          <p:nvPr>
            <p:ph sz="half" idx="4294967295"/>
          </p:nvPr>
        </p:nvPicPr>
        <p:blipFill>
          <a:blip r:embed="rId2">
            <a:extLst>
              <a:ext uri="{28A0092B-C50C-407E-A947-70E740481C1C}">
                <a14:useLocalDpi xmlns:a14="http://schemas.microsoft.com/office/drawing/2010/main" val="0"/>
              </a:ext>
            </a:extLst>
          </a:blip>
          <a:stretch>
            <a:fillRect/>
          </a:stretch>
        </p:blipFill>
        <p:spPr bwMode="auto">
          <a:xfrm>
            <a:off x="0" y="990600"/>
            <a:ext cx="7924800" cy="5334000"/>
          </a:xfrm>
          <a:prstGeom prst="rect">
            <a:avLst/>
          </a:prstGeom>
          <a:solidFill>
            <a:schemeClr val="bg1">
              <a:alpha val="81000"/>
            </a:schemeClr>
          </a:solidFill>
          <a:extLst/>
        </p:spPr>
      </p:pic>
    </p:spTree>
    <p:extLst>
      <p:ext uri="{BB962C8B-B14F-4D97-AF65-F5344CB8AC3E}">
        <p14:creationId xmlns:p14="http://schemas.microsoft.com/office/powerpoint/2010/main" val="1242591437"/>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214313"/>
            <a:ext cx="8639175" cy="1462087"/>
          </a:xfrm>
        </p:spPr>
        <p:txBody>
          <a:bodyPr/>
          <a:lstStyle/>
          <a:p>
            <a:pPr algn="ctr"/>
            <a:r>
              <a:rPr lang="el-GR" dirty="0">
                <a:latin typeface="Calibri"/>
              </a:rPr>
              <a:t>Π</a:t>
            </a:r>
            <a:r>
              <a:rPr lang="en-US" dirty="0">
                <a:latin typeface="Calibri"/>
              </a:rPr>
              <a:t> MAXIMIZATION IN MONOPOLIES: </a:t>
            </a:r>
            <a:r>
              <a:rPr lang="en-US" sz="2400" i="1" dirty="0" smtClean="0">
                <a:latin typeface="Calibri"/>
              </a:rPr>
              <a:t>Negative profits (Subnormal, Losses)</a:t>
            </a:r>
            <a:endParaRPr lang="en-US" dirty="0"/>
          </a:p>
        </p:txBody>
      </p:sp>
      <p:pic>
        <p:nvPicPr>
          <p:cNvPr id="83972" name="Picture 4" descr="C:\Users\Oyugi\Pictures\even2.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7800" y="1905001"/>
            <a:ext cx="6477000" cy="4800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75834522"/>
      </p:ext>
    </p:extLst>
  </p:cSld>
  <p:clrMapOvr>
    <a:masterClrMapping/>
  </p:clrMapOvr>
  <p:timing>
    <p:tnLst>
      <p:par>
        <p:cTn id="1" dur="indefinite" restart="never" nodeType="tmRoot"/>
      </p:par>
    </p:tnLst>
  </p:timing>
</p:sld>
</file>

<file path=ppt/theme/theme1.xml><?xml version="1.0" encoding="utf-8"?>
<a:theme xmlns:a="http://schemas.openxmlformats.org/drawingml/2006/main" name="Theme1">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Blends">
  <a:themeElements>
    <a:clrScheme name="Adjacency">
      <a:dk1>
        <a:srgbClr val="2F2B20"/>
      </a:dk1>
      <a:lt1>
        <a:srgbClr val="FFFFFF"/>
      </a:lt1>
      <a:dk2>
        <a:srgbClr val="675E47"/>
      </a:dk2>
      <a:lt2>
        <a:srgbClr val="DFDCB7"/>
      </a:lt2>
      <a:accent1>
        <a:srgbClr val="A9A57C"/>
      </a:accent1>
      <a:accent2>
        <a:srgbClr val="9CBEBD"/>
      </a:accent2>
      <a:accent3>
        <a:srgbClr val="D2CB6C"/>
      </a:accent3>
      <a:accent4>
        <a:srgbClr val="95A39D"/>
      </a:accent4>
      <a:accent5>
        <a:srgbClr val="C89F5D"/>
      </a:accent5>
      <a:accent6>
        <a:srgbClr val="B1A089"/>
      </a:accent6>
      <a:hlink>
        <a:srgbClr val="D25814"/>
      </a:hlink>
      <a:folHlink>
        <a:srgbClr val="849A0A"/>
      </a:folHlink>
    </a:clrScheme>
    <a:fontScheme name="Blends">
      <a:majorFont>
        <a:latin typeface="Tahoma"/>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4">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Theme1</Template>
  <TotalTime>8801</TotalTime>
  <Words>1739</Words>
  <Application>Microsoft Office PowerPoint</Application>
  <PresentationFormat>On-screen Show (4:3)</PresentationFormat>
  <Paragraphs>335</Paragraphs>
  <Slides>55</Slides>
  <Notes>32</Notes>
  <HiddenSlides>0</HiddenSlides>
  <MMClips>0</MMClips>
  <ScaleCrop>false</ScaleCrop>
  <HeadingPairs>
    <vt:vector size="8" baseType="variant">
      <vt:variant>
        <vt:lpstr>Fonts Used</vt:lpstr>
      </vt:variant>
      <vt:variant>
        <vt:i4>6</vt:i4>
      </vt:variant>
      <vt:variant>
        <vt:lpstr>Theme</vt:lpstr>
      </vt:variant>
      <vt:variant>
        <vt:i4>2</vt:i4>
      </vt:variant>
      <vt:variant>
        <vt:lpstr>Embedded OLE Servers</vt:lpstr>
      </vt:variant>
      <vt:variant>
        <vt:i4>2</vt:i4>
      </vt:variant>
      <vt:variant>
        <vt:lpstr>Slide Titles</vt:lpstr>
      </vt:variant>
      <vt:variant>
        <vt:i4>55</vt:i4>
      </vt:variant>
    </vt:vector>
  </HeadingPairs>
  <TitlesOfParts>
    <vt:vector size="65" baseType="lpstr">
      <vt:lpstr>Arial</vt:lpstr>
      <vt:lpstr>Calibri</vt:lpstr>
      <vt:lpstr>Cambria Math</vt:lpstr>
      <vt:lpstr>Monotype Sorts</vt:lpstr>
      <vt:lpstr>Tahoma</vt:lpstr>
      <vt:lpstr>Wingdings</vt:lpstr>
      <vt:lpstr>Theme1</vt:lpstr>
      <vt:lpstr>Blends</vt:lpstr>
      <vt:lpstr>Bitmap Image</vt:lpstr>
      <vt:lpstr>Equation</vt:lpstr>
      <vt:lpstr>MARKET STRUCTURES</vt:lpstr>
      <vt:lpstr>Market Structures definition</vt:lpstr>
      <vt:lpstr>Market x-stics</vt:lpstr>
      <vt:lpstr>Market Power</vt:lpstr>
      <vt:lpstr>Types of market structures</vt:lpstr>
      <vt:lpstr>Perfect  Competition </vt:lpstr>
      <vt:lpstr>Perfect Competition x-stics</vt:lpstr>
      <vt:lpstr>PERFECT COMPETITION</vt:lpstr>
      <vt:lpstr>PERFECT COMPETITION</vt:lpstr>
      <vt:lpstr>MONOPOLY</vt:lpstr>
      <vt:lpstr>MONOPOLY</vt:lpstr>
      <vt:lpstr>BARRIERS TO ENTRY</vt:lpstr>
      <vt:lpstr>ECONOMIC BARRIERS</vt:lpstr>
      <vt:lpstr>LEGAL BARRIERS</vt:lpstr>
      <vt:lpstr>MONOPOLISTIC COMPETITION  </vt:lpstr>
      <vt:lpstr>Product Differentiation</vt:lpstr>
      <vt:lpstr>MONOPOLISTIC COMPETITION x-stics</vt:lpstr>
      <vt:lpstr>MONOPOLISTIC COMPETITION x-stics</vt:lpstr>
      <vt:lpstr>MONOPOLISTIC COMPETITION x-stics</vt:lpstr>
      <vt:lpstr>INEFFICENCY IN MC MARKETS</vt:lpstr>
      <vt:lpstr>EXAMPLES OF MC MARKETS</vt:lpstr>
      <vt:lpstr>Oligopoly definition</vt:lpstr>
      <vt:lpstr>Types of oligopoly: Pure oligopoly</vt:lpstr>
      <vt:lpstr>Types of oligopoly Impure oligopolu</vt:lpstr>
      <vt:lpstr>Features of oligopoly continued</vt:lpstr>
      <vt:lpstr>Collusion and Competition</vt:lpstr>
      <vt:lpstr>Cheating is good</vt:lpstr>
      <vt:lpstr>Collusive agreements less likely to succeed when </vt:lpstr>
      <vt:lpstr>Sticky Prices</vt:lpstr>
      <vt:lpstr>Reasons for sticky prices</vt:lpstr>
      <vt:lpstr>Reasons for sticky prices continued</vt:lpstr>
      <vt:lpstr>Sticky Price leads to Kinked dd curves</vt:lpstr>
      <vt:lpstr>Π MAXIMIZATION IN PC MARKETS</vt:lpstr>
      <vt:lpstr>Π MAXIMIZATION IN PC MARKETS</vt:lpstr>
      <vt:lpstr>PROFIT  MAXIMIZATION IN PC  MARKETS</vt:lpstr>
      <vt:lpstr>Π Maximization: Necessary &amp; Sufficiency Conditions</vt:lpstr>
      <vt:lpstr>Numerical example</vt:lpstr>
      <vt:lpstr>Numerical example: solution</vt:lpstr>
      <vt:lpstr>Numerical example: solution</vt:lpstr>
      <vt:lpstr>Numerical example: solution</vt:lpstr>
      <vt:lpstr>Numerical example: solution</vt:lpstr>
      <vt:lpstr>Numerical example: solution</vt:lpstr>
      <vt:lpstr>PROFIT SCENARIOS</vt:lpstr>
      <vt:lpstr>ABNORMAL PROFITS</vt:lpstr>
      <vt:lpstr>ABNORMAL PROFITS ‘ctd</vt:lpstr>
      <vt:lpstr>ABNORMAL PROFITS ‘ctd</vt:lpstr>
      <vt:lpstr>NEGATIVE PROFITS(LOSSES)</vt:lpstr>
      <vt:lpstr>NEGATIVE PROFITS(LOSSES) ctd</vt:lpstr>
      <vt:lpstr>Reduce/Stop Production</vt:lpstr>
      <vt:lpstr>Shut down Point</vt:lpstr>
      <vt:lpstr>ZERO PROFIT  SCENARIO</vt:lpstr>
      <vt:lpstr>Determining the Monopolist’s Price and Output </vt:lpstr>
      <vt:lpstr>Π MAXIMIZATION IN MONOPOLIES: Positive profits (Abnormal, Supernormal)</vt:lpstr>
      <vt:lpstr>Π MAXIMIZATION IN MONOPOLIES: Zero profits (Normal)</vt:lpstr>
      <vt:lpstr>Π MAXIMIZATION IN MONOPOLIES: Negative profits (Subnormal, Losses)</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ECON 100: INTRODUCTION</dc:title>
  <dc:creator>oyugi</dc:creator>
  <cp:lastModifiedBy>Microsoft account</cp:lastModifiedBy>
  <cp:revision>417</cp:revision>
  <dcterms:created xsi:type="dcterms:W3CDTF">2011-01-22T16:13:07Z</dcterms:created>
  <dcterms:modified xsi:type="dcterms:W3CDTF">2023-01-16T20:57:56Z</dcterms:modified>
</cp:coreProperties>
</file>